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1" i="0">
                <a:solidFill>
                  <a:srgbClr val="23262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F2F2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33434"/>
                </a:solidFill>
              </a:rPr>
              <a:t>Isl\</a:t>
            </a:r>
            <a:r>
              <a:rPr dirty="0" sz="1300" spc="-45">
                <a:solidFill>
                  <a:srgbClr val="333434"/>
                </a:solidFill>
              </a:rPr>
              <a:t> </a:t>
            </a:r>
            <a:r>
              <a:rPr dirty="0" spc="-10">
                <a:solidFill>
                  <a:srgbClr val="1C1C1C"/>
                </a:solidFill>
              </a:rPr>
              <a:t>NotebookLM</a:t>
            </a:r>
            <a:endParaRPr sz="13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23262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F2F2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33434"/>
                </a:solidFill>
              </a:rPr>
              <a:t>Isl\</a:t>
            </a:r>
            <a:r>
              <a:rPr dirty="0" sz="1300" spc="-45">
                <a:solidFill>
                  <a:srgbClr val="333434"/>
                </a:solidFill>
              </a:rPr>
              <a:t> </a:t>
            </a:r>
            <a:r>
              <a:rPr dirty="0" spc="-10">
                <a:solidFill>
                  <a:srgbClr val="1C1C1C"/>
                </a:solidFill>
              </a:rPr>
              <a:t>NotebookLM</a:t>
            </a:r>
            <a:endParaRPr sz="13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91584" y="1672629"/>
            <a:ext cx="11412855" cy="0"/>
          </a:xfrm>
          <a:custGeom>
            <a:avLst/>
            <a:gdLst/>
            <a:ahLst/>
            <a:cxnLst/>
            <a:rect l="l" t="t" r="r" b="b"/>
            <a:pathLst>
              <a:path w="11412855" h="0">
                <a:moveTo>
                  <a:pt x="0" y="0"/>
                </a:moveTo>
                <a:lnTo>
                  <a:pt x="11412279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23262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24533" y="2480997"/>
            <a:ext cx="7440295" cy="5925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A0A0A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015839" y="2515260"/>
            <a:ext cx="7413625" cy="545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A0A0A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F2F2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33434"/>
                </a:solidFill>
              </a:rPr>
              <a:t>Isl\</a:t>
            </a:r>
            <a:r>
              <a:rPr dirty="0" sz="1300" spc="-45">
                <a:solidFill>
                  <a:srgbClr val="333434"/>
                </a:solidFill>
              </a:rPr>
              <a:t> </a:t>
            </a:r>
            <a:r>
              <a:rPr dirty="0" spc="-10">
                <a:solidFill>
                  <a:srgbClr val="1C1C1C"/>
                </a:solidFill>
              </a:rPr>
              <a:t>NotebookLM</a:t>
            </a:r>
            <a:endParaRPr sz="1300"/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23262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F2F2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33434"/>
                </a:solidFill>
              </a:rPr>
              <a:t>Isl\</a:t>
            </a:r>
            <a:r>
              <a:rPr dirty="0" sz="1300" spc="-45">
                <a:solidFill>
                  <a:srgbClr val="333434"/>
                </a:solidFill>
              </a:rPr>
              <a:t> </a:t>
            </a:r>
            <a:r>
              <a:rPr dirty="0" spc="-10">
                <a:solidFill>
                  <a:srgbClr val="1C1C1C"/>
                </a:solidFill>
              </a:rPr>
              <a:t>NotebookLM</a:t>
            </a:r>
            <a:endParaRPr sz="1300"/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F2F2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33434"/>
                </a:solidFill>
              </a:rPr>
              <a:t>Isl\</a:t>
            </a:r>
            <a:r>
              <a:rPr dirty="0" sz="1300" spc="-45">
                <a:solidFill>
                  <a:srgbClr val="333434"/>
                </a:solidFill>
              </a:rPr>
              <a:t> </a:t>
            </a:r>
            <a:r>
              <a:rPr dirty="0" spc="-10">
                <a:solidFill>
                  <a:srgbClr val="1C1C1C"/>
                </a:solidFill>
              </a:rPr>
              <a:t>NotebookLM</a:t>
            </a:r>
            <a:endParaRPr sz="1300"/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2657" y="268418"/>
            <a:ext cx="16249885" cy="1254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1" i="0">
                <a:solidFill>
                  <a:srgbClr val="23262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04183" y="2291853"/>
            <a:ext cx="8685530" cy="3461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6147783" y="9415674"/>
            <a:ext cx="1262531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F2F2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33434"/>
                </a:solidFill>
              </a:rPr>
              <a:t>Isl\</a:t>
            </a:r>
            <a:r>
              <a:rPr dirty="0" sz="1300" spc="-45">
                <a:solidFill>
                  <a:srgbClr val="333434"/>
                </a:solidFill>
              </a:rPr>
              <a:t> </a:t>
            </a:r>
            <a:r>
              <a:rPr dirty="0" spc="-10">
                <a:solidFill>
                  <a:srgbClr val="1C1C1C"/>
                </a:solidFill>
              </a:rPr>
              <a:t>NotebookLM</a:t>
            </a:r>
            <a:endParaRPr sz="13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png"/><Relationship Id="rId6" Type="http://schemas.openxmlformats.org/officeDocument/2006/relationships/image" Target="../media/image1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26.jpg"/><Relationship Id="rId8" Type="http://schemas.openxmlformats.org/officeDocument/2006/relationships/image" Target="../media/image27.jpg"/><Relationship Id="rId9" Type="http://schemas.openxmlformats.org/officeDocument/2006/relationships/image" Target="../media/image28.jpg"/><Relationship Id="rId10" Type="http://schemas.openxmlformats.org/officeDocument/2006/relationships/image" Target="../media/image29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Relationship Id="rId7" Type="http://schemas.openxmlformats.org/officeDocument/2006/relationships/image" Target="../media/image42.jpg"/><Relationship Id="rId8" Type="http://schemas.openxmlformats.org/officeDocument/2006/relationships/image" Target="../media/image43.jpg"/><Relationship Id="rId9" Type="http://schemas.openxmlformats.org/officeDocument/2006/relationships/image" Target="../media/image44.jpg"/><Relationship Id="rId10" Type="http://schemas.openxmlformats.org/officeDocument/2006/relationships/image" Target="../media/image45.jpg"/><Relationship Id="rId11" Type="http://schemas.openxmlformats.org/officeDocument/2006/relationships/image" Target="../media/image46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Relationship Id="rId3" Type="http://schemas.openxmlformats.org/officeDocument/2006/relationships/image" Target="../media/image48.jp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51.jpg"/><Relationship Id="rId7" Type="http://schemas.openxmlformats.org/officeDocument/2006/relationships/image" Target="../media/image52.jpg"/><Relationship Id="rId8" Type="http://schemas.openxmlformats.org/officeDocument/2006/relationships/image" Target="../media/image53.jpg"/><Relationship Id="rId9" Type="http://schemas.openxmlformats.org/officeDocument/2006/relationships/image" Target="../media/image54.jpg"/><Relationship Id="rId10" Type="http://schemas.openxmlformats.org/officeDocument/2006/relationships/image" Target="../media/image55.jpg"/><Relationship Id="rId11" Type="http://schemas.openxmlformats.org/officeDocument/2006/relationships/image" Target="../media/image56.jpg"/><Relationship Id="rId12" Type="http://schemas.openxmlformats.org/officeDocument/2006/relationships/image" Target="../media/image57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jpg"/><Relationship Id="rId3" Type="http://schemas.openxmlformats.org/officeDocument/2006/relationships/image" Target="../media/image59.jpg"/><Relationship Id="rId4" Type="http://schemas.openxmlformats.org/officeDocument/2006/relationships/image" Target="../media/image60.jpg"/><Relationship Id="rId5" Type="http://schemas.openxmlformats.org/officeDocument/2006/relationships/image" Target="../media/image61.jpg"/><Relationship Id="rId6" Type="http://schemas.openxmlformats.org/officeDocument/2006/relationships/image" Target="../media/image62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110" y="2885413"/>
            <a:ext cx="8686577" cy="66383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565426" y="970492"/>
            <a:ext cx="7910195" cy="4826000"/>
            <a:chOff x="9565426" y="970492"/>
            <a:chExt cx="7910195" cy="4826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80057" y="970492"/>
              <a:ext cx="7795141" cy="482560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603636" y="3574784"/>
              <a:ext cx="0" cy="561975"/>
            </a:xfrm>
            <a:custGeom>
              <a:avLst/>
              <a:gdLst/>
              <a:ahLst/>
              <a:cxnLst/>
              <a:rect l="l" t="t" r="r" b="b"/>
              <a:pathLst>
                <a:path w="0" h="561975">
                  <a:moveTo>
                    <a:pt x="0" y="561710"/>
                  </a:moveTo>
                  <a:lnTo>
                    <a:pt x="0" y="0"/>
                  </a:lnTo>
                </a:path>
              </a:pathLst>
            </a:custGeom>
            <a:ln w="764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875012" y="664170"/>
            <a:ext cx="279844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>
                <a:solidFill>
                  <a:srgbClr val="1A1F21"/>
                </a:solidFill>
                <a:latin typeface="Times New Roman"/>
                <a:cs typeface="Times New Roman"/>
              </a:rPr>
              <a:t>P</a:t>
            </a:r>
            <a:r>
              <a:rPr dirty="0" sz="1900">
                <a:solidFill>
                  <a:srgbClr val="424646"/>
                </a:solidFill>
                <a:latin typeface="Times New Roman"/>
                <a:cs typeface="Times New Roman"/>
              </a:rPr>
              <a:t>h</a:t>
            </a:r>
            <a:r>
              <a:rPr dirty="0" sz="1900">
                <a:solidFill>
                  <a:srgbClr val="1A1F21"/>
                </a:solidFill>
                <a:latin typeface="Times New Roman"/>
                <a:cs typeface="Times New Roman"/>
              </a:rPr>
              <a:t>D</a:t>
            </a:r>
            <a:r>
              <a:rPr dirty="0" sz="1900" spc="170">
                <a:solidFill>
                  <a:srgbClr val="1A1F21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424646"/>
                </a:solidFill>
                <a:latin typeface="Times New Roman"/>
                <a:cs typeface="Times New Roman"/>
              </a:rPr>
              <a:t>Interv</a:t>
            </a:r>
            <a:r>
              <a:rPr dirty="0" sz="1900">
                <a:solidFill>
                  <a:srgbClr val="1A1F21"/>
                </a:solidFill>
                <a:latin typeface="Times New Roman"/>
                <a:cs typeface="Times New Roman"/>
              </a:rPr>
              <a:t>i</a:t>
            </a:r>
            <a:r>
              <a:rPr dirty="0" sz="1900">
                <a:solidFill>
                  <a:srgbClr val="424646"/>
                </a:solidFill>
                <a:latin typeface="Times New Roman"/>
                <a:cs typeface="Times New Roman"/>
              </a:rPr>
              <a:t>ew</a:t>
            </a:r>
            <a:r>
              <a:rPr dirty="0" sz="1900" spc="180">
                <a:solidFill>
                  <a:srgbClr val="424646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solidFill>
                  <a:srgbClr val="313334"/>
                </a:solidFill>
                <a:latin typeface="Times New Roman"/>
                <a:cs typeface="Times New Roman"/>
              </a:rPr>
              <a:t>Presentation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33434"/>
                </a:solidFill>
              </a:rPr>
              <a:t>Isl\</a:t>
            </a:r>
            <a:r>
              <a:rPr dirty="0" sz="1300" spc="-45">
                <a:solidFill>
                  <a:srgbClr val="333434"/>
                </a:solidFill>
              </a:rPr>
              <a:t> </a:t>
            </a:r>
            <a:r>
              <a:rPr dirty="0" spc="-10">
                <a:solidFill>
                  <a:srgbClr val="1C1C1C"/>
                </a:solidFill>
              </a:rPr>
              <a:t>NotebookLM</a:t>
            </a:r>
            <a:endParaRPr sz="1300"/>
          </a:p>
        </p:txBody>
      </p:sp>
      <p:sp>
        <p:nvSpPr>
          <p:cNvPr id="7" name="object 7"/>
          <p:cNvSpPr txBox="1"/>
          <p:nvPr/>
        </p:nvSpPr>
        <p:spPr>
          <a:xfrm>
            <a:off x="856008" y="6089781"/>
            <a:ext cx="14509115" cy="157543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 marR="5080" indent="1270">
              <a:lnSpc>
                <a:spcPts val="5930"/>
              </a:lnSpc>
              <a:spcBef>
                <a:spcPts val="540"/>
              </a:spcBef>
            </a:pPr>
            <a:r>
              <a:rPr dirty="0" sz="5200" spc="95" b="1">
                <a:solidFill>
                  <a:srgbClr val="1A1F21"/>
                </a:solidFill>
                <a:latin typeface="Arial"/>
                <a:cs typeface="Arial"/>
              </a:rPr>
              <a:t>Motivational</a:t>
            </a:r>
            <a:r>
              <a:rPr dirty="0" sz="5200" spc="70" b="1">
                <a:solidFill>
                  <a:srgbClr val="1A1F21"/>
                </a:solidFill>
                <a:latin typeface="Arial"/>
                <a:cs typeface="Arial"/>
              </a:rPr>
              <a:t> </a:t>
            </a:r>
            <a:r>
              <a:rPr dirty="0" sz="5200" spc="114" b="1">
                <a:solidFill>
                  <a:srgbClr val="1A1F21"/>
                </a:solidFill>
                <a:latin typeface="Arial"/>
                <a:cs typeface="Arial"/>
              </a:rPr>
              <a:t>Dynamics</a:t>
            </a:r>
            <a:r>
              <a:rPr dirty="0" sz="5200" spc="-180" b="1">
                <a:solidFill>
                  <a:srgbClr val="1A1F21"/>
                </a:solidFill>
                <a:latin typeface="Arial"/>
                <a:cs typeface="Arial"/>
              </a:rPr>
              <a:t> </a:t>
            </a:r>
            <a:r>
              <a:rPr dirty="0" sz="5200" spc="210" b="1">
                <a:solidFill>
                  <a:srgbClr val="1A1F21"/>
                </a:solidFill>
                <a:latin typeface="Arial"/>
                <a:cs typeface="Arial"/>
              </a:rPr>
              <a:t>and</a:t>
            </a:r>
            <a:r>
              <a:rPr dirty="0" sz="5200" spc="-405" b="1">
                <a:solidFill>
                  <a:srgbClr val="1A1F21"/>
                </a:solidFill>
                <a:latin typeface="Arial"/>
                <a:cs typeface="Arial"/>
              </a:rPr>
              <a:t> </a:t>
            </a:r>
            <a:r>
              <a:rPr dirty="0" sz="5200" spc="60" b="1">
                <a:solidFill>
                  <a:srgbClr val="1A1F21"/>
                </a:solidFill>
                <a:latin typeface="Arial"/>
                <a:cs typeface="Arial"/>
              </a:rPr>
              <a:t>Fluctuating </a:t>
            </a:r>
            <a:r>
              <a:rPr dirty="0" sz="5200" spc="80" b="1">
                <a:solidFill>
                  <a:srgbClr val="1A1F21"/>
                </a:solidFill>
                <a:latin typeface="Arial"/>
                <a:cs typeface="Arial"/>
              </a:rPr>
              <a:t>Readiness</a:t>
            </a:r>
            <a:r>
              <a:rPr dirty="0" sz="5200" spc="-25" b="1">
                <a:solidFill>
                  <a:srgbClr val="1A1F21"/>
                </a:solidFill>
                <a:latin typeface="Arial"/>
                <a:cs typeface="Arial"/>
              </a:rPr>
              <a:t> </a:t>
            </a:r>
            <a:r>
              <a:rPr dirty="0" sz="5200" spc="240" b="1">
                <a:solidFill>
                  <a:srgbClr val="1A1F21"/>
                </a:solidFill>
                <a:latin typeface="Arial"/>
                <a:cs typeface="Arial"/>
              </a:rPr>
              <a:t>to</a:t>
            </a:r>
            <a:r>
              <a:rPr dirty="0" sz="5200" spc="-430" b="1">
                <a:solidFill>
                  <a:srgbClr val="1A1F21"/>
                </a:solidFill>
                <a:latin typeface="Arial"/>
                <a:cs typeface="Arial"/>
              </a:rPr>
              <a:t> </a:t>
            </a:r>
            <a:r>
              <a:rPr dirty="0" sz="5200" spc="150" b="1">
                <a:solidFill>
                  <a:srgbClr val="1A1F21"/>
                </a:solidFill>
                <a:latin typeface="Arial"/>
                <a:cs typeface="Arial"/>
              </a:rPr>
              <a:t>Change</a:t>
            </a:r>
            <a:r>
              <a:rPr dirty="0" sz="5200" spc="25" b="1">
                <a:solidFill>
                  <a:srgbClr val="1A1F21"/>
                </a:solidFill>
                <a:latin typeface="Arial"/>
                <a:cs typeface="Arial"/>
              </a:rPr>
              <a:t> </a:t>
            </a:r>
            <a:r>
              <a:rPr dirty="0" sz="5200" spc="135" b="1">
                <a:solidFill>
                  <a:srgbClr val="1A1F21"/>
                </a:solidFill>
                <a:latin typeface="Arial"/>
                <a:cs typeface="Arial"/>
              </a:rPr>
              <a:t>in</a:t>
            </a:r>
            <a:r>
              <a:rPr dirty="0" sz="5200" spc="-385" b="1">
                <a:solidFill>
                  <a:srgbClr val="1A1F21"/>
                </a:solidFill>
                <a:latin typeface="Arial"/>
                <a:cs typeface="Arial"/>
              </a:rPr>
              <a:t> </a:t>
            </a:r>
            <a:r>
              <a:rPr dirty="0" sz="5200" b="1">
                <a:solidFill>
                  <a:srgbClr val="1A1F21"/>
                </a:solidFill>
                <a:latin typeface="Arial"/>
                <a:cs typeface="Arial"/>
              </a:rPr>
              <a:t>Addiction</a:t>
            </a:r>
            <a:r>
              <a:rPr dirty="0" sz="5200" spc="145" b="1">
                <a:solidFill>
                  <a:srgbClr val="1A1F21"/>
                </a:solidFill>
                <a:latin typeface="Arial"/>
                <a:cs typeface="Arial"/>
              </a:rPr>
              <a:t> </a:t>
            </a:r>
            <a:r>
              <a:rPr dirty="0" sz="5200" spc="100" b="1">
                <a:solidFill>
                  <a:srgbClr val="1A1F21"/>
                </a:solidFill>
                <a:latin typeface="Arial"/>
                <a:cs typeface="Arial"/>
              </a:rPr>
              <a:t>Treatment</a:t>
            </a:r>
            <a:endParaRPr sz="5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1561" y="7730232"/>
            <a:ext cx="15792450" cy="135191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7145" marR="3547745" indent="-5080">
              <a:lnSpc>
                <a:spcPts val="3820"/>
              </a:lnSpc>
              <a:spcBef>
                <a:spcPts val="409"/>
              </a:spcBef>
            </a:pPr>
            <a:r>
              <a:rPr dirty="0" sz="3350" spc="80" i="1">
                <a:solidFill>
                  <a:srgbClr val="1A1F21"/>
                </a:solidFill>
                <a:latin typeface="Times New Roman"/>
                <a:cs typeface="Times New Roman"/>
              </a:rPr>
              <a:t>A</a:t>
            </a:r>
            <a:r>
              <a:rPr dirty="0" sz="3350" spc="-215" i="1">
                <a:solidFill>
                  <a:srgbClr val="1A1F21"/>
                </a:solidFill>
                <a:latin typeface="Times New Roman"/>
                <a:cs typeface="Times New Roman"/>
              </a:rPr>
              <a:t> </a:t>
            </a:r>
            <a:r>
              <a:rPr dirty="0" sz="3350" spc="-40" i="1">
                <a:solidFill>
                  <a:srgbClr val="1A1F21"/>
                </a:solidFill>
                <a:latin typeface="Times New Roman"/>
                <a:cs typeface="Times New Roman"/>
              </a:rPr>
              <a:t>Multi-</a:t>
            </a:r>
            <a:r>
              <a:rPr dirty="0" sz="3350" spc="-45" i="1">
                <a:solidFill>
                  <a:srgbClr val="1A1F21"/>
                </a:solidFill>
                <a:latin typeface="Times New Roman"/>
                <a:cs typeface="Times New Roman"/>
              </a:rPr>
              <a:t>Dimensional</a:t>
            </a:r>
            <a:r>
              <a:rPr dirty="0" sz="3350" spc="-370" i="1">
                <a:solidFill>
                  <a:srgbClr val="1A1F21"/>
                </a:solidFill>
                <a:latin typeface="Times New Roman"/>
                <a:cs typeface="Times New Roman"/>
              </a:rPr>
              <a:t> </a:t>
            </a:r>
            <a:r>
              <a:rPr dirty="0" sz="3350" spc="-180" i="1">
                <a:solidFill>
                  <a:srgbClr val="1A1F21"/>
                </a:solidFill>
                <a:latin typeface="Times New Roman"/>
                <a:cs typeface="Times New Roman"/>
              </a:rPr>
              <a:t>Framework</a:t>
            </a:r>
            <a:r>
              <a:rPr dirty="0" sz="3350" spc="210" i="1">
                <a:solidFill>
                  <a:srgbClr val="1A1F21"/>
                </a:solidFill>
                <a:latin typeface="Times New Roman"/>
                <a:cs typeface="Times New Roman"/>
              </a:rPr>
              <a:t> </a:t>
            </a:r>
            <a:r>
              <a:rPr dirty="0" sz="3350" spc="-75" i="1">
                <a:solidFill>
                  <a:srgbClr val="1A1F21"/>
                </a:solidFill>
                <a:latin typeface="Times New Roman"/>
                <a:cs typeface="Times New Roman"/>
              </a:rPr>
              <a:t>for</a:t>
            </a:r>
            <a:r>
              <a:rPr dirty="0" sz="3350" spc="-330" i="1">
                <a:solidFill>
                  <a:srgbClr val="1A1F21"/>
                </a:solidFill>
                <a:latin typeface="Times New Roman"/>
                <a:cs typeface="Times New Roman"/>
              </a:rPr>
              <a:t> </a:t>
            </a:r>
            <a:r>
              <a:rPr dirty="0" sz="3350" spc="-30" i="1">
                <a:solidFill>
                  <a:srgbClr val="1A1F21"/>
                </a:solidFill>
                <a:latin typeface="Times New Roman"/>
                <a:cs typeface="Times New Roman"/>
              </a:rPr>
              <a:t>PhD</a:t>
            </a:r>
            <a:r>
              <a:rPr dirty="0" sz="3350" spc="-270" i="1">
                <a:solidFill>
                  <a:srgbClr val="1A1F21"/>
                </a:solidFill>
                <a:latin typeface="Times New Roman"/>
                <a:cs typeface="Times New Roman"/>
              </a:rPr>
              <a:t> </a:t>
            </a:r>
            <a:r>
              <a:rPr dirty="0" sz="3350" spc="-50" i="1">
                <a:solidFill>
                  <a:srgbClr val="1A1F21"/>
                </a:solidFill>
                <a:latin typeface="Times New Roman"/>
                <a:cs typeface="Times New Roman"/>
              </a:rPr>
              <a:t>Inquiry</a:t>
            </a:r>
            <a:r>
              <a:rPr dirty="0" sz="3350" spc="-165" i="1">
                <a:solidFill>
                  <a:srgbClr val="1A1F21"/>
                </a:solidFill>
                <a:latin typeface="Times New Roman"/>
                <a:cs typeface="Times New Roman"/>
              </a:rPr>
              <a:t> </a:t>
            </a:r>
            <a:r>
              <a:rPr dirty="0" sz="3350" spc="-105" i="1">
                <a:solidFill>
                  <a:srgbClr val="1A1F21"/>
                </a:solidFill>
                <a:latin typeface="Times New Roman"/>
                <a:cs typeface="Times New Roman"/>
              </a:rPr>
              <a:t>Integrating</a:t>
            </a:r>
            <a:r>
              <a:rPr dirty="0" sz="3350" spc="-235" i="1">
                <a:solidFill>
                  <a:srgbClr val="1A1F21"/>
                </a:solidFill>
                <a:latin typeface="Times New Roman"/>
                <a:cs typeface="Times New Roman"/>
              </a:rPr>
              <a:t> </a:t>
            </a:r>
            <a:r>
              <a:rPr dirty="0" sz="3350" spc="-125" i="1">
                <a:solidFill>
                  <a:srgbClr val="1A1F21"/>
                </a:solidFill>
                <a:latin typeface="Times New Roman"/>
                <a:cs typeface="Times New Roman"/>
              </a:rPr>
              <a:t>Neurobiology,</a:t>
            </a:r>
            <a:r>
              <a:rPr dirty="0" sz="3350" spc="-125" i="1">
                <a:solidFill>
                  <a:srgbClr val="1A1F21"/>
                </a:solidFill>
                <a:latin typeface="Times New Roman"/>
                <a:cs typeface="Times New Roman"/>
              </a:rPr>
              <a:t> </a:t>
            </a:r>
            <a:r>
              <a:rPr dirty="0" sz="3350" spc="-65" i="1">
                <a:solidFill>
                  <a:srgbClr val="1A1F21"/>
                </a:solidFill>
                <a:latin typeface="Times New Roman"/>
                <a:cs typeface="Times New Roman"/>
              </a:rPr>
              <a:t>Non-</a:t>
            </a:r>
            <a:r>
              <a:rPr dirty="0" sz="3350" spc="-45" i="1">
                <a:solidFill>
                  <a:srgbClr val="1A1F21"/>
                </a:solidFill>
                <a:latin typeface="Times New Roman"/>
                <a:cs typeface="Times New Roman"/>
              </a:rPr>
              <a:t>Linear</a:t>
            </a:r>
            <a:r>
              <a:rPr dirty="0" sz="3350" spc="-105" i="1">
                <a:solidFill>
                  <a:srgbClr val="1A1F21"/>
                </a:solidFill>
                <a:latin typeface="Times New Roman"/>
                <a:cs typeface="Times New Roman"/>
              </a:rPr>
              <a:t> </a:t>
            </a:r>
            <a:r>
              <a:rPr dirty="0" sz="3350" spc="-100" i="1">
                <a:solidFill>
                  <a:srgbClr val="1A1F21"/>
                </a:solidFill>
                <a:latin typeface="Times New Roman"/>
                <a:cs typeface="Times New Roman"/>
              </a:rPr>
              <a:t>Dynamics,</a:t>
            </a:r>
            <a:r>
              <a:rPr dirty="0" sz="3350" spc="-195" i="1">
                <a:solidFill>
                  <a:srgbClr val="1A1F21"/>
                </a:solidFill>
                <a:latin typeface="Times New Roman"/>
                <a:cs typeface="Times New Roman"/>
              </a:rPr>
              <a:t> </a:t>
            </a:r>
            <a:r>
              <a:rPr dirty="0" sz="3350" i="1">
                <a:solidFill>
                  <a:srgbClr val="1A1F21"/>
                </a:solidFill>
                <a:latin typeface="Times New Roman"/>
                <a:cs typeface="Times New Roman"/>
              </a:rPr>
              <a:t>and</a:t>
            </a:r>
            <a:r>
              <a:rPr dirty="0" sz="3350" spc="-220" i="1">
                <a:solidFill>
                  <a:srgbClr val="1A1F21"/>
                </a:solidFill>
                <a:latin typeface="Times New Roman"/>
                <a:cs typeface="Times New Roman"/>
              </a:rPr>
              <a:t> </a:t>
            </a:r>
            <a:r>
              <a:rPr dirty="0" sz="3350" spc="-40" i="1">
                <a:solidFill>
                  <a:srgbClr val="1A1F21"/>
                </a:solidFill>
                <a:latin typeface="Times New Roman"/>
                <a:cs typeface="Times New Roman"/>
              </a:rPr>
              <a:t>Adaptive</a:t>
            </a:r>
            <a:r>
              <a:rPr dirty="0" sz="3350" spc="-65" i="1">
                <a:solidFill>
                  <a:srgbClr val="1A1F21"/>
                </a:solidFill>
                <a:latin typeface="Times New Roman"/>
                <a:cs typeface="Times New Roman"/>
              </a:rPr>
              <a:t> </a:t>
            </a:r>
            <a:r>
              <a:rPr dirty="0" sz="3350" spc="-100" i="1">
                <a:solidFill>
                  <a:srgbClr val="1A1F21"/>
                </a:solidFill>
                <a:latin typeface="Times New Roman"/>
                <a:cs typeface="Times New Roman"/>
              </a:rPr>
              <a:t>Technology.</a:t>
            </a:r>
            <a:endParaRPr sz="33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450"/>
              </a:spcBef>
            </a:pPr>
            <a:r>
              <a:rPr dirty="0" sz="1700" spc="20">
                <a:solidFill>
                  <a:srgbClr val="313334"/>
                </a:solidFill>
                <a:latin typeface="Arial"/>
                <a:cs typeface="Arial"/>
              </a:rPr>
              <a:t>Candidate</a:t>
            </a:r>
            <a:r>
              <a:rPr dirty="0" sz="1700" spc="30">
                <a:solidFill>
                  <a:srgbClr val="313334"/>
                </a:solidFill>
                <a:latin typeface="Arial"/>
                <a:cs typeface="Arial"/>
              </a:rPr>
              <a:t> </a:t>
            </a:r>
            <a:r>
              <a:rPr dirty="0" sz="1700" spc="20">
                <a:solidFill>
                  <a:srgbClr val="1A1F21"/>
                </a:solidFill>
                <a:latin typeface="Arial"/>
                <a:cs typeface="Arial"/>
              </a:rPr>
              <a:t>Presentation</a:t>
            </a:r>
            <a:r>
              <a:rPr dirty="0" sz="1700" spc="-204">
                <a:solidFill>
                  <a:srgbClr val="1A1F21"/>
                </a:solidFill>
                <a:latin typeface="Arial"/>
                <a:cs typeface="Arial"/>
              </a:rPr>
              <a:t> </a:t>
            </a:r>
            <a:r>
              <a:rPr dirty="0" sz="1700" spc="55">
                <a:solidFill>
                  <a:srgbClr val="313334"/>
                </a:solidFill>
                <a:latin typeface="Arial"/>
                <a:cs typeface="Arial"/>
              </a:rPr>
              <a:t>Deck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0651" y="2706687"/>
            <a:ext cx="2318119" cy="25532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99010" y="2808817"/>
            <a:ext cx="4865503" cy="250216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750263" y="1889653"/>
            <a:ext cx="0" cy="6281420"/>
          </a:xfrm>
          <a:custGeom>
            <a:avLst/>
            <a:gdLst/>
            <a:ahLst/>
            <a:cxnLst/>
            <a:rect l="l" t="t" r="r" b="b"/>
            <a:pathLst>
              <a:path w="0" h="6281420">
                <a:moveTo>
                  <a:pt x="0" y="628094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5898" y="1404540"/>
            <a:ext cx="16354425" cy="0"/>
          </a:xfrm>
          <a:custGeom>
            <a:avLst/>
            <a:gdLst/>
            <a:ahLst/>
            <a:cxnLst/>
            <a:rect l="l" t="t" r="r" b="b"/>
            <a:pathLst>
              <a:path w="16354425" h="0">
                <a:moveTo>
                  <a:pt x="0" y="0"/>
                </a:moveTo>
                <a:lnTo>
                  <a:pt x="1635420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247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4550" spc="155">
                <a:solidFill>
                  <a:srgbClr val="151616"/>
                </a:solidFill>
              </a:rPr>
              <a:t>The</a:t>
            </a:r>
            <a:r>
              <a:rPr dirty="0" sz="4550" spc="-35">
                <a:solidFill>
                  <a:srgbClr val="151616"/>
                </a:solidFill>
              </a:rPr>
              <a:t> </a:t>
            </a:r>
            <a:r>
              <a:rPr dirty="0" sz="4550" spc="70">
                <a:solidFill>
                  <a:srgbClr val="151616"/>
                </a:solidFill>
              </a:rPr>
              <a:t>Paradigm</a:t>
            </a:r>
            <a:r>
              <a:rPr dirty="0" sz="4550" spc="204">
                <a:solidFill>
                  <a:srgbClr val="151616"/>
                </a:solidFill>
              </a:rPr>
              <a:t> </a:t>
            </a:r>
            <a:r>
              <a:rPr dirty="0" sz="4550" spc="75">
                <a:solidFill>
                  <a:srgbClr val="151616"/>
                </a:solidFill>
              </a:rPr>
              <a:t>Shift:</a:t>
            </a:r>
            <a:r>
              <a:rPr dirty="0" sz="4550" spc="10">
                <a:solidFill>
                  <a:srgbClr val="151616"/>
                </a:solidFill>
              </a:rPr>
              <a:t> </a:t>
            </a:r>
            <a:r>
              <a:rPr dirty="0" sz="4550" spc="80">
                <a:solidFill>
                  <a:srgbClr val="151616"/>
                </a:solidFill>
              </a:rPr>
              <a:t>From</a:t>
            </a:r>
            <a:r>
              <a:rPr dirty="0" sz="4550" spc="140">
                <a:solidFill>
                  <a:srgbClr val="151616"/>
                </a:solidFill>
              </a:rPr>
              <a:t> </a:t>
            </a:r>
            <a:r>
              <a:rPr dirty="0" sz="4550" spc="55">
                <a:solidFill>
                  <a:srgbClr val="151616"/>
                </a:solidFill>
              </a:rPr>
              <a:t>Static</a:t>
            </a:r>
            <a:r>
              <a:rPr dirty="0" sz="4550" spc="80">
                <a:solidFill>
                  <a:srgbClr val="151616"/>
                </a:solidFill>
              </a:rPr>
              <a:t> </a:t>
            </a:r>
            <a:r>
              <a:rPr dirty="0" sz="4550">
                <a:solidFill>
                  <a:srgbClr val="151616"/>
                </a:solidFill>
              </a:rPr>
              <a:t>Traits</a:t>
            </a:r>
            <a:r>
              <a:rPr dirty="0" sz="4550" spc="180">
                <a:solidFill>
                  <a:srgbClr val="151616"/>
                </a:solidFill>
              </a:rPr>
              <a:t> </a:t>
            </a:r>
            <a:r>
              <a:rPr dirty="0" sz="4550" spc="125">
                <a:solidFill>
                  <a:srgbClr val="151616"/>
                </a:solidFill>
              </a:rPr>
              <a:t>to</a:t>
            </a:r>
            <a:r>
              <a:rPr dirty="0" sz="4550" spc="-40">
                <a:solidFill>
                  <a:srgbClr val="151616"/>
                </a:solidFill>
              </a:rPr>
              <a:t> </a:t>
            </a:r>
            <a:r>
              <a:rPr dirty="0" sz="4550" spc="45">
                <a:solidFill>
                  <a:srgbClr val="151616"/>
                </a:solidFill>
              </a:rPr>
              <a:t>Dynamic</a:t>
            </a:r>
            <a:r>
              <a:rPr dirty="0" sz="4550" spc="420">
                <a:solidFill>
                  <a:srgbClr val="151616"/>
                </a:solidFill>
              </a:rPr>
              <a:t> </a:t>
            </a:r>
            <a:r>
              <a:rPr dirty="0" sz="4550" spc="50">
                <a:solidFill>
                  <a:srgbClr val="151616"/>
                </a:solidFill>
              </a:rPr>
              <a:t>States</a:t>
            </a:r>
            <a:endParaRPr sz="4550"/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33434"/>
                </a:solidFill>
              </a:rPr>
              <a:t>Isl\</a:t>
            </a:r>
            <a:r>
              <a:rPr dirty="0" sz="1300" spc="-45">
                <a:solidFill>
                  <a:srgbClr val="333434"/>
                </a:solidFill>
              </a:rPr>
              <a:t> </a:t>
            </a:r>
            <a:r>
              <a:rPr dirty="0" spc="-10">
                <a:solidFill>
                  <a:srgbClr val="1C1C1C"/>
                </a:solidFill>
              </a:rPr>
              <a:t>NotebookLM</a:t>
            </a:r>
            <a:endParaRPr sz="1300"/>
          </a:p>
        </p:txBody>
      </p:sp>
      <p:sp>
        <p:nvSpPr>
          <p:cNvPr id="7" name="object 7"/>
          <p:cNvSpPr txBox="1"/>
          <p:nvPr/>
        </p:nvSpPr>
        <p:spPr>
          <a:xfrm>
            <a:off x="2728386" y="1813123"/>
            <a:ext cx="11753850" cy="577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9045575" algn="l"/>
              </a:tabLst>
            </a:pPr>
            <a:r>
              <a:rPr dirty="0" sz="3600" spc="-75" b="1">
                <a:solidFill>
                  <a:srgbClr val="151616"/>
                </a:solidFill>
                <a:latin typeface="Arial"/>
                <a:cs typeface="Arial"/>
              </a:rPr>
              <a:t>Traditional</a:t>
            </a:r>
            <a:r>
              <a:rPr dirty="0" sz="3600" spc="-120" b="1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dirty="0" sz="3600" spc="-20" b="1">
                <a:solidFill>
                  <a:srgbClr val="151616"/>
                </a:solidFill>
                <a:latin typeface="Arial"/>
                <a:cs typeface="Arial"/>
              </a:rPr>
              <a:t>View</a:t>
            </a:r>
            <a:r>
              <a:rPr dirty="0" sz="3600" b="1">
                <a:solidFill>
                  <a:srgbClr val="151616"/>
                </a:solidFill>
                <a:latin typeface="Arial"/>
                <a:cs typeface="Arial"/>
              </a:rPr>
              <a:t>	</a:t>
            </a:r>
            <a:r>
              <a:rPr dirty="0" sz="3600" spc="-70" b="1">
                <a:solidFill>
                  <a:srgbClr val="151616"/>
                </a:solidFill>
                <a:latin typeface="Arial"/>
                <a:cs typeface="Arial"/>
              </a:rPr>
              <a:t>Modern</a:t>
            </a:r>
            <a:r>
              <a:rPr dirty="0" sz="3600" spc="-145" b="1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dirty="0" sz="3600" spc="-100" b="1">
                <a:solidFill>
                  <a:srgbClr val="151616"/>
                </a:solidFill>
                <a:latin typeface="Arial"/>
                <a:cs typeface="Arial"/>
              </a:rPr>
              <a:t>View</a:t>
            </a:r>
            <a:endParaRPr sz="3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8186" y="5483390"/>
            <a:ext cx="156210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55">
                <a:solidFill>
                  <a:srgbClr val="313133"/>
                </a:solidFill>
                <a:latin typeface="Times New Roman"/>
                <a:cs typeface="Times New Roman"/>
              </a:rPr>
              <a:t>Stat</a:t>
            </a:r>
            <a:r>
              <a:rPr dirty="0" sz="1850" spc="-55">
                <a:solidFill>
                  <a:srgbClr val="151616"/>
                </a:solidFill>
                <a:latin typeface="Times New Roman"/>
                <a:cs typeface="Times New Roman"/>
              </a:rPr>
              <a:t>i</a:t>
            </a:r>
            <a:r>
              <a:rPr dirty="0" sz="1850" spc="-55">
                <a:solidFill>
                  <a:srgbClr val="313133"/>
                </a:solidFill>
                <a:latin typeface="Times New Roman"/>
                <a:cs typeface="Times New Roman"/>
              </a:rPr>
              <a:t>c,</a:t>
            </a:r>
            <a:r>
              <a:rPr dirty="0" sz="1850" spc="-80">
                <a:solidFill>
                  <a:srgbClr val="313133"/>
                </a:solidFill>
                <a:latin typeface="Times New Roman"/>
                <a:cs typeface="Times New Roman"/>
              </a:rPr>
              <a:t> </a:t>
            </a:r>
            <a:r>
              <a:rPr dirty="0" sz="1850" spc="-60">
                <a:solidFill>
                  <a:srgbClr val="313133"/>
                </a:solidFill>
                <a:latin typeface="Times New Roman"/>
                <a:cs typeface="Times New Roman"/>
              </a:rPr>
              <a:t>Unmoving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1164" y="6077015"/>
            <a:ext cx="6738620" cy="169291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32105" indent="-319405">
              <a:lnSpc>
                <a:spcPts val="3290"/>
              </a:lnSpc>
              <a:spcBef>
                <a:spcPts val="115"/>
              </a:spcBef>
              <a:buChar char="•"/>
              <a:tabLst>
                <a:tab pos="332105" algn="l"/>
              </a:tabLst>
            </a:pPr>
            <a:r>
              <a:rPr dirty="0" sz="2800" spc="-85">
                <a:solidFill>
                  <a:srgbClr val="151616"/>
                </a:solidFill>
                <a:latin typeface="Times New Roman"/>
                <a:cs typeface="Times New Roman"/>
              </a:rPr>
              <a:t>Motivation</a:t>
            </a:r>
            <a:r>
              <a:rPr dirty="0" sz="2800" spc="-35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114">
                <a:solidFill>
                  <a:srgbClr val="151616"/>
                </a:solidFill>
                <a:latin typeface="Times New Roman"/>
                <a:cs typeface="Times New Roman"/>
              </a:rPr>
              <a:t>viewed</a:t>
            </a:r>
            <a:r>
              <a:rPr dirty="0" sz="2800" spc="-95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55">
                <a:solidFill>
                  <a:srgbClr val="151616"/>
                </a:solidFill>
                <a:latin typeface="Times New Roman"/>
                <a:cs typeface="Times New Roman"/>
              </a:rPr>
              <a:t>as</a:t>
            </a:r>
            <a:r>
              <a:rPr dirty="0" sz="2800" spc="-225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151616"/>
                </a:solidFill>
                <a:latin typeface="Times New Roman"/>
                <a:cs typeface="Times New Roman"/>
              </a:rPr>
              <a:t>a</a:t>
            </a:r>
            <a:r>
              <a:rPr dirty="0" sz="2800" spc="-204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60">
                <a:solidFill>
                  <a:srgbClr val="151616"/>
                </a:solidFill>
                <a:latin typeface="Times New Roman"/>
                <a:cs typeface="Times New Roman"/>
              </a:rPr>
              <a:t>stable</a:t>
            </a:r>
            <a:r>
              <a:rPr dirty="0" sz="2800" spc="-130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70">
                <a:solidFill>
                  <a:srgbClr val="151616"/>
                </a:solidFill>
                <a:latin typeface="Times New Roman"/>
                <a:cs typeface="Times New Roman"/>
              </a:rPr>
              <a:t>personality</a:t>
            </a:r>
            <a:r>
              <a:rPr dirty="0" sz="2800" spc="-114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151616"/>
                </a:solidFill>
                <a:latin typeface="Times New Roman"/>
                <a:cs typeface="Times New Roman"/>
              </a:rPr>
              <a:t>trait</a:t>
            </a:r>
            <a:r>
              <a:rPr dirty="0" sz="2800" spc="-10">
                <a:solidFill>
                  <a:srgbClr val="313133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325120" marR="5080" indent="-313055">
              <a:lnSpc>
                <a:spcPts val="3220"/>
              </a:lnSpc>
              <a:spcBef>
                <a:spcPts val="150"/>
              </a:spcBef>
              <a:buChar char="•"/>
              <a:tabLst>
                <a:tab pos="325120" algn="l"/>
                <a:tab pos="331470" algn="l"/>
              </a:tabLst>
            </a:pPr>
            <a:r>
              <a:rPr dirty="0" sz="2800">
                <a:solidFill>
                  <a:srgbClr val="151616"/>
                </a:solidFill>
                <a:latin typeface="Times New Roman"/>
                <a:cs typeface="Times New Roman"/>
              </a:rPr>
              <a:t>	</a:t>
            </a:r>
            <a:r>
              <a:rPr dirty="0" sz="2800" spc="-125">
                <a:solidFill>
                  <a:srgbClr val="151616"/>
                </a:solidFill>
                <a:latin typeface="Times New Roman"/>
                <a:cs typeface="Times New Roman"/>
              </a:rPr>
              <a:t>Relapse</a:t>
            </a:r>
            <a:r>
              <a:rPr dirty="0" sz="2800" spc="-190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30">
                <a:solidFill>
                  <a:srgbClr val="151616"/>
                </a:solidFill>
                <a:latin typeface="Times New Roman"/>
                <a:cs typeface="Times New Roman"/>
              </a:rPr>
              <a:t>interpreted</a:t>
            </a:r>
            <a:r>
              <a:rPr dirty="0" sz="2800" spc="55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55">
                <a:solidFill>
                  <a:srgbClr val="151616"/>
                </a:solidFill>
                <a:latin typeface="Times New Roman"/>
                <a:cs typeface="Times New Roman"/>
              </a:rPr>
              <a:t>as</a:t>
            </a:r>
            <a:r>
              <a:rPr dirty="0" sz="2800" spc="-240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151616"/>
                </a:solidFill>
                <a:latin typeface="Times New Roman"/>
                <a:cs typeface="Times New Roman"/>
              </a:rPr>
              <a:t>a</a:t>
            </a:r>
            <a:r>
              <a:rPr dirty="0" sz="2800" spc="-285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70">
                <a:solidFill>
                  <a:srgbClr val="151616"/>
                </a:solidFill>
                <a:latin typeface="Times New Roman"/>
                <a:cs typeface="Times New Roman"/>
              </a:rPr>
              <a:t>failure</a:t>
            </a:r>
            <a:r>
              <a:rPr dirty="0" sz="2800" spc="-140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90">
                <a:solidFill>
                  <a:srgbClr val="151616"/>
                </a:solidFill>
                <a:latin typeface="Times New Roman"/>
                <a:cs typeface="Times New Roman"/>
              </a:rPr>
              <a:t>of</a:t>
            </a:r>
            <a:r>
              <a:rPr dirty="0" sz="2800" spc="-180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65">
                <a:solidFill>
                  <a:srgbClr val="151616"/>
                </a:solidFill>
                <a:latin typeface="Times New Roman"/>
                <a:cs typeface="Times New Roman"/>
              </a:rPr>
              <a:t>'willpower'</a:t>
            </a:r>
            <a:r>
              <a:rPr dirty="0" sz="2800" spc="-120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20">
                <a:solidFill>
                  <a:srgbClr val="151616"/>
                </a:solidFill>
                <a:latin typeface="Times New Roman"/>
                <a:cs typeface="Times New Roman"/>
              </a:rPr>
              <a:t>or </a:t>
            </a:r>
            <a:r>
              <a:rPr dirty="0" sz="2800" spc="-10">
                <a:solidFill>
                  <a:srgbClr val="151616"/>
                </a:solidFill>
                <a:latin typeface="Times New Roman"/>
                <a:cs typeface="Times New Roman"/>
              </a:rPr>
              <a:t>character</a:t>
            </a:r>
            <a:r>
              <a:rPr dirty="0" sz="2800" spc="-10">
                <a:solidFill>
                  <a:srgbClr val="313133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327025" indent="-314325">
              <a:lnSpc>
                <a:spcPts val="3229"/>
              </a:lnSpc>
              <a:buChar char="•"/>
              <a:tabLst>
                <a:tab pos="327025" algn="l"/>
              </a:tabLst>
            </a:pPr>
            <a:r>
              <a:rPr dirty="0" sz="2800" spc="-70">
                <a:solidFill>
                  <a:srgbClr val="151616"/>
                </a:solidFill>
                <a:latin typeface="Times New Roman"/>
                <a:cs typeface="Times New Roman"/>
              </a:rPr>
              <a:t>Treatment</a:t>
            </a:r>
            <a:r>
              <a:rPr dirty="0" sz="2800" spc="35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75">
                <a:solidFill>
                  <a:srgbClr val="151616"/>
                </a:solidFill>
                <a:latin typeface="Times New Roman"/>
                <a:cs typeface="Times New Roman"/>
              </a:rPr>
              <a:t>model:</a:t>
            </a:r>
            <a:r>
              <a:rPr dirty="0" sz="2800" spc="-210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90">
                <a:solidFill>
                  <a:srgbClr val="151616"/>
                </a:solidFill>
                <a:latin typeface="Times New Roman"/>
                <a:cs typeface="Times New Roman"/>
              </a:rPr>
              <a:t>Episodic,</a:t>
            </a:r>
            <a:r>
              <a:rPr dirty="0" sz="2800" spc="-195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25">
                <a:solidFill>
                  <a:srgbClr val="151616"/>
                </a:solidFill>
                <a:latin typeface="Times New Roman"/>
                <a:cs typeface="Times New Roman"/>
              </a:rPr>
              <a:t>linear</a:t>
            </a:r>
            <a:r>
              <a:rPr dirty="0" sz="2800" spc="-90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151616"/>
                </a:solidFill>
                <a:latin typeface="Times New Roman"/>
                <a:cs typeface="Times New Roman"/>
              </a:rPr>
              <a:t>progression.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40469" y="2617391"/>
            <a:ext cx="8445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solidFill>
                  <a:srgbClr val="8999A1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24191" y="3064206"/>
            <a:ext cx="8445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solidFill>
                  <a:srgbClr val="6E7E85"/>
                </a:solidFill>
                <a:latin typeface="Times New Roman"/>
                <a:cs typeface="Times New Roman"/>
              </a:rPr>
              <a:t>•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10216" y="3051439"/>
            <a:ext cx="126364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-50">
                <a:solidFill>
                  <a:srgbClr val="5B6D77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65492" y="3153568"/>
            <a:ext cx="33401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3365" algn="l"/>
              </a:tabLst>
            </a:pPr>
            <a:r>
              <a:rPr dirty="0" sz="1500" spc="-50">
                <a:solidFill>
                  <a:srgbClr val="6E7E85"/>
                </a:solidFill>
                <a:latin typeface="Times New Roman"/>
                <a:cs typeface="Times New Roman"/>
              </a:rPr>
              <a:t>•</a:t>
            </a:r>
            <a:r>
              <a:rPr dirty="0" sz="1500">
                <a:solidFill>
                  <a:srgbClr val="6E7E85"/>
                </a:solidFill>
                <a:latin typeface="Times New Roman"/>
                <a:cs typeface="Times New Roman"/>
              </a:rPr>
              <a:t>	</a:t>
            </a:r>
            <a:r>
              <a:rPr dirty="0" sz="1600" spc="-50">
                <a:solidFill>
                  <a:srgbClr val="6E7E85"/>
                </a:solidFill>
                <a:latin typeface="Times New Roman"/>
                <a:cs typeface="Times New Roman"/>
              </a:rPr>
              <a:t>•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43949" y="3191867"/>
            <a:ext cx="1057275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49250" algn="l"/>
                <a:tab pos="960119" algn="l"/>
              </a:tabLst>
            </a:pPr>
            <a:r>
              <a:rPr dirty="0" sz="800" spc="-50">
                <a:solidFill>
                  <a:srgbClr val="8999A1"/>
                </a:solidFill>
                <a:latin typeface="Arial"/>
                <a:cs typeface="Arial"/>
              </a:rPr>
              <a:t>•</a:t>
            </a:r>
            <a:r>
              <a:rPr dirty="0" sz="800">
                <a:solidFill>
                  <a:srgbClr val="8999A1"/>
                </a:solidFill>
                <a:latin typeface="Arial"/>
                <a:cs typeface="Arial"/>
              </a:rPr>
              <a:t>	</a:t>
            </a:r>
            <a:r>
              <a:rPr dirty="0" sz="2000" spc="-50">
                <a:solidFill>
                  <a:srgbClr val="5B6D77"/>
                </a:solidFill>
                <a:latin typeface="Arial"/>
                <a:cs typeface="Arial"/>
              </a:rPr>
              <a:t>•</a:t>
            </a:r>
            <a:r>
              <a:rPr dirty="0" sz="2000">
                <a:solidFill>
                  <a:srgbClr val="5B6D77"/>
                </a:solidFill>
                <a:latin typeface="Arial"/>
                <a:cs typeface="Arial"/>
              </a:rPr>
              <a:t>	</a:t>
            </a:r>
            <a:r>
              <a:rPr dirty="0" u="heavy" sz="2000" spc="-50">
                <a:solidFill>
                  <a:srgbClr val="5B6D77"/>
                </a:solidFill>
                <a:uFill>
                  <a:solidFill>
                    <a:srgbClr val="5B6D77"/>
                  </a:solidFill>
                </a:uFill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729157" y="4430183"/>
            <a:ext cx="546735" cy="357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ts val="835"/>
              </a:lnSpc>
              <a:spcBef>
                <a:spcPts val="105"/>
              </a:spcBef>
            </a:pPr>
            <a:r>
              <a:rPr dirty="0" sz="800" spc="-25">
                <a:solidFill>
                  <a:srgbClr val="5B6D77"/>
                </a:solidFill>
                <a:latin typeface="Times New Roman"/>
                <a:cs typeface="Times New Roman"/>
              </a:rPr>
              <a:t>••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1675"/>
              </a:lnSpc>
            </a:pPr>
            <a:r>
              <a:rPr dirty="0" sz="2000">
                <a:solidFill>
                  <a:srgbClr val="5B6D77"/>
                </a:solidFill>
                <a:latin typeface="Times New Roman"/>
                <a:cs typeface="Times New Roman"/>
              </a:rPr>
              <a:t>•</a:t>
            </a:r>
            <a:r>
              <a:rPr dirty="0" sz="2000" spc="225">
                <a:solidFill>
                  <a:srgbClr val="5B6D77"/>
                </a:solidFill>
                <a:latin typeface="Times New Roman"/>
                <a:cs typeface="Times New Roman"/>
              </a:rPr>
              <a:t> </a:t>
            </a:r>
            <a:r>
              <a:rPr dirty="0" sz="1500" spc="-20">
                <a:solidFill>
                  <a:srgbClr val="5B6D77"/>
                </a:solidFill>
                <a:latin typeface="Times New Roman"/>
                <a:cs typeface="Times New Roman"/>
              </a:rPr>
              <a:t>••</a:t>
            </a:r>
            <a:r>
              <a:rPr dirty="0" sz="1400" spc="-20">
                <a:solidFill>
                  <a:srgbClr val="6E7E85"/>
                </a:solidFill>
                <a:latin typeface="Times New Roman"/>
                <a:cs typeface="Times New Roman"/>
              </a:rPr>
              <a:t>•</a:t>
            </a:r>
            <a:r>
              <a:rPr dirty="0" sz="1500" spc="-20">
                <a:solidFill>
                  <a:srgbClr val="5B6D77"/>
                </a:solidFill>
                <a:latin typeface="Times New Roman"/>
                <a:cs typeface="Times New Roman"/>
              </a:rPr>
              <a:t>•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052954" y="4379118"/>
            <a:ext cx="516890" cy="424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78460" algn="l"/>
              </a:tabLst>
            </a:pPr>
            <a:r>
              <a:rPr dirty="0" sz="2200" spc="-50">
                <a:solidFill>
                  <a:srgbClr val="5B6D77"/>
                </a:solidFill>
                <a:latin typeface="Arial"/>
                <a:cs typeface="Arial"/>
              </a:rPr>
              <a:t>•</a:t>
            </a:r>
            <a:r>
              <a:rPr dirty="0" sz="2200">
                <a:solidFill>
                  <a:srgbClr val="5B6D77"/>
                </a:solidFill>
                <a:latin typeface="Arial"/>
                <a:cs typeface="Arial"/>
              </a:rPr>
              <a:t>	</a:t>
            </a:r>
            <a:r>
              <a:rPr dirty="0" sz="2600" spc="20">
                <a:solidFill>
                  <a:srgbClr val="6E7E85"/>
                </a:solidFill>
                <a:latin typeface="Times New Roman"/>
                <a:cs typeface="Times New Roman"/>
              </a:rPr>
              <a:t>•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602423" y="4149328"/>
            <a:ext cx="1799589" cy="79184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232410">
              <a:lnSpc>
                <a:spcPts val="1175"/>
              </a:lnSpc>
              <a:spcBef>
                <a:spcPts val="409"/>
              </a:spcBef>
              <a:tabLst>
                <a:tab pos="450850" algn="l"/>
                <a:tab pos="710565" algn="l"/>
              </a:tabLst>
            </a:pPr>
            <a:r>
              <a:rPr dirty="0" sz="1500" spc="-50">
                <a:solidFill>
                  <a:srgbClr val="5B6D77"/>
                </a:solidFill>
                <a:latin typeface="Times New Roman"/>
                <a:cs typeface="Times New Roman"/>
              </a:rPr>
              <a:t>•</a:t>
            </a:r>
            <a:r>
              <a:rPr dirty="0" sz="1500">
                <a:solidFill>
                  <a:srgbClr val="5B6D77"/>
                </a:solidFill>
                <a:latin typeface="Times New Roman"/>
                <a:cs typeface="Times New Roman"/>
              </a:rPr>
              <a:t>	</a:t>
            </a:r>
            <a:r>
              <a:rPr dirty="0" sz="1000" spc="-50">
                <a:solidFill>
                  <a:srgbClr val="6E7E85"/>
                </a:solidFill>
                <a:latin typeface="Arial"/>
                <a:cs typeface="Arial"/>
              </a:rPr>
              <a:t>•</a:t>
            </a:r>
            <a:r>
              <a:rPr dirty="0" sz="1000">
                <a:solidFill>
                  <a:srgbClr val="6E7E85"/>
                </a:solidFill>
                <a:latin typeface="Arial"/>
                <a:cs typeface="Arial"/>
              </a:rPr>
              <a:t>	</a:t>
            </a:r>
            <a:r>
              <a:rPr dirty="0" sz="2200" spc="-50">
                <a:solidFill>
                  <a:srgbClr val="3B5464"/>
                </a:solidFill>
                <a:latin typeface="Times New Roman"/>
                <a:cs typeface="Times New Roman"/>
              </a:rPr>
              <a:t>•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4535"/>
              </a:lnSpc>
              <a:tabLst>
                <a:tab pos="684530" algn="l"/>
                <a:tab pos="1139825" algn="l"/>
              </a:tabLst>
            </a:pPr>
            <a:r>
              <a:rPr dirty="0" sz="1750" spc="-25" i="1">
                <a:solidFill>
                  <a:srgbClr val="5B6D77"/>
                </a:solidFill>
                <a:latin typeface="Times New Roman"/>
                <a:cs typeface="Times New Roman"/>
              </a:rPr>
              <a:t>:.</a:t>
            </a:r>
            <a:r>
              <a:rPr dirty="0" sz="1750" i="1">
                <a:solidFill>
                  <a:srgbClr val="5B6D77"/>
                </a:solidFill>
                <a:latin typeface="Times New Roman"/>
                <a:cs typeface="Times New Roman"/>
              </a:rPr>
              <a:t>	</a:t>
            </a:r>
            <a:r>
              <a:rPr dirty="0" sz="3200" spc="10">
                <a:solidFill>
                  <a:srgbClr val="6E7E85"/>
                </a:solidFill>
                <a:latin typeface="Times New Roman"/>
                <a:cs typeface="Times New Roman"/>
              </a:rPr>
              <a:t>.</a:t>
            </a:r>
            <a:r>
              <a:rPr dirty="0" sz="3200">
                <a:solidFill>
                  <a:srgbClr val="6E7E85"/>
                </a:solidFill>
                <a:latin typeface="Times New Roman"/>
                <a:cs typeface="Times New Roman"/>
              </a:rPr>
              <a:t>	</a:t>
            </a:r>
            <a:r>
              <a:rPr dirty="0" sz="5000" spc="100">
                <a:solidFill>
                  <a:srgbClr val="5B6D77"/>
                </a:solidFill>
                <a:latin typeface="Times New Roman"/>
                <a:cs typeface="Times New Roman"/>
              </a:rPr>
              <a:t>.</a:t>
            </a:r>
            <a:r>
              <a:rPr dirty="0" sz="5000" spc="490">
                <a:solidFill>
                  <a:srgbClr val="5B6D77"/>
                </a:solidFill>
                <a:latin typeface="Times New Roman"/>
                <a:cs typeface="Times New Roman"/>
              </a:rPr>
              <a:t> </a:t>
            </a:r>
            <a:r>
              <a:rPr dirty="0" sz="2950" spc="60">
                <a:solidFill>
                  <a:srgbClr val="8999A1"/>
                </a:solidFill>
                <a:latin typeface="Arial"/>
                <a:cs typeface="Arial"/>
              </a:rPr>
              <a:t>.</a:t>
            </a:r>
            <a:r>
              <a:rPr dirty="0" sz="3450" spc="60">
                <a:solidFill>
                  <a:srgbClr val="6E7E85"/>
                </a:solidFill>
                <a:latin typeface="Arial"/>
                <a:cs typeface="Arial"/>
              </a:rPr>
              <a:t>.</a:t>
            </a:r>
            <a:endParaRPr sz="34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714714" y="5042957"/>
            <a:ext cx="93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solidFill>
                  <a:srgbClr val="97ACB3"/>
                </a:solidFill>
                <a:latin typeface="Times New Roman"/>
                <a:cs typeface="Times New Roman"/>
              </a:rPr>
              <a:t>•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465474" y="5483390"/>
            <a:ext cx="1354455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55">
                <a:solidFill>
                  <a:srgbClr val="151616"/>
                </a:solidFill>
                <a:latin typeface="Times New Roman"/>
                <a:cs typeface="Times New Roman"/>
              </a:rPr>
              <a:t>D</a:t>
            </a:r>
            <a:r>
              <a:rPr dirty="0" sz="1850" spc="-55">
                <a:solidFill>
                  <a:srgbClr val="313133"/>
                </a:solidFill>
                <a:latin typeface="Times New Roman"/>
                <a:cs typeface="Times New Roman"/>
              </a:rPr>
              <a:t>ynam</a:t>
            </a:r>
            <a:r>
              <a:rPr dirty="0" sz="1850" spc="-55">
                <a:solidFill>
                  <a:srgbClr val="151616"/>
                </a:solidFill>
                <a:latin typeface="Times New Roman"/>
                <a:cs typeface="Times New Roman"/>
              </a:rPr>
              <a:t>i</a:t>
            </a:r>
            <a:r>
              <a:rPr dirty="0" sz="1850" spc="-55">
                <a:solidFill>
                  <a:srgbClr val="313133"/>
                </a:solidFill>
                <a:latin typeface="Times New Roman"/>
                <a:cs typeface="Times New Roman"/>
              </a:rPr>
              <a:t>c,</a:t>
            </a:r>
            <a:r>
              <a:rPr dirty="0" sz="1850" spc="-100">
                <a:solidFill>
                  <a:srgbClr val="313133"/>
                </a:solidFill>
                <a:latin typeface="Times New Roman"/>
                <a:cs typeface="Times New Roman"/>
              </a:rPr>
              <a:t> </a:t>
            </a:r>
            <a:r>
              <a:rPr dirty="0" sz="1850" spc="-20">
                <a:solidFill>
                  <a:srgbClr val="313133"/>
                </a:solidFill>
                <a:latin typeface="Times New Roman"/>
                <a:cs typeface="Times New Roman"/>
              </a:rPr>
              <a:t>Fl</a:t>
            </a:r>
            <a:r>
              <a:rPr dirty="0" sz="1850" spc="-20">
                <a:solidFill>
                  <a:srgbClr val="151616"/>
                </a:solidFill>
                <a:latin typeface="Times New Roman"/>
                <a:cs typeface="Times New Roman"/>
              </a:rPr>
              <a:t>u</a:t>
            </a:r>
            <a:r>
              <a:rPr dirty="0" sz="1850" spc="-20">
                <a:solidFill>
                  <a:srgbClr val="313133"/>
                </a:solidFill>
                <a:latin typeface="Times New Roman"/>
                <a:cs typeface="Times New Roman"/>
              </a:rPr>
              <a:t>x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749639" y="6064250"/>
            <a:ext cx="6743065" cy="211455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32105" indent="-319405">
              <a:lnSpc>
                <a:spcPts val="3340"/>
              </a:lnSpc>
              <a:spcBef>
                <a:spcPts val="115"/>
              </a:spcBef>
              <a:buChar char="•"/>
              <a:tabLst>
                <a:tab pos="332105" algn="l"/>
              </a:tabLst>
            </a:pPr>
            <a:r>
              <a:rPr dirty="0" sz="2800" spc="-75">
                <a:solidFill>
                  <a:srgbClr val="151616"/>
                </a:solidFill>
                <a:latin typeface="Times New Roman"/>
                <a:cs typeface="Times New Roman"/>
              </a:rPr>
              <a:t>Motivation</a:t>
            </a:r>
            <a:r>
              <a:rPr dirty="0" sz="2800" spc="-50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130">
                <a:solidFill>
                  <a:srgbClr val="151616"/>
                </a:solidFill>
                <a:latin typeface="Times New Roman"/>
                <a:cs typeface="Times New Roman"/>
              </a:rPr>
              <a:t>viewed</a:t>
            </a:r>
            <a:r>
              <a:rPr dirty="0" sz="2800" spc="-135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151616"/>
                </a:solidFill>
                <a:latin typeface="Times New Roman"/>
                <a:cs typeface="Times New Roman"/>
              </a:rPr>
              <a:t>as</a:t>
            </a:r>
            <a:r>
              <a:rPr dirty="0" sz="2800" spc="-254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151616"/>
                </a:solidFill>
                <a:latin typeface="Times New Roman"/>
                <a:cs typeface="Times New Roman"/>
              </a:rPr>
              <a:t>a</a:t>
            </a:r>
            <a:r>
              <a:rPr dirty="0" sz="2800" spc="-275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55">
                <a:solidFill>
                  <a:srgbClr val="151616"/>
                </a:solidFill>
                <a:latin typeface="Times New Roman"/>
                <a:cs typeface="Times New Roman"/>
              </a:rPr>
              <a:t>dynamic,</a:t>
            </a:r>
            <a:r>
              <a:rPr dirty="0" sz="2800" spc="45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95">
                <a:solidFill>
                  <a:srgbClr val="151616"/>
                </a:solidFill>
                <a:latin typeface="Times New Roman"/>
                <a:cs typeface="Times New Roman"/>
              </a:rPr>
              <a:t>unstable </a:t>
            </a:r>
            <a:r>
              <a:rPr dirty="0" sz="2800" spc="-10">
                <a:solidFill>
                  <a:srgbClr val="151616"/>
                </a:solidFill>
                <a:latin typeface="Times New Roman"/>
                <a:cs typeface="Times New Roman"/>
              </a:rPr>
              <a:t>state</a:t>
            </a:r>
            <a:r>
              <a:rPr dirty="0" sz="2800" spc="-10">
                <a:solidFill>
                  <a:srgbClr val="313133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323215" marR="515620" indent="-311150">
              <a:lnSpc>
                <a:spcPts val="3220"/>
              </a:lnSpc>
              <a:spcBef>
                <a:spcPts val="200"/>
              </a:spcBef>
              <a:buChar char="•"/>
              <a:tabLst>
                <a:tab pos="323215" algn="l"/>
                <a:tab pos="331470" algn="l"/>
              </a:tabLst>
            </a:pPr>
            <a:r>
              <a:rPr dirty="0" sz="2800">
                <a:solidFill>
                  <a:srgbClr val="151616"/>
                </a:solidFill>
                <a:latin typeface="Times New Roman"/>
                <a:cs typeface="Times New Roman"/>
              </a:rPr>
              <a:t>	</a:t>
            </a:r>
            <a:r>
              <a:rPr dirty="0" sz="2800" spc="-125">
                <a:solidFill>
                  <a:srgbClr val="151616"/>
                </a:solidFill>
                <a:latin typeface="Times New Roman"/>
                <a:cs typeface="Times New Roman"/>
              </a:rPr>
              <a:t>Relapse</a:t>
            </a:r>
            <a:r>
              <a:rPr dirty="0" sz="2800" spc="-90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40">
                <a:solidFill>
                  <a:srgbClr val="151616"/>
                </a:solidFill>
                <a:latin typeface="Times New Roman"/>
                <a:cs typeface="Times New Roman"/>
              </a:rPr>
              <a:t>interpreted</a:t>
            </a:r>
            <a:r>
              <a:rPr dirty="0" sz="2800" spc="50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55">
                <a:solidFill>
                  <a:srgbClr val="151616"/>
                </a:solidFill>
                <a:latin typeface="Times New Roman"/>
                <a:cs typeface="Times New Roman"/>
              </a:rPr>
              <a:t>as</a:t>
            </a:r>
            <a:r>
              <a:rPr dirty="0" sz="2800" spc="-240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151616"/>
                </a:solidFill>
                <a:latin typeface="Times New Roman"/>
                <a:cs typeface="Times New Roman"/>
              </a:rPr>
              <a:t>a</a:t>
            </a:r>
            <a:r>
              <a:rPr dirty="0" sz="2800" spc="-220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105">
                <a:solidFill>
                  <a:srgbClr val="151616"/>
                </a:solidFill>
                <a:latin typeface="Times New Roman"/>
                <a:cs typeface="Times New Roman"/>
              </a:rPr>
              <a:t>systemic</a:t>
            </a:r>
            <a:r>
              <a:rPr dirty="0" sz="2800" spc="-65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110">
                <a:solidFill>
                  <a:srgbClr val="151616"/>
                </a:solidFill>
                <a:latin typeface="Times New Roman"/>
                <a:cs typeface="Times New Roman"/>
              </a:rPr>
              <a:t>collapse</a:t>
            </a:r>
            <a:r>
              <a:rPr dirty="0" sz="2800" spc="-40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25">
                <a:solidFill>
                  <a:srgbClr val="151616"/>
                </a:solidFill>
                <a:latin typeface="Times New Roman"/>
                <a:cs typeface="Times New Roman"/>
              </a:rPr>
              <a:t>of </a:t>
            </a:r>
            <a:r>
              <a:rPr dirty="0" sz="2800" spc="-35">
                <a:solidFill>
                  <a:srgbClr val="313133"/>
                </a:solidFill>
                <a:latin typeface="Times New Roman"/>
                <a:cs typeface="Times New Roman"/>
              </a:rPr>
              <a:t>'</a:t>
            </a:r>
            <a:r>
              <a:rPr dirty="0" sz="2800" spc="-35">
                <a:solidFill>
                  <a:srgbClr val="151616"/>
                </a:solidFill>
                <a:latin typeface="Times New Roman"/>
                <a:cs typeface="Times New Roman"/>
              </a:rPr>
              <a:t>Fluctuating</a:t>
            </a:r>
            <a:r>
              <a:rPr dirty="0" sz="2800" spc="-215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151616"/>
                </a:solidFill>
                <a:latin typeface="Times New Roman"/>
                <a:cs typeface="Times New Roman"/>
              </a:rPr>
              <a:t>Readiness</a:t>
            </a:r>
            <a:r>
              <a:rPr dirty="0" sz="2800" spc="-10">
                <a:solidFill>
                  <a:srgbClr val="313133"/>
                </a:solidFill>
                <a:latin typeface="Times New Roman"/>
                <a:cs typeface="Times New Roman"/>
              </a:rPr>
              <a:t>'</a:t>
            </a:r>
            <a:r>
              <a:rPr dirty="0" sz="2800" spc="-10">
                <a:solidFill>
                  <a:srgbClr val="151616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324485" marR="407034" indent="-312420">
              <a:lnSpc>
                <a:spcPts val="3220"/>
              </a:lnSpc>
              <a:spcBef>
                <a:spcPts val="95"/>
              </a:spcBef>
              <a:buChar char="•"/>
              <a:tabLst>
                <a:tab pos="324485" algn="l"/>
                <a:tab pos="331470" algn="l"/>
              </a:tabLst>
            </a:pPr>
            <a:r>
              <a:rPr dirty="0" sz="2800">
                <a:solidFill>
                  <a:srgbClr val="151616"/>
                </a:solidFill>
                <a:latin typeface="Times New Roman"/>
                <a:cs typeface="Times New Roman"/>
              </a:rPr>
              <a:t>	</a:t>
            </a:r>
            <a:r>
              <a:rPr dirty="0" sz="2800" spc="-75">
                <a:solidFill>
                  <a:srgbClr val="151616"/>
                </a:solidFill>
                <a:latin typeface="Times New Roman"/>
                <a:cs typeface="Times New Roman"/>
              </a:rPr>
              <a:t>Rooted</a:t>
            </a:r>
            <a:r>
              <a:rPr dirty="0" sz="2800" spc="-10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151616"/>
                </a:solidFill>
                <a:latin typeface="Times New Roman"/>
                <a:cs typeface="Times New Roman"/>
              </a:rPr>
              <a:t>in</a:t>
            </a:r>
            <a:r>
              <a:rPr dirty="0" sz="2800" spc="-60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70">
                <a:solidFill>
                  <a:srgbClr val="151616"/>
                </a:solidFill>
                <a:latin typeface="Times New Roman"/>
                <a:cs typeface="Times New Roman"/>
              </a:rPr>
              <a:t>neurobiological</a:t>
            </a:r>
            <a:r>
              <a:rPr dirty="0" sz="2800" spc="-325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75">
                <a:solidFill>
                  <a:srgbClr val="151616"/>
                </a:solidFill>
                <a:latin typeface="Times New Roman"/>
                <a:cs typeface="Times New Roman"/>
              </a:rPr>
              <a:t>d</a:t>
            </a:r>
            <a:r>
              <a:rPr dirty="0" sz="2800" spc="-75">
                <a:solidFill>
                  <a:srgbClr val="313133"/>
                </a:solidFill>
                <a:latin typeface="Times New Roman"/>
                <a:cs typeface="Times New Roman"/>
              </a:rPr>
              <a:t>y</a:t>
            </a:r>
            <a:r>
              <a:rPr dirty="0" sz="2800" spc="-75">
                <a:solidFill>
                  <a:srgbClr val="151616"/>
                </a:solidFill>
                <a:latin typeface="Times New Roman"/>
                <a:cs typeface="Times New Roman"/>
              </a:rPr>
              <a:t>sregulation</a:t>
            </a:r>
            <a:r>
              <a:rPr dirty="0" sz="2800" spc="-140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25">
                <a:solidFill>
                  <a:srgbClr val="151616"/>
                </a:solidFill>
                <a:latin typeface="Times New Roman"/>
                <a:cs typeface="Times New Roman"/>
              </a:rPr>
              <a:t>and </a:t>
            </a:r>
            <a:r>
              <a:rPr dirty="0" sz="2800" spc="-55">
                <a:solidFill>
                  <a:srgbClr val="151616"/>
                </a:solidFill>
                <a:latin typeface="Times New Roman"/>
                <a:cs typeface="Times New Roman"/>
              </a:rPr>
              <a:t>environmental</a:t>
            </a:r>
            <a:r>
              <a:rPr dirty="0" sz="2800" spc="-80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151616"/>
                </a:solidFill>
                <a:latin typeface="Times New Roman"/>
                <a:cs typeface="Times New Roman"/>
              </a:rPr>
              <a:t>pressure.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88555" y="8438753"/>
            <a:ext cx="13368019" cy="878205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2651760" marR="5080" indent="-2639695">
              <a:lnSpc>
                <a:spcPts val="3220"/>
              </a:lnSpc>
              <a:spcBef>
                <a:spcPts val="439"/>
              </a:spcBef>
            </a:pPr>
            <a:r>
              <a:rPr dirty="0" sz="2900" spc="-110" i="1">
                <a:solidFill>
                  <a:srgbClr val="151616"/>
                </a:solidFill>
                <a:latin typeface="Times New Roman"/>
                <a:cs typeface="Times New Roman"/>
              </a:rPr>
              <a:t>The</a:t>
            </a:r>
            <a:r>
              <a:rPr dirty="0" sz="2900" spc="-204" i="1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900" spc="-220" i="1">
                <a:solidFill>
                  <a:srgbClr val="151616"/>
                </a:solidFill>
                <a:latin typeface="Times New Roman"/>
                <a:cs typeface="Times New Roman"/>
              </a:rPr>
              <a:t>challenge</a:t>
            </a:r>
            <a:r>
              <a:rPr dirty="0" sz="2900" spc="-85" i="1">
                <a:solidFill>
                  <a:srgbClr val="151616"/>
                </a:solidFill>
                <a:latin typeface="Times New Roman"/>
                <a:cs typeface="Times New Roman"/>
              </a:rPr>
              <a:t> is</a:t>
            </a:r>
            <a:r>
              <a:rPr dirty="0" sz="2900" spc="-170" i="1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900" spc="-110" i="1">
                <a:solidFill>
                  <a:srgbClr val="151616"/>
                </a:solidFill>
                <a:latin typeface="Times New Roman"/>
                <a:cs typeface="Times New Roman"/>
              </a:rPr>
              <a:t>not</a:t>
            </a:r>
            <a:r>
              <a:rPr dirty="0" sz="2900" spc="-175" i="1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900" spc="-195" i="1">
                <a:solidFill>
                  <a:srgbClr val="151616"/>
                </a:solidFill>
                <a:latin typeface="Times New Roman"/>
                <a:cs typeface="Times New Roman"/>
              </a:rPr>
              <a:t>merely</a:t>
            </a:r>
            <a:r>
              <a:rPr dirty="0" sz="2900" spc="-114" i="1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900" spc="-215" i="1">
                <a:solidFill>
                  <a:srgbClr val="151616"/>
                </a:solidFill>
                <a:latin typeface="Times New Roman"/>
                <a:cs typeface="Times New Roman"/>
              </a:rPr>
              <a:t>behavioral</a:t>
            </a:r>
            <a:r>
              <a:rPr dirty="0" sz="2900" spc="65" i="1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900" spc="-175" i="1">
                <a:solidFill>
                  <a:srgbClr val="151616"/>
                </a:solidFill>
                <a:latin typeface="Times New Roman"/>
                <a:cs typeface="Times New Roman"/>
              </a:rPr>
              <a:t>inconsistency;</a:t>
            </a:r>
            <a:r>
              <a:rPr dirty="0" sz="2900" spc="-360" i="1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900" i="1">
                <a:solidFill>
                  <a:srgbClr val="151616"/>
                </a:solidFill>
                <a:latin typeface="Times New Roman"/>
                <a:cs typeface="Times New Roman"/>
              </a:rPr>
              <a:t>it</a:t>
            </a:r>
            <a:r>
              <a:rPr dirty="0" sz="2900" spc="-245" i="1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900" spc="-85" i="1">
                <a:solidFill>
                  <a:srgbClr val="151616"/>
                </a:solidFill>
                <a:latin typeface="Times New Roman"/>
                <a:cs typeface="Times New Roman"/>
              </a:rPr>
              <a:t>is</a:t>
            </a:r>
            <a:r>
              <a:rPr dirty="0" sz="2900" spc="-235" i="1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900" spc="-95" i="1">
                <a:solidFill>
                  <a:srgbClr val="151616"/>
                </a:solidFill>
                <a:latin typeface="Times New Roman"/>
                <a:cs typeface="Times New Roman"/>
              </a:rPr>
              <a:t>the</a:t>
            </a:r>
            <a:r>
              <a:rPr dirty="0" sz="2900" spc="-315" i="1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900" spc="-160" i="1">
                <a:solidFill>
                  <a:srgbClr val="151616"/>
                </a:solidFill>
                <a:latin typeface="Times New Roman"/>
                <a:cs typeface="Times New Roman"/>
              </a:rPr>
              <a:t>interplay</a:t>
            </a:r>
            <a:r>
              <a:rPr dirty="0" sz="2900" spc="-95" i="1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900" spc="-165" i="1">
                <a:solidFill>
                  <a:srgbClr val="151616"/>
                </a:solidFill>
                <a:latin typeface="Times New Roman"/>
                <a:cs typeface="Times New Roman"/>
              </a:rPr>
              <a:t>of</a:t>
            </a:r>
            <a:r>
              <a:rPr dirty="0" sz="2900" spc="25" i="1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900" spc="-210" i="1">
                <a:solidFill>
                  <a:srgbClr val="151616"/>
                </a:solidFill>
                <a:latin typeface="Times New Roman"/>
                <a:cs typeface="Times New Roman"/>
              </a:rPr>
              <a:t>neurobiological</a:t>
            </a:r>
            <a:r>
              <a:rPr dirty="0" sz="2900" spc="-110" i="1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900" spc="-120" i="1">
                <a:solidFill>
                  <a:srgbClr val="151616"/>
                </a:solidFill>
                <a:latin typeface="Times New Roman"/>
                <a:cs typeface="Times New Roman"/>
              </a:rPr>
              <a:t>dysregulation,</a:t>
            </a:r>
            <a:r>
              <a:rPr dirty="0" sz="2900" spc="-120" i="1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900" spc="-245" i="1">
                <a:solidFill>
                  <a:srgbClr val="151616"/>
                </a:solidFill>
                <a:latin typeface="Times New Roman"/>
                <a:cs typeface="Times New Roman"/>
              </a:rPr>
              <a:t>psychological</a:t>
            </a:r>
            <a:r>
              <a:rPr dirty="0" sz="2900" spc="145" i="1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900" spc="-185" i="1">
                <a:solidFill>
                  <a:srgbClr val="151616"/>
                </a:solidFill>
                <a:latin typeface="Times New Roman"/>
                <a:cs typeface="Times New Roman"/>
              </a:rPr>
              <a:t>ambivalence,</a:t>
            </a:r>
            <a:r>
              <a:rPr dirty="0" sz="2900" spc="25" i="1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900" spc="-195" i="1">
                <a:solidFill>
                  <a:srgbClr val="151616"/>
                </a:solidFill>
                <a:latin typeface="Times New Roman"/>
                <a:cs typeface="Times New Roman"/>
              </a:rPr>
              <a:t>and</a:t>
            </a:r>
            <a:r>
              <a:rPr dirty="0" sz="2900" spc="60" i="1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900" spc="-155" i="1">
                <a:solidFill>
                  <a:srgbClr val="151616"/>
                </a:solidFill>
                <a:latin typeface="Times New Roman"/>
                <a:cs typeface="Times New Roman"/>
              </a:rPr>
              <a:t>socio</a:t>
            </a:r>
            <a:r>
              <a:rPr dirty="0" sz="2900" spc="-155" i="1">
                <a:solidFill>
                  <a:srgbClr val="313133"/>
                </a:solidFill>
                <a:latin typeface="Times New Roman"/>
                <a:cs typeface="Times New Roman"/>
              </a:rPr>
              <a:t>-</a:t>
            </a:r>
            <a:r>
              <a:rPr dirty="0" sz="2900" spc="-170" i="1">
                <a:solidFill>
                  <a:srgbClr val="151616"/>
                </a:solidFill>
                <a:latin typeface="Times New Roman"/>
                <a:cs typeface="Times New Roman"/>
              </a:rPr>
              <a:t>environmental</a:t>
            </a:r>
            <a:r>
              <a:rPr dirty="0" sz="2900" spc="-245" i="1">
                <a:solidFill>
                  <a:srgbClr val="151616"/>
                </a:solidFill>
                <a:latin typeface="Times New Roman"/>
                <a:cs typeface="Times New Roman"/>
              </a:rPr>
              <a:t> </a:t>
            </a:r>
            <a:r>
              <a:rPr dirty="0" sz="2900" spc="-90" i="1">
                <a:solidFill>
                  <a:srgbClr val="151616"/>
                </a:solidFill>
                <a:latin typeface="Times New Roman"/>
                <a:cs typeface="Times New Roman"/>
              </a:rPr>
              <a:t>pressures.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7936" y="6587595"/>
            <a:ext cx="407581" cy="8680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69521" y="2859881"/>
            <a:ext cx="9119633" cy="523411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463835" y="2936477"/>
            <a:ext cx="0" cy="5643245"/>
          </a:xfrm>
          <a:custGeom>
            <a:avLst/>
            <a:gdLst/>
            <a:ahLst/>
            <a:cxnLst/>
            <a:rect l="l" t="t" r="r" b="b"/>
            <a:pathLst>
              <a:path w="0" h="5643245">
                <a:moveTo>
                  <a:pt x="0" y="5642634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36845" y="2068379"/>
            <a:ext cx="16252825" cy="0"/>
          </a:xfrm>
          <a:custGeom>
            <a:avLst/>
            <a:gdLst/>
            <a:ahLst/>
            <a:cxnLst/>
            <a:rect l="l" t="t" r="r" b="b"/>
            <a:pathLst>
              <a:path w="16252825" h="0">
                <a:moveTo>
                  <a:pt x="0" y="0"/>
                </a:moveTo>
                <a:lnTo>
                  <a:pt x="16252309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438360" y="8540813"/>
            <a:ext cx="7005320" cy="0"/>
          </a:xfrm>
          <a:custGeom>
            <a:avLst/>
            <a:gdLst/>
            <a:ahLst/>
            <a:cxnLst/>
            <a:rect l="l" t="t" r="r" b="b"/>
            <a:pathLst>
              <a:path w="7005319" h="0">
                <a:moveTo>
                  <a:pt x="0" y="0"/>
                </a:moveTo>
                <a:lnTo>
                  <a:pt x="7005305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21331" y="338633"/>
            <a:ext cx="12557760" cy="16294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6295"/>
              </a:lnSpc>
              <a:spcBef>
                <a:spcPts val="125"/>
              </a:spcBef>
            </a:pPr>
            <a:r>
              <a:rPr dirty="0" sz="5550" spc="-110" b="1">
                <a:solidFill>
                  <a:srgbClr val="0F1111"/>
                </a:solidFill>
                <a:latin typeface="Arial"/>
                <a:cs typeface="Arial"/>
              </a:rPr>
              <a:t>The</a:t>
            </a:r>
            <a:r>
              <a:rPr dirty="0" sz="5550" spc="-290" b="1">
                <a:solidFill>
                  <a:srgbClr val="0F1111"/>
                </a:solidFill>
                <a:latin typeface="Arial"/>
                <a:cs typeface="Arial"/>
              </a:rPr>
              <a:t> </a:t>
            </a:r>
            <a:r>
              <a:rPr dirty="0" sz="5550" spc="-135" b="1">
                <a:solidFill>
                  <a:srgbClr val="0F1111"/>
                </a:solidFill>
                <a:latin typeface="Arial"/>
                <a:cs typeface="Arial"/>
              </a:rPr>
              <a:t>Architecture</a:t>
            </a:r>
            <a:r>
              <a:rPr dirty="0" sz="5550" spc="-245" b="1">
                <a:solidFill>
                  <a:srgbClr val="0F1111"/>
                </a:solidFill>
                <a:latin typeface="Arial"/>
                <a:cs typeface="Arial"/>
              </a:rPr>
              <a:t> </a:t>
            </a:r>
            <a:r>
              <a:rPr dirty="0" sz="5550" b="1">
                <a:solidFill>
                  <a:srgbClr val="0F1111"/>
                </a:solidFill>
                <a:latin typeface="Arial"/>
                <a:cs typeface="Arial"/>
              </a:rPr>
              <a:t>of</a:t>
            </a:r>
            <a:r>
              <a:rPr dirty="0" sz="5550" spc="-270" b="1">
                <a:solidFill>
                  <a:srgbClr val="0F1111"/>
                </a:solidFill>
                <a:latin typeface="Arial"/>
                <a:cs typeface="Arial"/>
              </a:rPr>
              <a:t> </a:t>
            </a:r>
            <a:r>
              <a:rPr dirty="0" sz="5550" spc="-90" b="1">
                <a:solidFill>
                  <a:srgbClr val="0F1111"/>
                </a:solidFill>
                <a:latin typeface="Arial"/>
                <a:cs typeface="Arial"/>
              </a:rPr>
              <a:t>Ambivalence:</a:t>
            </a:r>
            <a:endParaRPr sz="5550">
              <a:latin typeface="Arial"/>
              <a:cs typeface="Arial"/>
            </a:endParaRPr>
          </a:p>
          <a:p>
            <a:pPr marL="12700">
              <a:lnSpc>
                <a:spcPts val="6295"/>
              </a:lnSpc>
            </a:pPr>
            <a:r>
              <a:rPr dirty="0" sz="5550" spc="-60" b="1">
                <a:solidFill>
                  <a:srgbClr val="0F1111"/>
                </a:solidFill>
                <a:latin typeface="Arial"/>
                <a:cs typeface="Arial"/>
              </a:rPr>
              <a:t>The</a:t>
            </a:r>
            <a:r>
              <a:rPr dirty="0" sz="5550" spc="-325" b="1">
                <a:solidFill>
                  <a:srgbClr val="0F1111"/>
                </a:solidFill>
                <a:latin typeface="Arial"/>
                <a:cs typeface="Arial"/>
              </a:rPr>
              <a:t> </a:t>
            </a:r>
            <a:r>
              <a:rPr dirty="0" sz="5550" spc="-125" b="1">
                <a:solidFill>
                  <a:srgbClr val="0F1111"/>
                </a:solidFill>
                <a:latin typeface="Arial"/>
                <a:cs typeface="Arial"/>
              </a:rPr>
              <a:t>Dissociation</a:t>
            </a:r>
            <a:r>
              <a:rPr dirty="0" sz="5550" spc="-260" b="1">
                <a:solidFill>
                  <a:srgbClr val="0F1111"/>
                </a:solidFill>
                <a:latin typeface="Arial"/>
                <a:cs typeface="Arial"/>
              </a:rPr>
              <a:t> </a:t>
            </a:r>
            <a:r>
              <a:rPr dirty="0" sz="5550" spc="-90" b="1">
                <a:solidFill>
                  <a:srgbClr val="0F1111"/>
                </a:solidFill>
                <a:latin typeface="Arial"/>
                <a:cs typeface="Arial"/>
              </a:rPr>
              <a:t>of</a:t>
            </a:r>
            <a:r>
              <a:rPr dirty="0" sz="5550" spc="-295" b="1">
                <a:solidFill>
                  <a:srgbClr val="0F1111"/>
                </a:solidFill>
                <a:latin typeface="Arial"/>
                <a:cs typeface="Arial"/>
              </a:rPr>
              <a:t> </a:t>
            </a:r>
            <a:r>
              <a:rPr dirty="0" sz="5550" spc="-160" b="1">
                <a:solidFill>
                  <a:srgbClr val="0F1111"/>
                </a:solidFill>
                <a:latin typeface="Arial"/>
                <a:cs typeface="Arial"/>
              </a:rPr>
              <a:t>Wanting</a:t>
            </a:r>
            <a:r>
              <a:rPr dirty="0" sz="5550" spc="-180" b="1">
                <a:solidFill>
                  <a:srgbClr val="0F1111"/>
                </a:solidFill>
                <a:latin typeface="Arial"/>
                <a:cs typeface="Arial"/>
              </a:rPr>
              <a:t> </a:t>
            </a:r>
            <a:r>
              <a:rPr dirty="0" sz="5550" spc="-130" b="1">
                <a:solidFill>
                  <a:srgbClr val="0F1111"/>
                </a:solidFill>
                <a:latin typeface="Arial"/>
                <a:cs typeface="Arial"/>
              </a:rPr>
              <a:t>and</a:t>
            </a:r>
            <a:r>
              <a:rPr dirty="0" sz="5550" spc="-254" b="1">
                <a:solidFill>
                  <a:srgbClr val="0F1111"/>
                </a:solidFill>
                <a:latin typeface="Arial"/>
                <a:cs typeface="Arial"/>
              </a:rPr>
              <a:t> </a:t>
            </a:r>
            <a:r>
              <a:rPr dirty="0" sz="5550" spc="-80" b="1">
                <a:solidFill>
                  <a:srgbClr val="0F1111"/>
                </a:solidFill>
                <a:latin typeface="Arial"/>
                <a:cs typeface="Arial"/>
              </a:rPr>
              <a:t>Liking</a:t>
            </a:r>
            <a:endParaRPr sz="555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33434"/>
                </a:solidFill>
              </a:rPr>
              <a:t>Isl\</a:t>
            </a:r>
            <a:r>
              <a:rPr dirty="0" sz="1300" spc="-45">
                <a:solidFill>
                  <a:srgbClr val="333434"/>
                </a:solidFill>
              </a:rPr>
              <a:t> </a:t>
            </a:r>
            <a:r>
              <a:rPr dirty="0" spc="-10">
                <a:solidFill>
                  <a:srgbClr val="1C1C1C"/>
                </a:solidFill>
              </a:rPr>
              <a:t>NotebookLM</a:t>
            </a:r>
            <a:endParaRPr sz="1300"/>
          </a:p>
        </p:txBody>
      </p:sp>
      <p:sp>
        <p:nvSpPr>
          <p:cNvPr id="8" name="object 8"/>
          <p:cNvSpPr txBox="1"/>
          <p:nvPr/>
        </p:nvSpPr>
        <p:spPr>
          <a:xfrm>
            <a:off x="622273" y="2579091"/>
            <a:ext cx="5665470" cy="181546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7305">
              <a:lnSpc>
                <a:spcPts val="3850"/>
              </a:lnSpc>
              <a:spcBef>
                <a:spcPts val="114"/>
              </a:spcBef>
            </a:pPr>
            <a:r>
              <a:rPr dirty="0" sz="3400" spc="-90" b="1">
                <a:solidFill>
                  <a:srgbClr val="0F1111"/>
                </a:solidFill>
                <a:latin typeface="Arial"/>
                <a:cs typeface="Arial"/>
              </a:rPr>
              <a:t>Ambivalence</a:t>
            </a:r>
            <a:endParaRPr sz="3400">
              <a:latin typeface="Arial"/>
              <a:cs typeface="Arial"/>
            </a:endParaRPr>
          </a:p>
          <a:p>
            <a:pPr marL="12700" marR="5080" indent="19685">
              <a:lnSpc>
                <a:spcPct val="90500"/>
              </a:lnSpc>
              <a:spcBef>
                <a:spcPts val="125"/>
              </a:spcBef>
            </a:pPr>
            <a:r>
              <a:rPr dirty="0" sz="3100" spc="-210">
                <a:solidFill>
                  <a:srgbClr val="0F1111"/>
                </a:solidFill>
                <a:latin typeface="Times New Roman"/>
                <a:cs typeface="Times New Roman"/>
              </a:rPr>
              <a:t>Not</a:t>
            </a:r>
            <a:r>
              <a:rPr dirty="0" sz="3100" spc="-25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95">
                <a:solidFill>
                  <a:srgbClr val="0F1111"/>
                </a:solidFill>
                <a:latin typeface="Times New Roman"/>
                <a:cs typeface="Times New Roman"/>
              </a:rPr>
              <a:t>merely</a:t>
            </a:r>
            <a:r>
              <a:rPr dirty="0" sz="3100" spc="-18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45">
                <a:solidFill>
                  <a:srgbClr val="0F1111"/>
                </a:solidFill>
                <a:latin typeface="Times New Roman"/>
                <a:cs typeface="Times New Roman"/>
              </a:rPr>
              <a:t>indecision,</a:t>
            </a:r>
            <a:r>
              <a:rPr dirty="0" sz="3100" spc="-155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90">
                <a:solidFill>
                  <a:srgbClr val="0F1111"/>
                </a:solidFill>
                <a:latin typeface="Times New Roman"/>
                <a:cs typeface="Times New Roman"/>
              </a:rPr>
              <a:t>but</a:t>
            </a:r>
            <a:r>
              <a:rPr dirty="0" sz="3100" spc="-37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75">
                <a:solidFill>
                  <a:srgbClr val="0F1111"/>
                </a:solidFill>
                <a:latin typeface="Times New Roman"/>
                <a:cs typeface="Times New Roman"/>
              </a:rPr>
              <a:t>"Decisional </a:t>
            </a:r>
            <a:r>
              <a:rPr dirty="0" sz="3100" spc="-105">
                <a:solidFill>
                  <a:srgbClr val="0F1111"/>
                </a:solidFill>
                <a:latin typeface="Times New Roman"/>
                <a:cs typeface="Times New Roman"/>
              </a:rPr>
              <a:t>Conflict''-</a:t>
            </a:r>
            <a:r>
              <a:rPr dirty="0" sz="3100" spc="320">
                <a:solidFill>
                  <a:srgbClr val="0F1111"/>
                </a:solidFill>
                <a:latin typeface="Times New Roman"/>
                <a:cs typeface="Times New Roman"/>
              </a:rPr>
              <a:t>the</a:t>
            </a:r>
            <a:r>
              <a:rPr dirty="0" sz="3100" spc="-33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55">
                <a:solidFill>
                  <a:srgbClr val="0F1111"/>
                </a:solidFill>
                <a:latin typeface="Times New Roman"/>
                <a:cs typeface="Times New Roman"/>
              </a:rPr>
              <a:t>simultaneous</a:t>
            </a:r>
            <a:r>
              <a:rPr dirty="0" sz="3100" spc="11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75">
                <a:solidFill>
                  <a:srgbClr val="0F1111"/>
                </a:solidFill>
                <a:latin typeface="Times New Roman"/>
                <a:cs typeface="Times New Roman"/>
              </a:rPr>
              <a:t>presence</a:t>
            </a:r>
            <a:r>
              <a:rPr dirty="0" sz="3100" spc="-65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80">
                <a:solidFill>
                  <a:srgbClr val="0F1111"/>
                </a:solidFill>
                <a:latin typeface="Times New Roman"/>
                <a:cs typeface="Times New Roman"/>
              </a:rPr>
              <a:t>of </a:t>
            </a:r>
            <a:r>
              <a:rPr dirty="0" sz="3100" spc="-120">
                <a:solidFill>
                  <a:srgbClr val="0F1111"/>
                </a:solidFill>
                <a:latin typeface="Times New Roman"/>
                <a:cs typeface="Times New Roman"/>
              </a:rPr>
              <a:t>contradictory</a:t>
            </a:r>
            <a:r>
              <a:rPr dirty="0" sz="3100" spc="-65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0">
                <a:solidFill>
                  <a:srgbClr val="0F1111"/>
                </a:solidFill>
                <a:latin typeface="Times New Roman"/>
                <a:cs typeface="Times New Roman"/>
              </a:rPr>
              <a:t>minds.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0171" y="4736570"/>
            <a:ext cx="5745480" cy="39090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">
              <a:lnSpc>
                <a:spcPts val="3850"/>
              </a:lnSpc>
              <a:spcBef>
                <a:spcPts val="114"/>
              </a:spcBef>
            </a:pPr>
            <a:r>
              <a:rPr dirty="0" sz="3400" spc="-85" b="1">
                <a:solidFill>
                  <a:srgbClr val="0F1111"/>
                </a:solidFill>
                <a:latin typeface="Arial"/>
                <a:cs typeface="Arial"/>
              </a:rPr>
              <a:t>Mechanism</a:t>
            </a:r>
            <a:endParaRPr sz="3400">
              <a:latin typeface="Arial"/>
              <a:cs typeface="Arial"/>
            </a:endParaRPr>
          </a:p>
          <a:p>
            <a:pPr marL="30480" marR="405765" indent="3810">
              <a:lnSpc>
                <a:spcPts val="3320"/>
              </a:lnSpc>
              <a:spcBef>
                <a:spcPts val="215"/>
              </a:spcBef>
            </a:pPr>
            <a:r>
              <a:rPr dirty="0" sz="3100" spc="-195">
                <a:solidFill>
                  <a:srgbClr val="0F1111"/>
                </a:solidFill>
                <a:latin typeface="Times New Roman"/>
                <a:cs typeface="Times New Roman"/>
              </a:rPr>
              <a:t>Neural</a:t>
            </a:r>
            <a:r>
              <a:rPr dirty="0" sz="3100" spc="-10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40">
                <a:solidFill>
                  <a:srgbClr val="0F1111"/>
                </a:solidFill>
                <a:latin typeface="Times New Roman"/>
                <a:cs typeface="Times New Roman"/>
              </a:rPr>
              <a:t>circuits</a:t>
            </a:r>
            <a:r>
              <a:rPr dirty="0" sz="3100" spc="-16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40">
                <a:solidFill>
                  <a:srgbClr val="0F1111"/>
                </a:solidFill>
                <a:latin typeface="Times New Roman"/>
                <a:cs typeface="Times New Roman"/>
              </a:rPr>
              <a:t>for </a:t>
            </a:r>
            <a:r>
              <a:rPr dirty="0" sz="3100" spc="-180">
                <a:solidFill>
                  <a:srgbClr val="0F1111"/>
                </a:solidFill>
                <a:latin typeface="Times New Roman"/>
                <a:cs typeface="Times New Roman"/>
              </a:rPr>
              <a:t>craving</a:t>
            </a:r>
            <a:r>
              <a:rPr dirty="0" sz="3100" spc="-2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80">
                <a:solidFill>
                  <a:srgbClr val="0F1111"/>
                </a:solidFill>
                <a:latin typeface="Times New Roman"/>
                <a:cs typeface="Times New Roman"/>
              </a:rPr>
              <a:t>(Wanting) </a:t>
            </a:r>
            <a:r>
              <a:rPr dirty="0" sz="3100" spc="-200">
                <a:solidFill>
                  <a:srgbClr val="0F1111"/>
                </a:solidFill>
                <a:latin typeface="Times New Roman"/>
                <a:cs typeface="Times New Roman"/>
              </a:rPr>
              <a:t>become</a:t>
            </a:r>
            <a:r>
              <a:rPr dirty="0" sz="3100" spc="-125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50">
                <a:solidFill>
                  <a:srgbClr val="0F1111"/>
                </a:solidFill>
                <a:latin typeface="Times New Roman"/>
                <a:cs typeface="Times New Roman"/>
              </a:rPr>
              <a:t>hypersensitized</a:t>
            </a:r>
            <a:r>
              <a:rPr dirty="0" sz="3100" spc="-195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70">
                <a:solidFill>
                  <a:srgbClr val="0F1111"/>
                </a:solidFill>
                <a:latin typeface="Times New Roman"/>
                <a:cs typeface="Times New Roman"/>
              </a:rPr>
              <a:t>to</a:t>
            </a:r>
            <a:r>
              <a:rPr dirty="0" sz="3100" spc="-30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45">
                <a:solidFill>
                  <a:srgbClr val="0F1111"/>
                </a:solidFill>
                <a:latin typeface="Times New Roman"/>
                <a:cs typeface="Times New Roman"/>
              </a:rPr>
              <a:t>cues,</a:t>
            </a:r>
            <a:r>
              <a:rPr dirty="0" sz="3100" spc="-235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60">
                <a:solidFill>
                  <a:srgbClr val="0F1111"/>
                </a:solidFill>
                <a:latin typeface="Times New Roman"/>
                <a:cs typeface="Times New Roman"/>
              </a:rPr>
              <a:t>while </a:t>
            </a:r>
            <a:r>
              <a:rPr dirty="0" sz="3100" spc="-165">
                <a:solidFill>
                  <a:srgbClr val="0F1111"/>
                </a:solidFill>
                <a:latin typeface="Times New Roman"/>
                <a:cs typeface="Times New Roman"/>
              </a:rPr>
              <a:t>pleasure</a:t>
            </a:r>
            <a:r>
              <a:rPr dirty="0" sz="3100" spc="-12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50">
                <a:solidFill>
                  <a:srgbClr val="0F1111"/>
                </a:solidFill>
                <a:latin typeface="Times New Roman"/>
                <a:cs typeface="Times New Roman"/>
              </a:rPr>
              <a:t>circuits</a:t>
            </a:r>
            <a:r>
              <a:rPr dirty="0" sz="3100" spc="-6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204">
                <a:solidFill>
                  <a:srgbClr val="0F1111"/>
                </a:solidFill>
                <a:latin typeface="Times New Roman"/>
                <a:cs typeface="Times New Roman"/>
              </a:rPr>
              <a:t>(Liking)</a:t>
            </a:r>
            <a:r>
              <a:rPr dirty="0" sz="3100" spc="4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75">
                <a:solidFill>
                  <a:srgbClr val="0F1111"/>
                </a:solidFill>
                <a:latin typeface="Times New Roman"/>
                <a:cs typeface="Times New Roman"/>
              </a:rPr>
              <a:t>desensitize.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ts val="3850"/>
              </a:lnSpc>
              <a:spcBef>
                <a:spcPts val="2565"/>
              </a:spcBef>
            </a:pPr>
            <a:r>
              <a:rPr dirty="0" sz="3400" spc="-55" b="1">
                <a:solidFill>
                  <a:srgbClr val="0F1111"/>
                </a:solidFill>
                <a:latin typeface="Arial"/>
                <a:cs typeface="Arial"/>
              </a:rPr>
              <a:t>Implication</a:t>
            </a:r>
            <a:endParaRPr sz="3400">
              <a:latin typeface="Arial"/>
              <a:cs typeface="Arial"/>
            </a:endParaRPr>
          </a:p>
          <a:p>
            <a:pPr marL="25400" marR="5080" indent="635">
              <a:lnSpc>
                <a:spcPts val="3320"/>
              </a:lnSpc>
              <a:spcBef>
                <a:spcPts val="210"/>
              </a:spcBef>
            </a:pPr>
            <a:r>
              <a:rPr dirty="0" sz="3100" spc="-340">
                <a:solidFill>
                  <a:srgbClr val="0F1111"/>
                </a:solidFill>
                <a:latin typeface="Times New Roman"/>
                <a:cs typeface="Times New Roman"/>
              </a:rPr>
              <a:t>A</a:t>
            </a:r>
            <a:r>
              <a:rPr dirty="0" sz="3100" spc="-215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30">
                <a:solidFill>
                  <a:srgbClr val="0F1111"/>
                </a:solidFill>
                <a:latin typeface="Times New Roman"/>
                <a:cs typeface="Times New Roman"/>
              </a:rPr>
              <a:t>patient</a:t>
            </a:r>
            <a:r>
              <a:rPr dirty="0" sz="3100" spc="-4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60">
                <a:solidFill>
                  <a:srgbClr val="0F1111"/>
                </a:solidFill>
                <a:latin typeface="Times New Roman"/>
                <a:cs typeface="Times New Roman"/>
              </a:rPr>
              <a:t>can</a:t>
            </a:r>
            <a:r>
              <a:rPr dirty="0" sz="3100" spc="-155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10">
                <a:solidFill>
                  <a:srgbClr val="0F1111"/>
                </a:solidFill>
                <a:latin typeface="Times New Roman"/>
                <a:cs typeface="Times New Roman"/>
              </a:rPr>
              <a:t>be</a:t>
            </a:r>
            <a:r>
              <a:rPr dirty="0" sz="3100" spc="-29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85">
                <a:solidFill>
                  <a:srgbClr val="0F1111"/>
                </a:solidFill>
                <a:latin typeface="Times New Roman"/>
                <a:cs typeface="Times New Roman"/>
              </a:rPr>
              <a:t>cognitively</a:t>
            </a:r>
            <a:r>
              <a:rPr dirty="0" sz="3100" spc="-5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60">
                <a:solidFill>
                  <a:srgbClr val="0F1111"/>
                </a:solidFill>
                <a:latin typeface="Times New Roman"/>
                <a:cs typeface="Times New Roman"/>
              </a:rPr>
              <a:t>ready</a:t>
            </a:r>
            <a:r>
              <a:rPr dirty="0" sz="3100" spc="-285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20">
                <a:solidFill>
                  <a:srgbClr val="0F1111"/>
                </a:solidFill>
                <a:latin typeface="Times New Roman"/>
                <a:cs typeface="Times New Roman"/>
              </a:rPr>
              <a:t>to</a:t>
            </a:r>
            <a:r>
              <a:rPr dirty="0" sz="3100" spc="-315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90">
                <a:solidFill>
                  <a:srgbClr val="0F1111"/>
                </a:solidFill>
                <a:latin typeface="Times New Roman"/>
                <a:cs typeface="Times New Roman"/>
              </a:rPr>
              <a:t>quit </a:t>
            </a:r>
            <a:r>
              <a:rPr dirty="0" sz="3100" spc="-195">
                <a:solidFill>
                  <a:srgbClr val="0F1111"/>
                </a:solidFill>
                <a:latin typeface="Times New Roman"/>
                <a:cs typeface="Times New Roman"/>
              </a:rPr>
              <a:t>(low</a:t>
            </a:r>
            <a:r>
              <a:rPr dirty="0" sz="3100" spc="-24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210">
                <a:solidFill>
                  <a:srgbClr val="0F1111"/>
                </a:solidFill>
                <a:latin typeface="Times New Roman"/>
                <a:cs typeface="Times New Roman"/>
              </a:rPr>
              <a:t>Liking)</a:t>
            </a:r>
            <a:r>
              <a:rPr dirty="0" sz="3100" spc="-1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95">
                <a:solidFill>
                  <a:srgbClr val="0F1111"/>
                </a:solidFill>
                <a:latin typeface="Times New Roman"/>
                <a:cs typeface="Times New Roman"/>
              </a:rPr>
              <a:t>yet</a:t>
            </a:r>
            <a:r>
              <a:rPr dirty="0" sz="3100" spc="-17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90">
                <a:solidFill>
                  <a:srgbClr val="0F1111"/>
                </a:solidFill>
                <a:latin typeface="Times New Roman"/>
                <a:cs typeface="Times New Roman"/>
              </a:rPr>
              <a:t>overpowered</a:t>
            </a:r>
            <a:r>
              <a:rPr dirty="0" sz="3100" spc="9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80">
                <a:solidFill>
                  <a:srgbClr val="0F1111"/>
                </a:solidFill>
                <a:latin typeface="Times New Roman"/>
                <a:cs typeface="Times New Roman"/>
              </a:rPr>
              <a:t>by</a:t>
            </a:r>
            <a:r>
              <a:rPr dirty="0" sz="3100" spc="-345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20">
                <a:solidFill>
                  <a:srgbClr val="0F1111"/>
                </a:solidFill>
                <a:latin typeface="Times New Roman"/>
                <a:cs typeface="Times New Roman"/>
              </a:rPr>
              <a:t>cue-</a:t>
            </a:r>
            <a:r>
              <a:rPr dirty="0" sz="3100" spc="-155">
                <a:solidFill>
                  <a:srgbClr val="0F1111"/>
                </a:solidFill>
                <a:latin typeface="Times New Roman"/>
                <a:cs typeface="Times New Roman"/>
              </a:rPr>
              <a:t>triggered</a:t>
            </a:r>
            <a:r>
              <a:rPr dirty="0" sz="3100" spc="-85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70">
                <a:solidFill>
                  <a:srgbClr val="0F1111"/>
                </a:solidFill>
                <a:latin typeface="Times New Roman"/>
                <a:cs typeface="Times New Roman"/>
              </a:rPr>
              <a:t>compulsion</a:t>
            </a:r>
            <a:r>
              <a:rPr dirty="0" sz="3100" spc="10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155">
                <a:solidFill>
                  <a:srgbClr val="0F1111"/>
                </a:solidFill>
                <a:latin typeface="Times New Roman"/>
                <a:cs typeface="Times New Roman"/>
              </a:rPr>
              <a:t>(high</a:t>
            </a:r>
            <a:r>
              <a:rPr dirty="0" sz="3100" spc="-20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3100" spc="-70">
                <a:solidFill>
                  <a:srgbClr val="0F1111"/>
                </a:solidFill>
                <a:latin typeface="Times New Roman"/>
                <a:cs typeface="Times New Roman"/>
              </a:rPr>
              <a:t>Wanting).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45479" y="3664215"/>
            <a:ext cx="266065" cy="6705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970">
              <a:lnSpc>
                <a:spcPts val="1730"/>
              </a:lnSpc>
              <a:spcBef>
                <a:spcPts val="105"/>
              </a:spcBef>
            </a:pPr>
            <a:r>
              <a:rPr dirty="0" sz="1500" spc="-30" b="1">
                <a:solidFill>
                  <a:srgbClr val="0F1111"/>
                </a:solidFill>
                <a:latin typeface="Times New Roman"/>
                <a:cs typeface="Times New Roman"/>
              </a:rPr>
              <a:t>Cl)</a:t>
            </a:r>
            <a:endParaRPr sz="1500">
              <a:latin typeface="Times New Roman"/>
              <a:cs typeface="Times New Roman"/>
            </a:endParaRPr>
          </a:p>
          <a:p>
            <a:pPr marL="14604">
              <a:lnSpc>
                <a:spcPts val="1395"/>
              </a:lnSpc>
            </a:pPr>
            <a:r>
              <a:rPr dirty="0" sz="1350" spc="-25" b="1">
                <a:solidFill>
                  <a:srgbClr val="0F1111"/>
                </a:solidFill>
                <a:latin typeface="Times New Roman"/>
                <a:cs typeface="Times New Roman"/>
              </a:rPr>
              <a:t>(J)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</a:pPr>
            <a:r>
              <a:rPr dirty="0" sz="1750" spc="-50" b="1">
                <a:solidFill>
                  <a:srgbClr val="0F1111"/>
                </a:solidFill>
                <a:latin typeface="Times New Roman"/>
                <a:cs typeface="Times New Roman"/>
              </a:rPr>
              <a:t>C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52038" y="4359969"/>
            <a:ext cx="37655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46296" sz="2700" spc="-187" b="1">
                <a:solidFill>
                  <a:srgbClr val="0F1111"/>
                </a:solidFill>
                <a:latin typeface="Arial"/>
                <a:cs typeface="Arial"/>
              </a:rPr>
              <a:t>0</a:t>
            </a:r>
            <a:r>
              <a:rPr dirty="0" sz="2350" spc="-125" b="1">
                <a:solidFill>
                  <a:srgbClr val="0F1111"/>
                </a:solidFill>
                <a:latin typeface="Arial"/>
                <a:cs typeface="Arial"/>
              </a:rPr>
              <a:t>a.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47516" y="4640824"/>
            <a:ext cx="21399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25" b="1">
                <a:solidFill>
                  <a:srgbClr val="0F1111"/>
                </a:solidFill>
                <a:latin typeface="Times New Roman"/>
                <a:cs typeface="Times New Roman"/>
              </a:rPr>
              <a:t>(J)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75998" y="4813167"/>
            <a:ext cx="335280" cy="5695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3185">
              <a:lnSpc>
                <a:spcPts val="1055"/>
              </a:lnSpc>
              <a:spcBef>
                <a:spcPts val="105"/>
              </a:spcBef>
            </a:pPr>
            <a:r>
              <a:rPr dirty="0" sz="1500" spc="-30" b="1">
                <a:solidFill>
                  <a:srgbClr val="0F1111"/>
                </a:solidFill>
                <a:latin typeface="Times New Roman"/>
                <a:cs typeface="Times New Roman"/>
              </a:rPr>
              <a:t>Cl)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3215"/>
              </a:lnSpc>
            </a:pPr>
            <a:r>
              <a:rPr dirty="0" sz="3300" spc="-80">
                <a:solidFill>
                  <a:srgbClr val="0F1111"/>
                </a:solidFill>
                <a:latin typeface="Times New Roman"/>
                <a:cs typeface="Times New Roman"/>
              </a:rPr>
              <a:t>a</a:t>
            </a:r>
            <a:r>
              <a:rPr dirty="0" sz="3300" spc="-785">
                <a:solidFill>
                  <a:srgbClr val="0F1111"/>
                </a:solidFill>
                <a:latin typeface="Times New Roman"/>
                <a:cs typeface="Times New Roman"/>
              </a:rPr>
              <a:t>: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49544" y="4762102"/>
            <a:ext cx="31686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-2190">
                <a:solidFill>
                  <a:srgbClr val="0F1111"/>
                </a:solidFill>
                <a:latin typeface="Arial"/>
                <a:cs typeface="Arial"/>
              </a:rPr>
              <a:t>-</a:t>
            </a:r>
            <a:r>
              <a:rPr dirty="0" sz="1800" spc="-50" b="1">
                <a:solidFill>
                  <a:srgbClr val="0F1111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46751" y="5732329"/>
            <a:ext cx="26479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30" b="1">
                <a:solidFill>
                  <a:srgbClr val="0F1111"/>
                </a:solidFill>
                <a:latin typeface="Times New Roman"/>
                <a:cs typeface="Times New Roman"/>
              </a:rPr>
              <a:t>Cl)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65135" y="5936588"/>
            <a:ext cx="217170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-50" b="1">
                <a:solidFill>
                  <a:srgbClr val="0F1111"/>
                </a:solidFill>
                <a:latin typeface="Arial"/>
                <a:cs typeface="Arial"/>
              </a:rPr>
              <a:t>-0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33175" y="6140847"/>
            <a:ext cx="290195" cy="286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5" b="1">
                <a:solidFill>
                  <a:srgbClr val="0F1111"/>
                </a:solidFill>
                <a:latin typeface="Arial"/>
                <a:cs typeface="Arial"/>
              </a:rPr>
              <a:t>::J</a:t>
            </a:r>
            <a:endParaRPr sz="1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77387" y="5808927"/>
            <a:ext cx="322580" cy="1036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600" spc="-1035">
                <a:solidFill>
                  <a:srgbClr val="0F1111"/>
                </a:solidFill>
                <a:latin typeface="Arial"/>
                <a:cs typeface="Arial"/>
              </a:rPr>
              <a:t>-</a:t>
            </a:r>
            <a:r>
              <a:rPr dirty="0" sz="6600" spc="-1085">
                <a:solidFill>
                  <a:srgbClr val="0F1111"/>
                </a:solidFill>
                <a:latin typeface="Arial"/>
                <a:cs typeface="Arial"/>
              </a:rPr>
              <a:t>-</a:t>
            </a:r>
            <a:endParaRPr sz="6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32910" y="6249359"/>
            <a:ext cx="162560" cy="4927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50" spc="-505">
                <a:solidFill>
                  <a:srgbClr val="0F1111"/>
                </a:solidFill>
                <a:latin typeface="Arial"/>
                <a:cs typeface="Arial"/>
              </a:rPr>
              <a:t>·-</a:t>
            </a:r>
            <a:endParaRPr sz="3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371612" y="4659973"/>
            <a:ext cx="2306320" cy="136588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algn="just" marL="17145" marR="5080" indent="-5080">
              <a:lnSpc>
                <a:spcPct val="96300"/>
              </a:lnSpc>
              <a:spcBef>
                <a:spcPts val="245"/>
              </a:spcBef>
            </a:pPr>
            <a:r>
              <a:rPr dirty="0" sz="3000" spc="-114" b="1">
                <a:solidFill>
                  <a:srgbClr val="0F1111"/>
                </a:solidFill>
                <a:latin typeface="Arial"/>
                <a:cs typeface="Arial"/>
              </a:rPr>
              <a:t>The</a:t>
            </a:r>
            <a:r>
              <a:rPr dirty="0" sz="3000" spc="-90" b="1">
                <a:solidFill>
                  <a:srgbClr val="0F1111"/>
                </a:solidFill>
                <a:latin typeface="Arial"/>
                <a:cs typeface="Arial"/>
              </a:rPr>
              <a:t> Paradox: </a:t>
            </a:r>
            <a:r>
              <a:rPr dirty="0" sz="3000" spc="-114" b="1">
                <a:solidFill>
                  <a:srgbClr val="0F1111"/>
                </a:solidFill>
                <a:latin typeface="Arial"/>
                <a:cs typeface="Arial"/>
              </a:rPr>
              <a:t>Lusting</a:t>
            </a:r>
            <a:r>
              <a:rPr dirty="0" sz="3000" spc="-60" b="1">
                <a:solidFill>
                  <a:srgbClr val="0F1111"/>
                </a:solidFill>
                <a:latin typeface="Arial"/>
                <a:cs typeface="Arial"/>
              </a:rPr>
              <a:t> </a:t>
            </a:r>
            <a:r>
              <a:rPr dirty="0" sz="3000" spc="-100" b="1">
                <a:solidFill>
                  <a:srgbClr val="0F1111"/>
                </a:solidFill>
                <a:latin typeface="Arial"/>
                <a:cs typeface="Arial"/>
              </a:rPr>
              <a:t>while </a:t>
            </a:r>
            <a:r>
              <a:rPr dirty="0" sz="3000" spc="-20" b="1">
                <a:solidFill>
                  <a:srgbClr val="0F1111"/>
                </a:solidFill>
                <a:latin typeface="Arial"/>
                <a:cs typeface="Arial"/>
              </a:rPr>
              <a:t>Loathing</a:t>
            </a:r>
            <a:endParaRPr sz="3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5398" y="8655777"/>
            <a:ext cx="3748404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00">
                <a:solidFill>
                  <a:srgbClr val="0F1111"/>
                </a:solidFill>
                <a:latin typeface="Arial"/>
                <a:cs typeface="Arial"/>
              </a:rPr>
              <a:t>progression</a:t>
            </a:r>
            <a:r>
              <a:rPr dirty="0" sz="2900" spc="-20">
                <a:solidFill>
                  <a:srgbClr val="0F1111"/>
                </a:solidFill>
                <a:latin typeface="Arial"/>
                <a:cs typeface="Arial"/>
              </a:rPr>
              <a:t> </a:t>
            </a:r>
            <a:r>
              <a:rPr dirty="0" sz="2900" spc="-30">
                <a:solidFill>
                  <a:srgbClr val="0F1111"/>
                </a:solidFill>
                <a:latin typeface="Arial"/>
                <a:cs typeface="Arial"/>
              </a:rPr>
              <a:t>of</a:t>
            </a:r>
            <a:r>
              <a:rPr dirty="0" sz="2900" spc="-160">
                <a:solidFill>
                  <a:srgbClr val="0F1111"/>
                </a:solidFill>
                <a:latin typeface="Arial"/>
                <a:cs typeface="Arial"/>
              </a:rPr>
              <a:t> </a:t>
            </a:r>
            <a:r>
              <a:rPr dirty="0" sz="2900" spc="-50">
                <a:solidFill>
                  <a:srgbClr val="0F1111"/>
                </a:solidFill>
                <a:latin typeface="Arial"/>
                <a:cs typeface="Arial"/>
              </a:rPr>
              <a:t>Addiction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0014" y="2323702"/>
            <a:ext cx="7769520" cy="65362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53144" y="3447124"/>
            <a:ext cx="152842" cy="63830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63459" y="4442883"/>
            <a:ext cx="1885063" cy="4595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96281" y="7889743"/>
            <a:ext cx="407581" cy="28085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878847" y="8068466"/>
            <a:ext cx="0" cy="1123950"/>
          </a:xfrm>
          <a:custGeom>
            <a:avLst/>
            <a:gdLst/>
            <a:ahLst/>
            <a:cxnLst/>
            <a:rect l="l" t="t" r="r" b="b"/>
            <a:pathLst>
              <a:path w="0" h="1123950">
                <a:moveTo>
                  <a:pt x="0" y="112342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32144" y="8068466"/>
            <a:ext cx="0" cy="1123950"/>
          </a:xfrm>
          <a:custGeom>
            <a:avLst/>
            <a:gdLst/>
            <a:ahLst/>
            <a:cxnLst/>
            <a:rect l="l" t="t" r="r" b="b"/>
            <a:pathLst>
              <a:path w="0" h="1123950">
                <a:moveTo>
                  <a:pt x="0" y="112342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743439" y="6459932"/>
            <a:ext cx="0" cy="2042795"/>
          </a:xfrm>
          <a:custGeom>
            <a:avLst/>
            <a:gdLst/>
            <a:ahLst/>
            <a:cxnLst/>
            <a:rect l="l" t="t" r="r" b="b"/>
            <a:pathLst>
              <a:path w="0" h="2042795">
                <a:moveTo>
                  <a:pt x="0" y="204258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743439" y="2885412"/>
            <a:ext cx="0" cy="2221865"/>
          </a:xfrm>
          <a:custGeom>
            <a:avLst/>
            <a:gdLst/>
            <a:ahLst/>
            <a:cxnLst/>
            <a:rect l="l" t="t" r="r" b="b"/>
            <a:pathLst>
              <a:path w="0" h="2221865">
                <a:moveTo>
                  <a:pt x="0" y="222130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921756" y="6638658"/>
            <a:ext cx="0" cy="1072515"/>
          </a:xfrm>
          <a:custGeom>
            <a:avLst/>
            <a:gdLst/>
            <a:ahLst/>
            <a:cxnLst/>
            <a:rect l="l" t="t" r="r" b="b"/>
            <a:pathLst>
              <a:path w="0" h="1072515">
                <a:moveTo>
                  <a:pt x="0" y="107235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921756" y="3676913"/>
            <a:ext cx="0" cy="511175"/>
          </a:xfrm>
          <a:custGeom>
            <a:avLst/>
            <a:gdLst/>
            <a:ahLst/>
            <a:cxnLst/>
            <a:rect l="l" t="t" r="r" b="b"/>
            <a:pathLst>
              <a:path w="0"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201968" y="6638658"/>
            <a:ext cx="0" cy="1072515"/>
          </a:xfrm>
          <a:custGeom>
            <a:avLst/>
            <a:gdLst/>
            <a:ahLst/>
            <a:cxnLst/>
            <a:rect l="l" t="t" r="r" b="b"/>
            <a:pathLst>
              <a:path w="0" h="1072515">
                <a:moveTo>
                  <a:pt x="0" y="107235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201968" y="3676913"/>
            <a:ext cx="0" cy="511175"/>
          </a:xfrm>
          <a:custGeom>
            <a:avLst/>
            <a:gdLst/>
            <a:ahLst/>
            <a:cxnLst/>
            <a:rect l="l" t="t" r="r" b="b"/>
            <a:pathLst>
              <a:path w="0"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482180" y="6613126"/>
            <a:ext cx="0" cy="1097915"/>
          </a:xfrm>
          <a:custGeom>
            <a:avLst/>
            <a:gdLst/>
            <a:ahLst/>
            <a:cxnLst/>
            <a:rect l="l" t="t" r="r" b="b"/>
            <a:pathLst>
              <a:path w="0" h="1097915">
                <a:moveTo>
                  <a:pt x="0" y="109788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2482180" y="3651381"/>
            <a:ext cx="0" cy="536575"/>
          </a:xfrm>
          <a:custGeom>
            <a:avLst/>
            <a:gdLst/>
            <a:ahLst/>
            <a:cxnLst/>
            <a:rect l="l" t="t" r="r" b="b"/>
            <a:pathLst>
              <a:path w="0"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265349" y="3549251"/>
            <a:ext cx="203835" cy="1097915"/>
          </a:xfrm>
          <a:custGeom>
            <a:avLst/>
            <a:gdLst/>
            <a:ahLst/>
            <a:cxnLst/>
            <a:rect l="l" t="t" r="r" b="b"/>
            <a:pathLst>
              <a:path w="203834" h="1097914">
                <a:moveTo>
                  <a:pt x="0" y="0"/>
                </a:moveTo>
                <a:lnTo>
                  <a:pt x="203791" y="0"/>
                </a:lnTo>
                <a:lnTo>
                  <a:pt x="203791" y="1097888"/>
                </a:lnTo>
                <a:lnTo>
                  <a:pt x="0" y="10978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4736615" y="6740787"/>
            <a:ext cx="0" cy="561975"/>
          </a:xfrm>
          <a:custGeom>
            <a:avLst/>
            <a:gdLst/>
            <a:ahLst/>
            <a:cxnLst/>
            <a:rect l="l" t="t" r="r" b="b"/>
            <a:pathLst>
              <a:path w="0" h="561975">
                <a:moveTo>
                  <a:pt x="0" y="561710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029564" y="6740787"/>
            <a:ext cx="0" cy="970280"/>
          </a:xfrm>
          <a:custGeom>
            <a:avLst/>
            <a:gdLst/>
            <a:ahLst/>
            <a:cxnLst/>
            <a:rect l="l" t="t" r="r" b="b"/>
            <a:pathLst>
              <a:path w="0" h="970279">
                <a:moveTo>
                  <a:pt x="0" y="97022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029564" y="3523719"/>
            <a:ext cx="203835" cy="919480"/>
          </a:xfrm>
          <a:custGeom>
            <a:avLst/>
            <a:gdLst/>
            <a:ahLst/>
            <a:cxnLst/>
            <a:rect l="l" t="t" r="r" b="b"/>
            <a:pathLst>
              <a:path w="203834" h="919479">
                <a:moveTo>
                  <a:pt x="0" y="0"/>
                </a:moveTo>
                <a:lnTo>
                  <a:pt x="203791" y="0"/>
                </a:lnTo>
                <a:lnTo>
                  <a:pt x="203791" y="919162"/>
                </a:lnTo>
                <a:lnTo>
                  <a:pt x="0" y="91916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309777" y="6740787"/>
            <a:ext cx="0" cy="970280"/>
          </a:xfrm>
          <a:custGeom>
            <a:avLst/>
            <a:gdLst/>
            <a:ahLst/>
            <a:cxnLst/>
            <a:rect l="l" t="t" r="r" b="b"/>
            <a:pathLst>
              <a:path w="0" h="970279">
                <a:moveTo>
                  <a:pt x="0" y="97022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589989" y="6740787"/>
            <a:ext cx="0" cy="970280"/>
          </a:xfrm>
          <a:custGeom>
            <a:avLst/>
            <a:gdLst/>
            <a:ahLst/>
            <a:cxnLst/>
            <a:rect l="l" t="t" r="r" b="b"/>
            <a:pathLst>
              <a:path w="0" h="970279">
                <a:moveTo>
                  <a:pt x="0" y="97022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870201" y="6766319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40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5812884" y="3523719"/>
            <a:ext cx="191135" cy="1123950"/>
          </a:xfrm>
          <a:custGeom>
            <a:avLst/>
            <a:gdLst/>
            <a:ahLst/>
            <a:cxnLst/>
            <a:rect l="l" t="t" r="r" b="b"/>
            <a:pathLst>
              <a:path w="191134" h="1123950">
                <a:moveTo>
                  <a:pt x="0" y="0"/>
                </a:moveTo>
                <a:lnTo>
                  <a:pt x="191054" y="0"/>
                </a:lnTo>
                <a:lnTo>
                  <a:pt x="191054" y="1123420"/>
                </a:lnTo>
                <a:lnTo>
                  <a:pt x="0" y="11234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6621680" y="6459932"/>
            <a:ext cx="0" cy="2042795"/>
          </a:xfrm>
          <a:custGeom>
            <a:avLst/>
            <a:gdLst/>
            <a:ahLst/>
            <a:cxnLst/>
            <a:rect l="l" t="t" r="r" b="b"/>
            <a:pathLst>
              <a:path w="0" h="2042795">
                <a:moveTo>
                  <a:pt x="0" y="204258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6621680" y="2885412"/>
            <a:ext cx="0" cy="2221865"/>
          </a:xfrm>
          <a:custGeom>
            <a:avLst/>
            <a:gdLst/>
            <a:ahLst/>
            <a:cxnLst/>
            <a:rect l="l" t="t" r="r" b="b"/>
            <a:pathLst>
              <a:path w="0" h="2221865">
                <a:moveTo>
                  <a:pt x="0" y="222130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66110" y="1953484"/>
            <a:ext cx="15794355" cy="0"/>
          </a:xfrm>
          <a:custGeom>
            <a:avLst/>
            <a:gdLst/>
            <a:ahLst/>
            <a:cxnLst/>
            <a:rect l="l" t="t" r="r" b="b"/>
            <a:pathLst>
              <a:path w="15794355" h="0">
                <a:moveTo>
                  <a:pt x="0" y="0"/>
                </a:moveTo>
                <a:lnTo>
                  <a:pt x="1579378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6048518" y="4596075"/>
            <a:ext cx="407670" cy="0"/>
          </a:xfrm>
          <a:custGeom>
            <a:avLst/>
            <a:gdLst/>
            <a:ahLst/>
            <a:cxnLst/>
            <a:rect l="l" t="t" r="r" b="b"/>
            <a:pathLst>
              <a:path w="407669" h="0">
                <a:moveTo>
                  <a:pt x="0" y="0"/>
                </a:moveTo>
                <a:lnTo>
                  <a:pt x="407581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896282" y="4608841"/>
            <a:ext cx="2267585" cy="0"/>
          </a:xfrm>
          <a:custGeom>
            <a:avLst/>
            <a:gdLst/>
            <a:ahLst/>
            <a:cxnLst/>
            <a:rect l="l" t="t" r="r" b="b"/>
            <a:pathLst>
              <a:path w="2267584" h="0">
                <a:moveTo>
                  <a:pt x="0" y="0"/>
                </a:moveTo>
                <a:lnTo>
                  <a:pt x="2267171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717966" y="5068423"/>
            <a:ext cx="4942205" cy="0"/>
          </a:xfrm>
          <a:custGeom>
            <a:avLst/>
            <a:gdLst/>
            <a:ahLst/>
            <a:cxnLst/>
            <a:rect l="l" t="t" r="r" b="b"/>
            <a:pathLst>
              <a:path w="4942205" h="0">
                <a:moveTo>
                  <a:pt x="0" y="0"/>
                </a:moveTo>
                <a:lnTo>
                  <a:pt x="494192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66110" y="8081232"/>
            <a:ext cx="5604510" cy="0"/>
          </a:xfrm>
          <a:custGeom>
            <a:avLst/>
            <a:gdLst/>
            <a:ahLst/>
            <a:cxnLst/>
            <a:rect l="l" t="t" r="r" b="b"/>
            <a:pathLst>
              <a:path w="5604510" h="0">
                <a:moveTo>
                  <a:pt x="0" y="0"/>
                </a:moveTo>
                <a:lnTo>
                  <a:pt x="560424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1921756" y="8119530"/>
            <a:ext cx="2522220" cy="0"/>
          </a:xfrm>
          <a:custGeom>
            <a:avLst/>
            <a:gdLst/>
            <a:ahLst/>
            <a:cxnLst/>
            <a:rect l="l" t="t" r="r" b="b"/>
            <a:pathLst>
              <a:path w="2522219" h="0">
                <a:moveTo>
                  <a:pt x="0" y="0"/>
                </a:moveTo>
                <a:lnTo>
                  <a:pt x="2521910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1717966" y="8451450"/>
            <a:ext cx="4942205" cy="0"/>
          </a:xfrm>
          <a:custGeom>
            <a:avLst/>
            <a:gdLst/>
            <a:ahLst/>
            <a:cxnLst/>
            <a:rect l="l" t="t" r="r" b="b"/>
            <a:pathLst>
              <a:path w="4942205" h="0">
                <a:moveTo>
                  <a:pt x="0" y="0"/>
                </a:moveTo>
                <a:lnTo>
                  <a:pt x="494192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66110" y="9166354"/>
            <a:ext cx="5604510" cy="0"/>
          </a:xfrm>
          <a:custGeom>
            <a:avLst/>
            <a:gdLst/>
            <a:ahLst/>
            <a:cxnLst/>
            <a:rect l="l" t="t" r="r" b="b"/>
            <a:pathLst>
              <a:path w="5604510" h="0">
                <a:moveTo>
                  <a:pt x="0" y="0"/>
                </a:moveTo>
                <a:lnTo>
                  <a:pt x="560424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$PPTXTitle"/>
          <p:cNvSpPr txBox="1">
            <a:spLocks noGrp="1"/>
          </p:cNvSpPr>
          <p:nvPr>
            <p:ph type="title"/>
          </p:nvPr>
        </p:nvSpPr>
        <p:spPr>
          <a:xfrm>
            <a:off x="828490" y="1066304"/>
            <a:ext cx="15518130" cy="64643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050" spc="55">
                <a:solidFill>
                  <a:srgbClr val="1C1C1C"/>
                </a:solidFill>
              </a:rPr>
              <a:t>Neurobiological</a:t>
            </a:r>
            <a:r>
              <a:rPr dirty="0" sz="4050" spc="-375">
                <a:solidFill>
                  <a:srgbClr val="1C1C1C"/>
                </a:solidFill>
              </a:rPr>
              <a:t> </a:t>
            </a:r>
            <a:r>
              <a:rPr dirty="0" sz="4050" spc="60">
                <a:solidFill>
                  <a:srgbClr val="1C1C1C"/>
                </a:solidFill>
              </a:rPr>
              <a:t>Underpinnings:</a:t>
            </a:r>
            <a:r>
              <a:rPr dirty="0" sz="4050" spc="-625">
                <a:solidFill>
                  <a:srgbClr val="1C1C1C"/>
                </a:solidFill>
              </a:rPr>
              <a:t> </a:t>
            </a:r>
            <a:r>
              <a:rPr dirty="0" sz="4050" spc="160">
                <a:solidFill>
                  <a:srgbClr val="1C1C1C"/>
                </a:solidFill>
              </a:rPr>
              <a:t>The</a:t>
            </a:r>
            <a:r>
              <a:rPr dirty="0" sz="4050" spc="-204">
                <a:solidFill>
                  <a:srgbClr val="1C1C1C"/>
                </a:solidFill>
              </a:rPr>
              <a:t> </a:t>
            </a:r>
            <a:r>
              <a:rPr dirty="0" sz="4050" spc="55">
                <a:solidFill>
                  <a:srgbClr val="1C1C1C"/>
                </a:solidFill>
              </a:rPr>
              <a:t>Hijacked</a:t>
            </a:r>
            <a:r>
              <a:rPr dirty="0" sz="4050" spc="-25">
                <a:solidFill>
                  <a:srgbClr val="1C1C1C"/>
                </a:solidFill>
              </a:rPr>
              <a:t> </a:t>
            </a:r>
            <a:r>
              <a:rPr dirty="0" sz="4050" spc="114">
                <a:solidFill>
                  <a:srgbClr val="1C1C1C"/>
                </a:solidFill>
              </a:rPr>
              <a:t>Reward</a:t>
            </a:r>
            <a:r>
              <a:rPr dirty="0" sz="4050" spc="-80">
                <a:solidFill>
                  <a:srgbClr val="1C1C1C"/>
                </a:solidFill>
              </a:rPr>
              <a:t> </a:t>
            </a:r>
            <a:r>
              <a:rPr dirty="0" sz="4050" spc="80">
                <a:solidFill>
                  <a:srgbClr val="1C1C1C"/>
                </a:solidFill>
              </a:rPr>
              <a:t>System</a:t>
            </a:r>
            <a:endParaRPr sz="4050"/>
          </a:p>
        </p:txBody>
      </p:sp>
      <p:sp>
        <p:nvSpPr>
          <p:cNvPr id="35" name="object 35"/>
          <p:cNvSpPr txBox="1"/>
          <p:nvPr/>
        </p:nvSpPr>
        <p:spPr>
          <a:xfrm>
            <a:off x="1665338" y="6325956"/>
            <a:ext cx="4801870" cy="14909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40">
                <a:solidFill>
                  <a:srgbClr val="333434"/>
                </a:solidFill>
                <a:latin typeface="Arial"/>
                <a:cs typeface="Arial"/>
              </a:rPr>
              <a:t>Nuc</a:t>
            </a:r>
            <a:r>
              <a:rPr dirty="0" sz="1650" spc="-40">
                <a:solidFill>
                  <a:srgbClr val="070808"/>
                </a:solidFill>
                <a:latin typeface="Arial"/>
                <a:cs typeface="Arial"/>
              </a:rPr>
              <a:t>l</a:t>
            </a:r>
            <a:r>
              <a:rPr dirty="0" sz="1650" spc="-40">
                <a:solidFill>
                  <a:srgbClr val="333434"/>
                </a:solidFill>
                <a:latin typeface="Arial"/>
                <a:cs typeface="Arial"/>
              </a:rPr>
              <a:t>eus</a:t>
            </a:r>
            <a:r>
              <a:rPr dirty="0" sz="1650" spc="-220">
                <a:solidFill>
                  <a:srgbClr val="33343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33434"/>
                </a:solidFill>
                <a:latin typeface="Arial"/>
                <a:cs typeface="Arial"/>
              </a:rPr>
              <a:t>Accumbens(NAc)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650">
              <a:latin typeface="Arial"/>
              <a:cs typeface="Arial"/>
            </a:endParaRPr>
          </a:p>
          <a:p>
            <a:pPr marL="954405" marR="2117725" indent="344170">
              <a:lnSpc>
                <a:spcPts val="1810"/>
              </a:lnSpc>
            </a:pPr>
            <a:r>
              <a:rPr dirty="0" sz="1650" spc="-10">
                <a:solidFill>
                  <a:srgbClr val="974D42"/>
                </a:solidFill>
                <a:latin typeface="Arial"/>
                <a:cs typeface="Arial"/>
              </a:rPr>
              <a:t>Mesolimb</a:t>
            </a:r>
            <a:r>
              <a:rPr dirty="0" sz="1650" spc="-10">
                <a:solidFill>
                  <a:srgbClr val="8E6960"/>
                </a:solidFill>
                <a:latin typeface="Arial"/>
                <a:cs typeface="Arial"/>
              </a:rPr>
              <a:t>i</a:t>
            </a:r>
            <a:r>
              <a:rPr dirty="0" sz="1650" spc="-10">
                <a:solidFill>
                  <a:srgbClr val="974D42"/>
                </a:solidFill>
                <a:latin typeface="Arial"/>
                <a:cs typeface="Arial"/>
              </a:rPr>
              <a:t>c </a:t>
            </a:r>
            <a:r>
              <a:rPr dirty="0" sz="1650" spc="-50">
                <a:solidFill>
                  <a:srgbClr val="974D42"/>
                </a:solidFill>
                <a:latin typeface="Arial"/>
                <a:cs typeface="Arial"/>
              </a:rPr>
              <a:t>Dopamine</a:t>
            </a:r>
            <a:r>
              <a:rPr dirty="0" sz="1650" spc="-114">
                <a:solidFill>
                  <a:srgbClr val="974D42"/>
                </a:solidFill>
                <a:latin typeface="Arial"/>
                <a:cs typeface="Arial"/>
              </a:rPr>
              <a:t> </a:t>
            </a:r>
            <a:r>
              <a:rPr dirty="0" sz="1650" spc="-40">
                <a:solidFill>
                  <a:srgbClr val="974D42"/>
                </a:solidFill>
                <a:latin typeface="Arial"/>
                <a:cs typeface="Arial"/>
              </a:rPr>
              <a:t>Pathway</a:t>
            </a:r>
            <a:endParaRPr sz="1650">
              <a:latin typeface="Arial"/>
              <a:cs typeface="Arial"/>
            </a:endParaRPr>
          </a:p>
          <a:p>
            <a:pPr marL="2268855">
              <a:lnSpc>
                <a:spcPct val="100000"/>
              </a:lnSpc>
              <a:spcBef>
                <a:spcPts val="1505"/>
              </a:spcBef>
            </a:pPr>
            <a:r>
              <a:rPr dirty="0" sz="1650" spc="-70">
                <a:solidFill>
                  <a:srgbClr val="333434"/>
                </a:solidFill>
                <a:latin typeface="Arial"/>
                <a:cs typeface="Arial"/>
              </a:rPr>
              <a:t>Ventral</a:t>
            </a:r>
            <a:r>
              <a:rPr dirty="0" sz="1650" spc="-270">
                <a:solidFill>
                  <a:srgbClr val="333434"/>
                </a:solidFill>
                <a:latin typeface="Arial"/>
                <a:cs typeface="Arial"/>
              </a:rPr>
              <a:t> </a:t>
            </a:r>
            <a:r>
              <a:rPr dirty="0" sz="1650" spc="-80">
                <a:solidFill>
                  <a:srgbClr val="333434"/>
                </a:solidFill>
                <a:latin typeface="Arial"/>
                <a:cs typeface="Arial"/>
              </a:rPr>
              <a:t>Tegmental</a:t>
            </a:r>
            <a:r>
              <a:rPr dirty="0" sz="1650" spc="-130">
                <a:solidFill>
                  <a:srgbClr val="333434"/>
                </a:solidFill>
                <a:latin typeface="Arial"/>
                <a:cs typeface="Arial"/>
              </a:rPr>
              <a:t> </a:t>
            </a:r>
            <a:r>
              <a:rPr dirty="0" sz="1650" spc="-55">
                <a:solidFill>
                  <a:srgbClr val="333434"/>
                </a:solidFill>
                <a:latin typeface="Arial"/>
                <a:cs typeface="Arial"/>
              </a:rPr>
              <a:t>Area</a:t>
            </a:r>
            <a:r>
              <a:rPr dirty="0" sz="1650" spc="-235">
                <a:solidFill>
                  <a:srgbClr val="333434"/>
                </a:solidFill>
                <a:latin typeface="Arial"/>
                <a:cs typeface="Arial"/>
              </a:rPr>
              <a:t> </a:t>
            </a:r>
            <a:r>
              <a:rPr dirty="0" sz="1650" spc="-50">
                <a:solidFill>
                  <a:srgbClr val="607077"/>
                </a:solidFill>
                <a:latin typeface="Arial"/>
                <a:cs typeface="Arial"/>
              </a:rPr>
              <a:t>(VTA)</a:t>
            </a:r>
            <a:endParaRPr sz="16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91584" y="8170664"/>
            <a:ext cx="5528310" cy="90424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4460" marR="572770" indent="-14604">
              <a:lnSpc>
                <a:spcPct val="101400"/>
              </a:lnSpc>
              <a:spcBef>
                <a:spcPts val="75"/>
              </a:spcBef>
            </a:pPr>
            <a:r>
              <a:rPr dirty="0" sz="1900" b="1">
                <a:solidFill>
                  <a:srgbClr val="1C1C1C"/>
                </a:solidFill>
                <a:latin typeface="Arial"/>
                <a:cs typeface="Arial"/>
              </a:rPr>
              <a:t>..</a:t>
            </a:r>
            <a:r>
              <a:rPr dirty="0" sz="1900" spc="170" b="1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900" spc="-75" b="1">
                <a:solidFill>
                  <a:srgbClr val="070808"/>
                </a:solidFill>
                <a:latin typeface="Arial"/>
                <a:cs typeface="Arial"/>
              </a:rPr>
              <a:t>Incentive</a:t>
            </a:r>
            <a:r>
              <a:rPr dirty="0" sz="1900" spc="-185" b="1">
                <a:solidFill>
                  <a:srgbClr val="070808"/>
                </a:solidFill>
                <a:latin typeface="Arial"/>
                <a:cs typeface="Arial"/>
              </a:rPr>
              <a:t> </a:t>
            </a:r>
            <a:r>
              <a:rPr dirty="0" sz="1900" spc="-55" b="1">
                <a:solidFill>
                  <a:srgbClr val="1C1C1C"/>
                </a:solidFill>
                <a:latin typeface="Arial"/>
                <a:cs typeface="Arial"/>
              </a:rPr>
              <a:t>Sensitization:••</a:t>
            </a:r>
            <a:r>
              <a:rPr dirty="0" sz="1900" spc="-235" b="1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900" spc="-65">
                <a:solidFill>
                  <a:srgbClr val="1C1C1C"/>
                </a:solidFill>
                <a:latin typeface="Arial"/>
                <a:cs typeface="Arial"/>
              </a:rPr>
              <a:t>Cues</a:t>
            </a:r>
            <a:r>
              <a:rPr dirty="0" sz="1900" spc="-14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1C1C1C"/>
                </a:solidFill>
                <a:latin typeface="Arial"/>
                <a:cs typeface="Arial"/>
              </a:rPr>
              <a:t>acquire </a:t>
            </a:r>
            <a:r>
              <a:rPr dirty="0" sz="1900" spc="-30">
                <a:solidFill>
                  <a:srgbClr val="333434"/>
                </a:solidFill>
                <a:latin typeface="Arial"/>
                <a:cs typeface="Arial"/>
              </a:rPr>
              <a:t>disproportionate</a:t>
            </a:r>
            <a:r>
              <a:rPr dirty="0" sz="1900" spc="-225">
                <a:solidFill>
                  <a:srgbClr val="333434"/>
                </a:solidFill>
                <a:latin typeface="Arial"/>
                <a:cs typeface="Arial"/>
              </a:rPr>
              <a:t> </a:t>
            </a:r>
            <a:r>
              <a:rPr dirty="0" sz="1900" spc="-40">
                <a:solidFill>
                  <a:srgbClr val="1C1C1C"/>
                </a:solidFill>
                <a:latin typeface="Arial"/>
                <a:cs typeface="Arial"/>
              </a:rPr>
              <a:t>motivational</a:t>
            </a:r>
            <a:r>
              <a:rPr dirty="0" sz="1900" spc="35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900" spc="-40">
                <a:solidFill>
                  <a:srgbClr val="333434"/>
                </a:solidFill>
                <a:latin typeface="Arial"/>
                <a:cs typeface="Arial"/>
              </a:rPr>
              <a:t>power,</a:t>
            </a:r>
            <a:r>
              <a:rPr dirty="0" sz="1900" spc="-265">
                <a:solidFill>
                  <a:srgbClr val="333434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1C1C1C"/>
                </a:solidFill>
                <a:latin typeface="Arial"/>
                <a:cs typeface="Arial"/>
              </a:rPr>
              <a:t>persisting </a:t>
            </a:r>
            <a:r>
              <a:rPr dirty="0" sz="1900">
                <a:solidFill>
                  <a:srgbClr val="333434"/>
                </a:solidFill>
                <a:latin typeface="Arial"/>
                <a:cs typeface="Arial"/>
              </a:rPr>
              <a:t>long</a:t>
            </a:r>
            <a:r>
              <a:rPr dirty="0" sz="1900" spc="-275">
                <a:solidFill>
                  <a:srgbClr val="333434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333434"/>
                </a:solidFill>
                <a:latin typeface="Arial"/>
                <a:cs typeface="Arial"/>
              </a:rPr>
              <a:t>after</a:t>
            </a:r>
            <a:r>
              <a:rPr dirty="0" sz="1900" spc="-190">
                <a:solidFill>
                  <a:srgbClr val="333434"/>
                </a:solidFill>
                <a:latin typeface="Arial"/>
                <a:cs typeface="Arial"/>
              </a:rPr>
              <a:t> </a:t>
            </a:r>
            <a:r>
              <a:rPr dirty="0" sz="1900" spc="-45">
                <a:solidFill>
                  <a:srgbClr val="333434"/>
                </a:solidFill>
                <a:latin typeface="Arial"/>
                <a:cs typeface="Arial"/>
              </a:rPr>
              <a:t>abstinence</a:t>
            </a:r>
            <a:r>
              <a:rPr dirty="0" sz="1900">
                <a:solidFill>
                  <a:srgbClr val="333434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1C1C1C"/>
                </a:solidFill>
                <a:latin typeface="Arial"/>
                <a:cs typeface="Arial"/>
              </a:rPr>
              <a:t>begins.</a:t>
            </a:r>
            <a:endParaRPr sz="19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466528" y="2443179"/>
            <a:ext cx="1455420" cy="375285"/>
          </a:xfrm>
          <a:prstGeom prst="rect">
            <a:avLst/>
          </a:prstGeom>
          <a:solidFill>
            <a:srgbClr val="212121"/>
          </a:solidFill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2050" spc="-55" b="1">
                <a:solidFill>
                  <a:srgbClr val="EFEFEF"/>
                </a:solidFill>
                <a:latin typeface="Arial"/>
                <a:cs typeface="Arial"/>
              </a:rPr>
              <a:t>Spike</a:t>
            </a:r>
            <a:r>
              <a:rPr dirty="0" sz="2050" spc="-160" b="1">
                <a:solidFill>
                  <a:srgbClr val="EFEFEF"/>
                </a:solidFill>
                <a:latin typeface="Arial"/>
                <a:cs typeface="Arial"/>
              </a:rPr>
              <a:t> </a:t>
            </a:r>
            <a:r>
              <a:rPr dirty="0" sz="2050" spc="-75" b="1">
                <a:solidFill>
                  <a:srgbClr val="EFEFEF"/>
                </a:solidFill>
                <a:latin typeface="Arial"/>
                <a:cs typeface="Arial"/>
              </a:rPr>
              <a:t>Trains</a:t>
            </a:r>
            <a:endParaRPr sz="20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756176" y="2981226"/>
            <a:ext cx="485330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110"/>
              </a:spcBef>
              <a:tabLst>
                <a:tab pos="719455" algn="l"/>
              </a:tabLst>
            </a:pPr>
            <a:r>
              <a:rPr dirty="0" sz="2050" spc="-50" b="1">
                <a:solidFill>
                  <a:srgbClr val="1C1C1C"/>
                </a:solidFill>
                <a:latin typeface="Arial"/>
                <a:cs typeface="Arial"/>
              </a:rPr>
              <a:t>A</a:t>
            </a:r>
            <a:r>
              <a:rPr dirty="0" sz="2050" b="1">
                <a:solidFill>
                  <a:srgbClr val="1C1C1C"/>
                </a:solidFill>
                <a:latin typeface="Arial"/>
                <a:cs typeface="Arial"/>
              </a:rPr>
              <a:t>	</a:t>
            </a:r>
            <a:r>
              <a:rPr dirty="0" sz="2050" spc="-90" b="1">
                <a:solidFill>
                  <a:srgbClr val="1C1C1C"/>
                </a:solidFill>
                <a:latin typeface="Arial"/>
                <a:cs typeface="Arial"/>
              </a:rPr>
              <a:t>Phasic</a:t>
            </a:r>
            <a:r>
              <a:rPr dirty="0" sz="2050" spc="-180" b="1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2050" spc="-70" b="1">
                <a:solidFill>
                  <a:srgbClr val="1C1C1C"/>
                </a:solidFill>
                <a:latin typeface="Arial"/>
                <a:cs typeface="Arial"/>
              </a:rPr>
              <a:t>Firing</a:t>
            </a:r>
            <a:r>
              <a:rPr dirty="0" sz="2050" spc="-125" b="1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2050" spc="-55" b="1">
                <a:solidFill>
                  <a:srgbClr val="1C1C1C"/>
                </a:solidFill>
                <a:latin typeface="Arial"/>
                <a:cs typeface="Arial"/>
              </a:rPr>
              <a:t>(Cue</a:t>
            </a:r>
            <a:r>
              <a:rPr dirty="0" sz="2050" spc="-140" b="1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1C1C1C"/>
                </a:solidFill>
                <a:latin typeface="Arial"/>
                <a:cs typeface="Arial"/>
              </a:rPr>
              <a:t>Response)</a:t>
            </a:r>
            <a:endParaRPr sz="20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981580" y="5114447"/>
            <a:ext cx="4429760" cy="63817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1800" spc="65">
                <a:solidFill>
                  <a:srgbClr val="333434"/>
                </a:solidFill>
                <a:latin typeface="Times New Roman"/>
                <a:cs typeface="Times New Roman"/>
              </a:rPr>
              <a:t>Rapid</a:t>
            </a:r>
            <a:r>
              <a:rPr dirty="0" sz="1800" spc="85">
                <a:solidFill>
                  <a:srgbClr val="33343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333434"/>
                </a:solidFill>
                <a:latin typeface="Times New Roman"/>
                <a:cs typeface="Times New Roman"/>
              </a:rPr>
              <a:t>bursts</a:t>
            </a:r>
            <a:r>
              <a:rPr dirty="0" sz="1800" spc="-105">
                <a:solidFill>
                  <a:srgbClr val="33343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333434"/>
                </a:solidFill>
                <a:latin typeface="Times New Roman"/>
                <a:cs typeface="Times New Roman"/>
              </a:rPr>
              <a:t>signal</a:t>
            </a:r>
            <a:r>
              <a:rPr dirty="0" sz="1800" spc="-40">
                <a:solidFill>
                  <a:srgbClr val="333434"/>
                </a:solidFill>
                <a:latin typeface="Times New Roman"/>
                <a:cs typeface="Times New Roman"/>
              </a:rPr>
              <a:t> </a:t>
            </a:r>
            <a:r>
              <a:rPr dirty="0" sz="1800" spc="50">
                <a:solidFill>
                  <a:srgbClr val="1C1C1C"/>
                </a:solidFill>
                <a:latin typeface="Times New Roman"/>
                <a:cs typeface="Times New Roman"/>
              </a:rPr>
              <a:t>'Reward</a:t>
            </a:r>
            <a:r>
              <a:rPr dirty="0" sz="1800" spc="19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333434"/>
                </a:solidFill>
                <a:latin typeface="Times New Roman"/>
                <a:cs typeface="Times New Roman"/>
              </a:rPr>
              <a:t>Prediction</a:t>
            </a:r>
            <a:r>
              <a:rPr dirty="0" sz="1800" spc="275">
                <a:solidFill>
                  <a:srgbClr val="333434"/>
                </a:solidFill>
                <a:latin typeface="Times New Roman"/>
                <a:cs typeface="Times New Roman"/>
              </a:rPr>
              <a:t> </a:t>
            </a:r>
            <a:r>
              <a:rPr dirty="0" sz="1800" spc="45">
                <a:solidFill>
                  <a:srgbClr val="333434"/>
                </a:solidFill>
                <a:latin typeface="Times New Roman"/>
                <a:cs typeface="Times New Roman"/>
              </a:rPr>
              <a:t>Error'.</a:t>
            </a:r>
            <a:endParaRPr sz="1800">
              <a:latin typeface="Times New Roman"/>
              <a:cs typeface="Times New Roman"/>
            </a:endParaRPr>
          </a:p>
          <a:p>
            <a:pPr algn="ctr" marR="13970">
              <a:lnSpc>
                <a:spcPct val="100000"/>
              </a:lnSpc>
              <a:spcBef>
                <a:spcPts val="250"/>
              </a:spcBef>
            </a:pPr>
            <a:r>
              <a:rPr dirty="0" sz="1800" spc="55">
                <a:solidFill>
                  <a:srgbClr val="333434"/>
                </a:solidFill>
                <a:latin typeface="Times New Roman"/>
                <a:cs typeface="Times New Roman"/>
              </a:rPr>
              <a:t>Stamps</a:t>
            </a:r>
            <a:r>
              <a:rPr dirty="0" sz="1800" spc="-160">
                <a:solidFill>
                  <a:srgbClr val="333434"/>
                </a:solidFill>
                <a:latin typeface="Times New Roman"/>
                <a:cs typeface="Times New Roman"/>
              </a:rPr>
              <a:t> </a:t>
            </a:r>
            <a:r>
              <a:rPr dirty="0" sz="1800" spc="70">
                <a:solidFill>
                  <a:srgbClr val="333434"/>
                </a:solidFill>
                <a:latin typeface="Times New Roman"/>
                <a:cs typeface="Times New Roman"/>
              </a:rPr>
              <a:t>in</a:t>
            </a:r>
            <a:r>
              <a:rPr dirty="0" sz="1800" spc="-185">
                <a:solidFill>
                  <a:srgbClr val="333434"/>
                </a:solidFill>
                <a:latin typeface="Times New Roman"/>
                <a:cs typeface="Times New Roman"/>
              </a:rPr>
              <a:t> </a:t>
            </a:r>
            <a:r>
              <a:rPr dirty="0" sz="1800" spc="105">
                <a:solidFill>
                  <a:srgbClr val="333434"/>
                </a:solidFill>
                <a:latin typeface="Times New Roman"/>
                <a:cs typeface="Times New Roman"/>
              </a:rPr>
              <a:t>drug</a:t>
            </a:r>
            <a:r>
              <a:rPr dirty="0" sz="1800" spc="-125">
                <a:solidFill>
                  <a:srgbClr val="333434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333434"/>
                </a:solidFill>
                <a:latin typeface="Times New Roman"/>
                <a:cs typeface="Times New Roman"/>
              </a:rPr>
              <a:t>memories.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913572" y="6003512"/>
            <a:ext cx="178435" cy="411480"/>
          </a:xfrm>
          <a:custGeom>
            <a:avLst/>
            <a:gdLst/>
            <a:ahLst/>
            <a:cxnLst/>
            <a:rect l="l" t="t" r="r" b="b"/>
            <a:pathLst>
              <a:path w="178434" h="411479">
                <a:moveTo>
                  <a:pt x="178316" y="411362"/>
                </a:moveTo>
                <a:lnTo>
                  <a:pt x="0" y="411362"/>
                </a:lnTo>
                <a:lnTo>
                  <a:pt x="0" y="0"/>
                </a:lnTo>
                <a:lnTo>
                  <a:pt x="178316" y="0"/>
                </a:lnTo>
                <a:lnTo>
                  <a:pt x="178316" y="411362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1900871" y="6006801"/>
            <a:ext cx="25146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95" b="1">
                <a:solidFill>
                  <a:srgbClr val="EFEFEF"/>
                </a:solidFill>
                <a:latin typeface="Arial"/>
                <a:cs typeface="Arial"/>
              </a:rPr>
              <a:t>B</a:t>
            </a:r>
            <a:endParaRPr sz="22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896793" y="6047953"/>
            <a:ext cx="2576195" cy="339725"/>
          </a:xfrm>
          <a:prstGeom prst="rect">
            <a:avLst/>
          </a:prstGeom>
          <a:solidFill>
            <a:srgbClr val="212121"/>
          </a:solidFill>
        </p:spPr>
        <p:txBody>
          <a:bodyPr wrap="square" lIns="0" tIns="107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dirty="0" sz="1950">
                <a:solidFill>
                  <a:srgbClr val="EFEFEF"/>
                </a:solidFill>
                <a:latin typeface="Arial"/>
                <a:cs typeface="Arial"/>
              </a:rPr>
              <a:t>Toni</a:t>
            </a:r>
            <a:r>
              <a:rPr dirty="0" sz="1950">
                <a:solidFill>
                  <a:srgbClr val="CACDCF"/>
                </a:solidFill>
                <a:latin typeface="Arial"/>
                <a:cs typeface="Arial"/>
              </a:rPr>
              <a:t>c</a:t>
            </a:r>
            <a:r>
              <a:rPr dirty="0" sz="1950" spc="25">
                <a:solidFill>
                  <a:srgbClr val="CACDCF"/>
                </a:solidFill>
                <a:latin typeface="Arial"/>
                <a:cs typeface="Arial"/>
              </a:rPr>
              <a:t> </a:t>
            </a:r>
            <a:r>
              <a:rPr dirty="0" sz="1950" spc="65">
                <a:solidFill>
                  <a:srgbClr val="EFEFEF"/>
                </a:solidFill>
                <a:latin typeface="Arial"/>
                <a:cs typeface="Arial"/>
              </a:rPr>
              <a:t>Firing</a:t>
            </a:r>
            <a:r>
              <a:rPr dirty="0" sz="1950" spc="-160">
                <a:solidFill>
                  <a:srgbClr val="EFEFEF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EFEFEF"/>
                </a:solidFill>
                <a:latin typeface="Arial"/>
                <a:cs typeface="Arial"/>
              </a:rPr>
              <a:t>(Baseline)</a:t>
            </a:r>
            <a:endParaRPr sz="19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307606" y="8094067"/>
            <a:ext cx="35306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88925" algn="l"/>
              </a:tabLst>
            </a:pPr>
            <a:r>
              <a:rPr dirty="0" u="heavy" sz="700">
                <a:solidFill>
                  <a:srgbClr val="607077"/>
                </a:solidFill>
                <a:uFill>
                  <a:solidFill>
                    <a:srgbClr val="607077"/>
                  </a:solidFill>
                </a:uFill>
                <a:latin typeface="Arial"/>
                <a:cs typeface="Arial"/>
              </a:rPr>
              <a:t>Jt</a:t>
            </a:r>
            <a:r>
              <a:rPr dirty="0" u="heavy" sz="700" spc="484">
                <a:solidFill>
                  <a:srgbClr val="607077"/>
                </a:solidFill>
                <a:uFill>
                  <a:solidFill>
                    <a:srgbClr val="607077"/>
                  </a:solidFill>
                </a:uFill>
                <a:latin typeface="Arial"/>
                <a:cs typeface="Arial"/>
              </a:rPr>
              <a:t> </a:t>
            </a:r>
            <a:r>
              <a:rPr dirty="0" u="none" sz="700">
                <a:solidFill>
                  <a:srgbClr val="607077"/>
                </a:solidFill>
                <a:latin typeface="Arial"/>
                <a:cs typeface="Arial"/>
              </a:rPr>
              <a:t>	</a:t>
            </a:r>
            <a:r>
              <a:rPr dirty="0" u="heavy" sz="700" spc="-50">
                <a:solidFill>
                  <a:srgbClr val="89959A"/>
                </a:solidFill>
                <a:uFill>
                  <a:solidFill>
                    <a:srgbClr val="89959A"/>
                  </a:solidFill>
                </a:uFill>
                <a:latin typeface="Arial"/>
                <a:cs typeface="Arial"/>
              </a:rPr>
              <a:t>[</a:t>
            </a:r>
            <a:r>
              <a:rPr dirty="0" u="heavy" sz="700" spc="500">
                <a:solidFill>
                  <a:srgbClr val="89959A"/>
                </a:solidFill>
                <a:uFill>
                  <a:solidFill>
                    <a:srgbClr val="89959A"/>
                  </a:solidFill>
                </a:uFill>
                <a:latin typeface="Arial"/>
                <a:cs typeface="Arial"/>
              </a:rPr>
              <a:t> </a:t>
            </a:r>
            <a:endParaRPr sz="7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4229036" y="8145063"/>
            <a:ext cx="106045" cy="51435"/>
          </a:xfrm>
          <a:custGeom>
            <a:avLst/>
            <a:gdLst/>
            <a:ahLst/>
            <a:cxnLst/>
            <a:rect l="l" t="t" r="r" b="b"/>
            <a:pathLst>
              <a:path w="106044" h="51434">
                <a:moveTo>
                  <a:pt x="29562" y="0"/>
                </a:moveTo>
                <a:lnTo>
                  <a:pt x="105983" y="0"/>
                </a:lnTo>
              </a:path>
              <a:path w="106044" h="51434">
                <a:moveTo>
                  <a:pt x="0" y="51064"/>
                </a:moveTo>
                <a:lnTo>
                  <a:pt x="25473" y="51064"/>
                </a:lnTo>
              </a:path>
            </a:pathLst>
          </a:custGeom>
          <a:ln w="12751">
            <a:solidFill>
              <a:srgbClr val="6070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14165529" y="7794062"/>
            <a:ext cx="2096135" cy="4318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10"/>
              </a:spcBef>
              <a:tabLst>
                <a:tab pos="500380" algn="l"/>
                <a:tab pos="1073150" algn="l"/>
                <a:tab pos="1981835" algn="l"/>
              </a:tabLst>
            </a:pPr>
            <a:r>
              <a:rPr dirty="0" baseline="-11695" sz="2850" spc="-37">
                <a:solidFill>
                  <a:srgbClr val="607077"/>
                </a:solidFill>
                <a:latin typeface="Arial"/>
                <a:cs typeface="Arial"/>
              </a:rPr>
              <a:t>,</a:t>
            </a:r>
            <a:r>
              <a:rPr dirty="0" sz="2650" spc="-25" b="1">
                <a:solidFill>
                  <a:srgbClr val="607077"/>
                </a:solidFill>
                <a:latin typeface="Times New Roman"/>
                <a:cs typeface="Times New Roman"/>
              </a:rPr>
              <a:t>l</a:t>
            </a:r>
            <a:r>
              <a:rPr dirty="0" sz="2650" b="1">
                <a:solidFill>
                  <a:srgbClr val="607077"/>
                </a:solidFill>
                <a:latin typeface="Times New Roman"/>
                <a:cs typeface="Times New Roman"/>
              </a:rPr>
              <a:t>	</a:t>
            </a:r>
            <a:r>
              <a:rPr dirty="0" u="heavy" sz="2650" spc="-50" b="1">
                <a:solidFill>
                  <a:srgbClr val="607077"/>
                </a:solidFill>
                <a:uFill>
                  <a:solidFill>
                    <a:srgbClr val="607077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none" sz="2650" b="1">
                <a:solidFill>
                  <a:srgbClr val="607077"/>
                </a:solidFill>
                <a:latin typeface="Times New Roman"/>
                <a:cs typeface="Times New Roman"/>
              </a:rPr>
              <a:t>	</a:t>
            </a:r>
            <a:r>
              <a:rPr dirty="0" u="heavy" sz="2400">
                <a:solidFill>
                  <a:srgbClr val="89959A"/>
                </a:solidFill>
                <a:uFill>
                  <a:solidFill>
                    <a:srgbClr val="89959A"/>
                  </a:solidFill>
                </a:uFill>
                <a:latin typeface="Arial"/>
                <a:cs typeface="Arial"/>
              </a:rPr>
              <a:t>r</a:t>
            </a:r>
            <a:r>
              <a:rPr dirty="0" u="heavy" sz="2400" spc="30">
                <a:solidFill>
                  <a:srgbClr val="89959A"/>
                </a:solidFill>
                <a:uFill>
                  <a:solidFill>
                    <a:srgbClr val="89959A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400" spc="-25">
                <a:solidFill>
                  <a:srgbClr val="607077"/>
                </a:solidFill>
                <a:uFill>
                  <a:solidFill>
                    <a:srgbClr val="89959A"/>
                  </a:solidFill>
                </a:uFill>
                <a:latin typeface="Arial"/>
                <a:cs typeface="Arial"/>
              </a:rPr>
              <a:t>1</a:t>
            </a:r>
            <a:r>
              <a:rPr dirty="0" u="heavy" sz="2400" spc="-25">
                <a:solidFill>
                  <a:srgbClr val="89959A"/>
                </a:solidFill>
                <a:uFill>
                  <a:solidFill>
                    <a:srgbClr val="89959A"/>
                  </a:solidFill>
                </a:uFill>
                <a:latin typeface="Arial"/>
                <a:cs typeface="Arial"/>
              </a:rPr>
              <a:t>1</a:t>
            </a:r>
            <a:r>
              <a:rPr dirty="0" u="heavy" sz="2650" spc="-25" b="1">
                <a:solidFill>
                  <a:srgbClr val="607077"/>
                </a:solidFill>
                <a:uFill>
                  <a:solidFill>
                    <a:srgbClr val="607077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none" sz="2650" b="1">
                <a:solidFill>
                  <a:srgbClr val="607077"/>
                </a:solidFill>
                <a:latin typeface="Times New Roman"/>
                <a:cs typeface="Times New Roman"/>
              </a:rPr>
              <a:t>	</a:t>
            </a:r>
            <a:r>
              <a:rPr dirty="0" u="heavy" sz="2400" spc="-50">
                <a:solidFill>
                  <a:srgbClr val="607077"/>
                </a:solidFill>
                <a:uFill>
                  <a:solidFill>
                    <a:srgbClr val="607077"/>
                  </a:solidFill>
                </a:uFill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4938534" y="8196127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73" y="0"/>
                </a:lnTo>
              </a:path>
            </a:pathLst>
          </a:custGeom>
          <a:ln w="12766">
            <a:solidFill>
              <a:srgbClr val="89959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4938526" y="7940873"/>
            <a:ext cx="2794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900" spc="-459">
                <a:solidFill>
                  <a:srgbClr val="89959A"/>
                </a:solidFill>
                <a:latin typeface="Arial"/>
                <a:cs typeface="Arial"/>
              </a:rPr>
              <a:t>I</a:t>
            </a:r>
            <a:endParaRPr sz="1900"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33434"/>
                </a:solidFill>
              </a:rPr>
              <a:t>Isl\</a:t>
            </a:r>
            <a:r>
              <a:rPr dirty="0" sz="1300" spc="-45">
                <a:solidFill>
                  <a:srgbClr val="333434"/>
                </a:solidFill>
              </a:rPr>
              <a:t> </a:t>
            </a:r>
            <a:r>
              <a:rPr dirty="0" spc="-10">
                <a:solidFill>
                  <a:srgbClr val="1C1C1C"/>
                </a:solidFill>
              </a:rPr>
              <a:t>NotebookLM</a:t>
            </a:r>
            <a:endParaRPr sz="1300"/>
          </a:p>
        </p:txBody>
      </p:sp>
      <p:sp>
        <p:nvSpPr>
          <p:cNvPr id="48" name="object 48"/>
          <p:cNvSpPr txBox="1"/>
          <p:nvPr/>
        </p:nvSpPr>
        <p:spPr>
          <a:xfrm>
            <a:off x="12108949" y="8561308"/>
            <a:ext cx="4161154" cy="61277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1C1C1C"/>
                </a:solidFill>
                <a:latin typeface="Times New Roman"/>
                <a:cs typeface="Times New Roman"/>
              </a:rPr>
              <a:t>Dopaminergic</a:t>
            </a:r>
            <a:r>
              <a:rPr dirty="0" sz="1800" spc="215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1800" spc="50">
                <a:solidFill>
                  <a:srgbClr val="333434"/>
                </a:solidFill>
                <a:latin typeface="Times New Roman"/>
                <a:cs typeface="Times New Roman"/>
              </a:rPr>
              <a:t>Hypofunction</a:t>
            </a:r>
            <a:r>
              <a:rPr dirty="0" sz="1800" spc="409">
                <a:solidFill>
                  <a:srgbClr val="333434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333434"/>
                </a:solidFill>
                <a:latin typeface="Times New Roman"/>
                <a:cs typeface="Times New Roman"/>
              </a:rPr>
              <a:t>(Anhedonia).</a:t>
            </a:r>
            <a:endParaRPr sz="1800">
              <a:latin typeface="Times New Roman"/>
              <a:cs typeface="Times New Roman"/>
            </a:endParaRPr>
          </a:p>
          <a:p>
            <a:pPr algn="ctr" marL="5080">
              <a:lnSpc>
                <a:spcPct val="100000"/>
              </a:lnSpc>
              <a:spcBef>
                <a:spcPts val="150"/>
              </a:spcBef>
            </a:pPr>
            <a:r>
              <a:rPr dirty="0" sz="1800" spc="70">
                <a:solidFill>
                  <a:srgbClr val="333434"/>
                </a:solidFill>
                <a:latin typeface="Times New Roman"/>
                <a:cs typeface="Times New Roman"/>
              </a:rPr>
              <a:t>Chronic</a:t>
            </a:r>
            <a:r>
              <a:rPr dirty="0" sz="1800" spc="-105">
                <a:solidFill>
                  <a:srgbClr val="333434"/>
                </a:solidFill>
                <a:latin typeface="Times New Roman"/>
                <a:cs typeface="Times New Roman"/>
              </a:rPr>
              <a:t> </a:t>
            </a:r>
            <a:r>
              <a:rPr dirty="0" sz="1800" spc="50">
                <a:solidFill>
                  <a:srgbClr val="333434"/>
                </a:solidFill>
                <a:latin typeface="Times New Roman"/>
                <a:cs typeface="Times New Roman"/>
              </a:rPr>
              <a:t>reduction</a:t>
            </a:r>
            <a:r>
              <a:rPr dirty="0" sz="1800" spc="-60">
                <a:solidFill>
                  <a:srgbClr val="333434"/>
                </a:solidFill>
                <a:latin typeface="Times New Roman"/>
                <a:cs typeface="Times New Roman"/>
              </a:rPr>
              <a:t> </a:t>
            </a:r>
            <a:r>
              <a:rPr dirty="0" sz="1800" spc="70">
                <a:solidFill>
                  <a:srgbClr val="333434"/>
                </a:solidFill>
                <a:latin typeface="Times New Roman"/>
                <a:cs typeface="Times New Roman"/>
              </a:rPr>
              <a:t>in</a:t>
            </a:r>
            <a:r>
              <a:rPr dirty="0" sz="1800" spc="-60">
                <a:solidFill>
                  <a:srgbClr val="333434"/>
                </a:solidFill>
                <a:latin typeface="Times New Roman"/>
                <a:cs typeface="Times New Roman"/>
              </a:rPr>
              <a:t> </a:t>
            </a:r>
            <a:r>
              <a:rPr dirty="0" sz="1800" spc="110">
                <a:solidFill>
                  <a:srgbClr val="333434"/>
                </a:solidFill>
                <a:latin typeface="Times New Roman"/>
                <a:cs typeface="Times New Roman"/>
              </a:rPr>
              <a:t>D2</a:t>
            </a:r>
            <a:r>
              <a:rPr dirty="0" sz="1800" spc="-50">
                <a:solidFill>
                  <a:srgbClr val="333434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333434"/>
                </a:solidFill>
                <a:latin typeface="Times New Roman"/>
                <a:cs typeface="Times New Roman"/>
              </a:rPr>
              <a:t>receptors.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5192" y="3242865"/>
            <a:ext cx="407581" cy="22979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56253" y="3932237"/>
            <a:ext cx="484002" cy="25532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986352" y="4391818"/>
            <a:ext cx="5808345" cy="2094230"/>
            <a:chOff x="5986352" y="4391818"/>
            <a:chExt cx="5808345" cy="209423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86352" y="4391818"/>
              <a:ext cx="5808035" cy="20936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93933" y="5310981"/>
              <a:ext cx="433055" cy="7659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70581" y="6945048"/>
            <a:ext cx="484002" cy="255322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387716" y="2936477"/>
            <a:ext cx="0" cy="3600450"/>
          </a:xfrm>
          <a:custGeom>
            <a:avLst/>
            <a:gdLst/>
            <a:ahLst/>
            <a:cxnLst/>
            <a:rect l="l" t="t" r="r" b="b"/>
            <a:pathLst>
              <a:path w="0" h="3600450">
                <a:moveTo>
                  <a:pt x="0" y="3600051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737526" y="6766319"/>
            <a:ext cx="0" cy="511175"/>
          </a:xfrm>
          <a:custGeom>
            <a:avLst/>
            <a:gdLst/>
            <a:ahLst/>
            <a:cxnLst/>
            <a:rect l="l" t="t" r="r" b="b"/>
            <a:pathLst>
              <a:path w="0"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724789" y="2655622"/>
            <a:ext cx="0" cy="996315"/>
          </a:xfrm>
          <a:custGeom>
            <a:avLst/>
            <a:gdLst/>
            <a:ahLst/>
            <a:cxnLst/>
            <a:rect l="l" t="t" r="r" b="b"/>
            <a:pathLst>
              <a:path w="0" h="996314">
                <a:moveTo>
                  <a:pt x="0" y="99575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36845" y="2068379"/>
            <a:ext cx="16252825" cy="0"/>
          </a:xfrm>
          <a:custGeom>
            <a:avLst/>
            <a:gdLst/>
            <a:ahLst/>
            <a:cxnLst/>
            <a:rect l="l" t="t" r="r" b="b"/>
            <a:pathLst>
              <a:path w="16252825" h="0">
                <a:moveTo>
                  <a:pt x="0" y="0"/>
                </a:moveTo>
                <a:lnTo>
                  <a:pt x="16252309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362243" y="6242908"/>
            <a:ext cx="459105" cy="0"/>
          </a:xfrm>
          <a:custGeom>
            <a:avLst/>
            <a:gdLst/>
            <a:ahLst/>
            <a:cxnLst/>
            <a:rect l="l" t="t" r="r" b="b"/>
            <a:pathLst>
              <a:path w="459104" h="0">
                <a:moveTo>
                  <a:pt x="0" y="0"/>
                </a:moveTo>
                <a:lnTo>
                  <a:pt x="45852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285821" y="8540813"/>
            <a:ext cx="7056755" cy="0"/>
          </a:xfrm>
          <a:custGeom>
            <a:avLst/>
            <a:gdLst/>
            <a:ahLst/>
            <a:cxnLst/>
            <a:rect l="l" t="t" r="r" b="b"/>
            <a:pathLst>
              <a:path w="7056755" h="0">
                <a:moveTo>
                  <a:pt x="0" y="0"/>
                </a:moveTo>
                <a:lnTo>
                  <a:pt x="7056253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621190" y="332250"/>
            <a:ext cx="12832715" cy="163703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6325"/>
              </a:lnSpc>
              <a:spcBef>
                <a:spcPts val="130"/>
              </a:spcBef>
            </a:pPr>
            <a:r>
              <a:rPr dirty="0" sz="5600" spc="-110">
                <a:solidFill>
                  <a:srgbClr val="111111"/>
                </a:solidFill>
              </a:rPr>
              <a:t>The</a:t>
            </a:r>
            <a:r>
              <a:rPr dirty="0" sz="5600" spc="-285">
                <a:solidFill>
                  <a:srgbClr val="111111"/>
                </a:solidFill>
              </a:rPr>
              <a:t> </a:t>
            </a:r>
            <a:r>
              <a:rPr dirty="0" sz="5600" spc="-125">
                <a:solidFill>
                  <a:srgbClr val="111111"/>
                </a:solidFill>
              </a:rPr>
              <a:t>Allostatic</a:t>
            </a:r>
            <a:r>
              <a:rPr dirty="0" sz="5600" spc="-225">
                <a:solidFill>
                  <a:srgbClr val="111111"/>
                </a:solidFill>
              </a:rPr>
              <a:t> </a:t>
            </a:r>
            <a:r>
              <a:rPr dirty="0" sz="5600" spc="-10">
                <a:solidFill>
                  <a:srgbClr val="111111"/>
                </a:solidFill>
              </a:rPr>
              <a:t>Shift:</a:t>
            </a:r>
            <a:endParaRPr sz="5600"/>
          </a:p>
          <a:p>
            <a:pPr marL="13970">
              <a:lnSpc>
                <a:spcPts val="6325"/>
              </a:lnSpc>
            </a:pPr>
            <a:r>
              <a:rPr dirty="0" sz="5600" spc="-114">
                <a:solidFill>
                  <a:srgbClr val="111111"/>
                </a:solidFill>
              </a:rPr>
              <a:t>Recruitment</a:t>
            </a:r>
            <a:r>
              <a:rPr dirty="0" sz="5600" spc="-275">
                <a:solidFill>
                  <a:srgbClr val="111111"/>
                </a:solidFill>
              </a:rPr>
              <a:t> </a:t>
            </a:r>
            <a:r>
              <a:rPr dirty="0" sz="5600">
                <a:solidFill>
                  <a:srgbClr val="111111"/>
                </a:solidFill>
              </a:rPr>
              <a:t>of</a:t>
            </a:r>
            <a:r>
              <a:rPr dirty="0" sz="5600" spc="-385">
                <a:solidFill>
                  <a:srgbClr val="111111"/>
                </a:solidFill>
              </a:rPr>
              <a:t> </a:t>
            </a:r>
            <a:r>
              <a:rPr dirty="0" sz="5600" spc="-90">
                <a:solidFill>
                  <a:srgbClr val="111111"/>
                </a:solidFill>
              </a:rPr>
              <a:t>the</a:t>
            </a:r>
            <a:r>
              <a:rPr dirty="0" sz="5600" spc="-315">
                <a:solidFill>
                  <a:srgbClr val="111111"/>
                </a:solidFill>
              </a:rPr>
              <a:t> </a:t>
            </a:r>
            <a:r>
              <a:rPr dirty="0" sz="5600" spc="-165">
                <a:solidFill>
                  <a:srgbClr val="111111"/>
                </a:solidFill>
              </a:rPr>
              <a:t>Anti-</a:t>
            </a:r>
            <a:r>
              <a:rPr dirty="0" sz="5600" spc="-100">
                <a:solidFill>
                  <a:srgbClr val="111111"/>
                </a:solidFill>
              </a:rPr>
              <a:t>Reward</a:t>
            </a:r>
            <a:r>
              <a:rPr dirty="0" sz="5600" spc="-15">
                <a:solidFill>
                  <a:srgbClr val="111111"/>
                </a:solidFill>
              </a:rPr>
              <a:t> </a:t>
            </a:r>
            <a:r>
              <a:rPr dirty="0" sz="5600" spc="-110">
                <a:solidFill>
                  <a:srgbClr val="111111"/>
                </a:solidFill>
              </a:rPr>
              <a:t>System</a:t>
            </a:r>
            <a:endParaRPr sz="5600"/>
          </a:p>
        </p:txBody>
      </p:sp>
      <p:sp>
        <p:nvSpPr>
          <p:cNvPr id="15" name="object 15"/>
          <p:cNvSpPr txBox="1"/>
          <p:nvPr/>
        </p:nvSpPr>
        <p:spPr>
          <a:xfrm>
            <a:off x="600519" y="2579091"/>
            <a:ext cx="3190875" cy="13944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20675" indent="-307975">
              <a:lnSpc>
                <a:spcPts val="3960"/>
              </a:lnSpc>
              <a:spcBef>
                <a:spcPts val="114"/>
              </a:spcBef>
              <a:buFont typeface="Arial"/>
              <a:buChar char="•"/>
              <a:tabLst>
                <a:tab pos="320675" algn="l"/>
              </a:tabLst>
            </a:pPr>
            <a:r>
              <a:rPr dirty="0" sz="3500" spc="-10" b="1">
                <a:solidFill>
                  <a:srgbClr val="111111"/>
                </a:solidFill>
                <a:latin typeface="Arial"/>
                <a:cs typeface="Arial"/>
              </a:rPr>
              <a:t>Concept:</a:t>
            </a:r>
            <a:endParaRPr sz="3500">
              <a:latin typeface="Arial"/>
              <a:cs typeface="Arial"/>
            </a:endParaRPr>
          </a:p>
          <a:p>
            <a:pPr marL="335280" marR="5080" indent="-635">
              <a:lnSpc>
                <a:spcPts val="3320"/>
              </a:lnSpc>
              <a:spcBef>
                <a:spcPts val="204"/>
              </a:spcBef>
            </a:pPr>
            <a:r>
              <a:rPr dirty="0" sz="3100" spc="-204">
                <a:solidFill>
                  <a:srgbClr val="111111"/>
                </a:solidFill>
                <a:latin typeface="Times New Roman"/>
                <a:cs typeface="Times New Roman"/>
              </a:rPr>
              <a:t>Based</a:t>
            </a:r>
            <a:r>
              <a:rPr dirty="0" sz="3100" spc="-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100" spc="-25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sz="3100" spc="-2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100" spc="-95">
                <a:solidFill>
                  <a:srgbClr val="111111"/>
                </a:solidFill>
                <a:latin typeface="Times New Roman"/>
                <a:cs typeface="Times New Roman"/>
              </a:rPr>
              <a:t>Opponent </a:t>
            </a:r>
            <a:r>
              <a:rPr dirty="0" sz="3100" spc="-155">
                <a:solidFill>
                  <a:srgbClr val="111111"/>
                </a:solidFill>
                <a:latin typeface="Times New Roman"/>
                <a:cs typeface="Times New Roman"/>
              </a:rPr>
              <a:t>Process</a:t>
            </a:r>
            <a:r>
              <a:rPr dirty="0" sz="3100" spc="-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100" spc="-10">
                <a:solidFill>
                  <a:srgbClr val="111111"/>
                </a:solidFill>
                <a:latin typeface="Times New Roman"/>
                <a:cs typeface="Times New Roman"/>
              </a:rPr>
              <a:t>Theory.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88551" y="3734427"/>
            <a:ext cx="300355" cy="707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450" spc="-50">
                <a:solidFill>
                  <a:srgbClr val="111111"/>
                </a:solidFill>
                <a:latin typeface="Times New Roman"/>
                <a:cs typeface="Times New Roman"/>
              </a:rPr>
              <a:t>u</a:t>
            </a:r>
            <a:endParaRPr sz="4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32398" y="4302522"/>
            <a:ext cx="217804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solidFill>
                  <a:srgbClr val="111111"/>
                </a:solidFill>
                <a:latin typeface="Arial"/>
                <a:cs typeface="Arial"/>
              </a:rPr>
              <a:t>Q)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23045" y="4411033"/>
            <a:ext cx="262255" cy="4165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-635">
                <a:solidFill>
                  <a:srgbClr val="111111"/>
                </a:solidFill>
                <a:latin typeface="Arial"/>
                <a:cs typeface="Arial"/>
              </a:rPr>
              <a:t>�</a:t>
            </a:r>
            <a:endParaRPr sz="25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0519" y="4723804"/>
            <a:ext cx="3838575" cy="2670810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314325" marR="5080" indent="-302260">
              <a:lnSpc>
                <a:spcPct val="89300"/>
              </a:lnSpc>
              <a:spcBef>
                <a:spcPts val="565"/>
              </a:spcBef>
              <a:buFont typeface="Arial"/>
              <a:buChar char="•"/>
              <a:tabLst>
                <a:tab pos="314325" algn="l"/>
                <a:tab pos="321945" algn="l"/>
              </a:tabLst>
            </a:pPr>
            <a:r>
              <a:rPr dirty="0" sz="350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dirty="0" sz="3500" spc="-50" b="1">
                <a:solidFill>
                  <a:srgbClr val="111111"/>
                </a:solidFill>
                <a:latin typeface="Arial"/>
                <a:cs typeface="Arial"/>
              </a:rPr>
              <a:t>Mechanism: </a:t>
            </a:r>
            <a:r>
              <a:rPr dirty="0" sz="3100" spc="-125">
                <a:solidFill>
                  <a:srgbClr val="111111"/>
                </a:solidFill>
                <a:latin typeface="Times New Roman"/>
                <a:cs typeface="Times New Roman"/>
              </a:rPr>
              <a:t>Recruitment</a:t>
            </a:r>
            <a:r>
              <a:rPr dirty="0" sz="310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100" spc="-25">
                <a:solidFill>
                  <a:srgbClr val="111111"/>
                </a:solidFill>
                <a:latin typeface="Times New Roman"/>
                <a:cs typeface="Times New Roman"/>
              </a:rPr>
              <a:t>of </a:t>
            </a:r>
            <a:r>
              <a:rPr dirty="0" sz="3100" spc="-110">
                <a:solidFill>
                  <a:srgbClr val="111111"/>
                </a:solidFill>
                <a:latin typeface="Times New Roman"/>
                <a:cs typeface="Times New Roman"/>
              </a:rPr>
              <a:t>Corticotropin-</a:t>
            </a:r>
            <a:r>
              <a:rPr dirty="0" sz="3100" spc="-105">
                <a:solidFill>
                  <a:srgbClr val="111111"/>
                </a:solidFill>
                <a:latin typeface="Times New Roman"/>
                <a:cs typeface="Times New Roman"/>
              </a:rPr>
              <a:t>Releasing </a:t>
            </a:r>
            <a:r>
              <a:rPr dirty="0" sz="3100" spc="-155">
                <a:solidFill>
                  <a:srgbClr val="111111"/>
                </a:solidFill>
                <a:latin typeface="Times New Roman"/>
                <a:cs typeface="Times New Roman"/>
              </a:rPr>
              <a:t>Factor</a:t>
            </a:r>
            <a:r>
              <a:rPr dirty="0" sz="3100" spc="-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100" spc="-204">
                <a:solidFill>
                  <a:srgbClr val="111111"/>
                </a:solidFill>
                <a:latin typeface="Times New Roman"/>
                <a:cs typeface="Times New Roman"/>
              </a:rPr>
              <a:t>(CRF)</a:t>
            </a:r>
            <a:r>
              <a:rPr dirty="0" sz="3100" spc="-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100" spc="-25">
                <a:solidFill>
                  <a:srgbClr val="111111"/>
                </a:solidFill>
                <a:latin typeface="Times New Roman"/>
                <a:cs typeface="Times New Roman"/>
              </a:rPr>
              <a:t>and </a:t>
            </a:r>
            <a:r>
              <a:rPr dirty="0" sz="3100" spc="-125">
                <a:solidFill>
                  <a:srgbClr val="111111"/>
                </a:solidFill>
                <a:latin typeface="Times New Roman"/>
                <a:cs typeface="Times New Roman"/>
              </a:rPr>
              <a:t>Dynorphin</a:t>
            </a:r>
            <a:r>
              <a:rPr dirty="0" sz="3100" spc="-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dirty="0" sz="2850" spc="7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100" spc="-25">
                <a:solidFill>
                  <a:srgbClr val="111111"/>
                </a:solidFill>
                <a:latin typeface="Times New Roman"/>
                <a:cs typeface="Times New Roman"/>
              </a:rPr>
              <a:t>the </a:t>
            </a:r>
            <a:r>
              <a:rPr dirty="0" sz="3100" spc="-114">
                <a:solidFill>
                  <a:srgbClr val="111111"/>
                </a:solidFill>
                <a:latin typeface="Times New Roman"/>
                <a:cs typeface="Times New Roman"/>
              </a:rPr>
              <a:t>extended</a:t>
            </a:r>
            <a:r>
              <a:rPr dirty="0" sz="3100" spc="-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100" spc="-50">
                <a:solidFill>
                  <a:srgbClr val="111111"/>
                </a:solidFill>
                <a:latin typeface="Times New Roman"/>
                <a:cs typeface="Times New Roman"/>
              </a:rPr>
              <a:t>amygdala.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07920" y="4723804"/>
            <a:ext cx="336550" cy="561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0" spc="-1000">
                <a:solidFill>
                  <a:srgbClr val="111111"/>
                </a:solidFill>
                <a:latin typeface="Arial"/>
                <a:cs typeface="Arial"/>
              </a:rPr>
              <a:t>�</a:t>
            </a:r>
            <a:endParaRPr sz="35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60249" y="5656460"/>
            <a:ext cx="577215" cy="0"/>
          </a:xfrm>
          <a:custGeom>
            <a:avLst/>
            <a:gdLst/>
            <a:ahLst/>
            <a:cxnLst/>
            <a:rect l="l" t="t" r="r" b="b"/>
            <a:pathLst>
              <a:path w="577214" h="0">
                <a:moveTo>
                  <a:pt x="0" y="0"/>
                </a:moveTo>
                <a:lnTo>
                  <a:pt x="576696" y="0"/>
                </a:lnTo>
              </a:path>
            </a:pathLst>
          </a:custGeom>
          <a:ln w="15793">
            <a:solidFill>
              <a:srgbClr val="4E23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784787" y="5170620"/>
            <a:ext cx="2414270" cy="5003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79425" algn="l"/>
                <a:tab pos="1243330" algn="l"/>
              </a:tabLst>
            </a:pPr>
            <a:r>
              <a:rPr dirty="0" sz="3100" spc="-330">
                <a:solidFill>
                  <a:srgbClr val="111111"/>
                </a:solidFill>
                <a:latin typeface="Times New Roman"/>
                <a:cs typeface="Times New Roman"/>
              </a:rPr>
              <a:t>�</a:t>
            </a:r>
            <a:r>
              <a:rPr dirty="0" sz="3100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dirty="0" sz="3100" spc="-50">
                <a:solidFill>
                  <a:srgbClr val="4F2421"/>
                </a:solidFill>
                <a:latin typeface="Times New Roman"/>
                <a:cs typeface="Times New Roman"/>
              </a:rPr>
              <a:t>,</a:t>
            </a:r>
            <a:r>
              <a:rPr dirty="0" sz="3100">
                <a:solidFill>
                  <a:srgbClr val="4F2421"/>
                </a:solidFill>
                <a:latin typeface="Times New Roman"/>
                <a:cs typeface="Times New Roman"/>
              </a:rPr>
              <a:t>	</a:t>
            </a:r>
            <a:r>
              <a:rPr dirty="0" sz="3100" spc="-175">
                <a:solidFill>
                  <a:srgbClr val="212323"/>
                </a:solidFill>
                <a:latin typeface="Times New Roman"/>
                <a:cs typeface="Times New Roman"/>
              </a:rPr>
              <a:t>,.....</a:t>
            </a:r>
            <a:r>
              <a:rPr dirty="0" sz="3100" spc="-175">
                <a:solidFill>
                  <a:srgbClr val="8E2D26"/>
                </a:solidFill>
                <a:latin typeface="Times New Roman"/>
                <a:cs typeface="Times New Roman"/>
              </a:rPr>
              <a:t>�</a:t>
            </a:r>
            <a:r>
              <a:rPr dirty="0" sz="3100" spc="-175">
                <a:solidFill>
                  <a:srgbClr val="111111"/>
                </a:solidFill>
                <a:latin typeface="Times New Roman"/>
                <a:cs typeface="Times New Roman"/>
              </a:rPr>
              <a:t>_,,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16311" y="5655733"/>
            <a:ext cx="394970" cy="669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18518" sz="6300" spc="-1935">
                <a:solidFill>
                  <a:srgbClr val="111111"/>
                </a:solidFill>
                <a:latin typeface="Times New Roman"/>
                <a:cs typeface="Times New Roman"/>
              </a:rPr>
              <a:t>-</a:t>
            </a:r>
            <a:r>
              <a:rPr dirty="0" sz="3600" spc="-365">
                <a:solidFill>
                  <a:srgbClr val="111111"/>
                </a:solidFill>
                <a:latin typeface="Times New Roman"/>
                <a:cs typeface="Times New Roman"/>
              </a:rPr>
              <a:t>.</a:t>
            </a:r>
            <a:r>
              <a:rPr dirty="0" sz="3600" spc="-490">
                <a:solidFill>
                  <a:srgbClr val="111111"/>
                </a:solidFill>
                <a:latin typeface="Times New Roman"/>
                <a:cs typeface="Times New Roman"/>
              </a:rPr>
              <a:t>.</a:t>
            </a:r>
            <a:r>
              <a:rPr dirty="0" baseline="18518" sz="6300" spc="-3584">
                <a:solidFill>
                  <a:srgbClr val="111111"/>
                </a:solidFill>
                <a:latin typeface="Times New Roman"/>
                <a:cs typeface="Times New Roman"/>
              </a:rPr>
              <a:t>g</a:t>
            </a:r>
            <a:r>
              <a:rPr dirty="0" sz="3600" spc="-365">
                <a:solidFill>
                  <a:srgbClr val="111111"/>
                </a:solidFill>
                <a:latin typeface="Times New Roman"/>
                <a:cs typeface="Times New Roman"/>
              </a:rPr>
              <a:t>...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93180" y="5968504"/>
            <a:ext cx="306705" cy="4927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3050" spc="-130">
                <a:solidFill>
                  <a:srgbClr val="111111"/>
                </a:solidFill>
                <a:latin typeface="Arial"/>
                <a:cs typeface="Arial"/>
              </a:rPr>
              <a:t>·</a:t>
            </a:r>
            <a:r>
              <a:rPr dirty="0" baseline="-27027" sz="2775" spc="-2129" b="1">
                <a:solidFill>
                  <a:srgbClr val="111111"/>
                </a:solidFill>
                <a:latin typeface="Times New Roman"/>
                <a:cs typeface="Times New Roman"/>
              </a:rPr>
              <a:t>C</a:t>
            </a:r>
            <a:r>
              <a:rPr dirty="0" sz="3050" spc="-100">
                <a:solidFill>
                  <a:srgbClr val="111111"/>
                </a:solidFill>
                <a:latin typeface="Arial"/>
                <a:cs typeface="Arial"/>
              </a:rPr>
              <a:t>-</a:t>
            </a:r>
            <a:endParaRPr sz="30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03805" y="3434423"/>
            <a:ext cx="2066289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-70">
                <a:solidFill>
                  <a:srgbClr val="111111"/>
                </a:solidFill>
                <a:latin typeface="Arial"/>
                <a:cs typeface="Arial"/>
              </a:rPr>
              <a:t>Positive</a:t>
            </a:r>
            <a:r>
              <a:rPr dirty="0" sz="2700" spc="-65">
                <a:solidFill>
                  <a:srgbClr val="111111"/>
                </a:solidFill>
                <a:latin typeface="Arial"/>
                <a:cs typeface="Arial"/>
              </a:rPr>
              <a:t> Affect</a:t>
            </a:r>
            <a:endParaRPr sz="2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43354" y="6830218"/>
            <a:ext cx="37020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150" i="1">
                <a:solidFill>
                  <a:srgbClr val="111111"/>
                </a:solidFill>
                <a:latin typeface="Verdana"/>
                <a:cs typeface="Verdana"/>
              </a:rPr>
              <a:t>�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25884" y="6345105"/>
            <a:ext cx="3109595" cy="9245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4010"/>
              </a:lnSpc>
              <a:spcBef>
                <a:spcPts val="114"/>
              </a:spcBef>
              <a:tabLst>
                <a:tab pos="726440" algn="l"/>
              </a:tabLst>
            </a:pPr>
            <a:r>
              <a:rPr dirty="0" sz="3500" spc="-710">
                <a:solidFill>
                  <a:srgbClr val="111111"/>
                </a:solidFill>
                <a:latin typeface="Arial"/>
                <a:cs typeface="Arial"/>
              </a:rPr>
              <a:t>g&gt;</a:t>
            </a:r>
            <a:r>
              <a:rPr dirty="0" sz="350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dirty="0" sz="2700" spc="-85">
                <a:solidFill>
                  <a:srgbClr val="111111"/>
                </a:solidFill>
                <a:latin typeface="Arial"/>
                <a:cs typeface="Arial"/>
              </a:rPr>
              <a:t>Negative</a:t>
            </a:r>
            <a:r>
              <a:rPr dirty="0" sz="2700" spc="-5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700" spc="-85">
                <a:solidFill>
                  <a:srgbClr val="111111"/>
                </a:solidFill>
                <a:latin typeface="Arial"/>
                <a:cs typeface="Arial"/>
              </a:rPr>
              <a:t>Affect</a:t>
            </a:r>
            <a:r>
              <a:rPr dirty="0" sz="2700" spc="-7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750" spc="-415" i="1">
                <a:solidFill>
                  <a:srgbClr val="212323"/>
                </a:solidFill>
                <a:latin typeface="Verdana"/>
                <a:cs typeface="Verdana"/>
              </a:rPr>
              <a:t>I</a:t>
            </a:r>
            <a:endParaRPr sz="2750">
              <a:latin typeface="Verdana"/>
              <a:cs typeface="Verdana"/>
            </a:endParaRPr>
          </a:p>
          <a:p>
            <a:pPr marL="1104900">
              <a:lnSpc>
                <a:spcPts val="3050"/>
              </a:lnSpc>
            </a:pPr>
            <a:r>
              <a:rPr dirty="0" sz="2700" spc="-10">
                <a:solidFill>
                  <a:srgbClr val="111111"/>
                </a:solidFill>
                <a:latin typeface="Arial"/>
                <a:cs typeface="Arial"/>
              </a:rPr>
              <a:t>Withdrawal</a:t>
            </a:r>
            <a:endParaRPr sz="27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520391" y="2681154"/>
            <a:ext cx="4330700" cy="4110990"/>
          </a:xfrm>
          <a:prstGeom prst="rect">
            <a:avLst/>
          </a:prstGeom>
          <a:ln w="50947">
            <a:solidFill>
              <a:srgbClr val="000000"/>
            </a:solidFill>
          </a:ln>
        </p:spPr>
        <p:txBody>
          <a:bodyPr wrap="square" lIns="0" tIns="180340" rIns="0" bIns="0" rtlCol="0" vert="horz">
            <a:spAutoFit/>
          </a:bodyPr>
          <a:lstStyle/>
          <a:p>
            <a:pPr marL="233045">
              <a:lnSpc>
                <a:spcPct val="100000"/>
              </a:lnSpc>
              <a:spcBef>
                <a:spcPts val="1420"/>
              </a:spcBef>
            </a:pPr>
            <a:r>
              <a:rPr dirty="0" sz="3000" b="1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dirty="0" sz="3000" spc="-21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35" b="1">
                <a:solidFill>
                  <a:srgbClr val="111111"/>
                </a:solidFill>
                <a:latin typeface="Arial"/>
                <a:cs typeface="Arial"/>
              </a:rPr>
              <a:t>Motivational</a:t>
            </a:r>
            <a:r>
              <a:rPr dirty="0" sz="3000" spc="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0" b="1">
                <a:solidFill>
                  <a:srgbClr val="111111"/>
                </a:solidFill>
                <a:latin typeface="Arial"/>
                <a:cs typeface="Arial"/>
              </a:rPr>
              <a:t>Shift</a:t>
            </a:r>
            <a:endParaRPr sz="3000">
              <a:latin typeface="Arial"/>
              <a:cs typeface="Arial"/>
            </a:endParaRPr>
          </a:p>
          <a:p>
            <a:pPr marL="514984" marR="469900" indent="-281305">
              <a:lnSpc>
                <a:spcPct val="89400"/>
              </a:lnSpc>
              <a:spcBef>
                <a:spcPts val="2210"/>
              </a:spcBef>
              <a:buChar char="•"/>
              <a:tabLst>
                <a:tab pos="519430" algn="l"/>
              </a:tabLst>
            </a:pPr>
            <a:r>
              <a:rPr dirty="0" sz="3000" spc="-90">
                <a:solidFill>
                  <a:srgbClr val="111111"/>
                </a:solidFill>
                <a:latin typeface="Arial"/>
                <a:cs typeface="Arial"/>
              </a:rPr>
              <a:t>From:</a:t>
            </a:r>
            <a:r>
              <a:rPr dirty="0" sz="3000" spc="-10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0" b="1">
                <a:solidFill>
                  <a:srgbClr val="111111"/>
                </a:solidFill>
                <a:latin typeface="Arial"/>
                <a:cs typeface="Arial"/>
              </a:rPr>
              <a:t>Positive </a:t>
            </a:r>
            <a:r>
              <a:rPr dirty="0" sz="3000" spc="-10" b="1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dirty="0" sz="3000" spc="-75" b="1">
                <a:solidFill>
                  <a:srgbClr val="111111"/>
                </a:solidFill>
                <a:latin typeface="Arial"/>
                <a:cs typeface="Arial"/>
              </a:rPr>
              <a:t>Reinforcement </a:t>
            </a:r>
            <a:r>
              <a:rPr dirty="0" sz="3000" spc="-75" b="1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dirty="0" sz="3000" spc="-175">
                <a:solidFill>
                  <a:srgbClr val="111111"/>
                </a:solidFill>
                <a:latin typeface="Times New Roman"/>
                <a:cs typeface="Times New Roman"/>
              </a:rPr>
              <a:t>(Seeking</a:t>
            </a:r>
            <a:r>
              <a:rPr dirty="0" sz="3000" spc="-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000" spc="-130">
                <a:solidFill>
                  <a:srgbClr val="111111"/>
                </a:solidFill>
                <a:latin typeface="Times New Roman"/>
                <a:cs typeface="Times New Roman"/>
              </a:rPr>
              <a:t>Pleasure/High)</a:t>
            </a:r>
            <a:endParaRPr sz="3000">
              <a:latin typeface="Times New Roman"/>
              <a:cs typeface="Times New Roman"/>
            </a:endParaRPr>
          </a:p>
          <a:p>
            <a:pPr algn="ctr" marL="325755">
              <a:lnSpc>
                <a:spcPct val="100000"/>
              </a:lnSpc>
              <a:spcBef>
                <a:spcPts val="570"/>
              </a:spcBef>
            </a:pPr>
            <a:r>
              <a:rPr dirty="0" sz="2150" spc="-415">
                <a:solidFill>
                  <a:srgbClr val="111111"/>
                </a:solidFill>
                <a:latin typeface="Arial"/>
                <a:cs typeface="Arial"/>
              </a:rPr>
              <a:t>►</a:t>
            </a:r>
            <a:endParaRPr sz="2150">
              <a:latin typeface="Arial"/>
              <a:cs typeface="Arial"/>
            </a:endParaRPr>
          </a:p>
          <a:p>
            <a:pPr marL="513080" marR="161925" indent="-279400">
              <a:lnSpc>
                <a:spcPct val="89400"/>
              </a:lnSpc>
              <a:spcBef>
                <a:spcPts val="770"/>
              </a:spcBef>
              <a:buChar char="•"/>
              <a:tabLst>
                <a:tab pos="519430" algn="l"/>
              </a:tabLst>
            </a:pPr>
            <a:r>
              <a:rPr dirty="0" sz="3000" spc="-110">
                <a:solidFill>
                  <a:srgbClr val="111111"/>
                </a:solidFill>
                <a:latin typeface="Arial"/>
                <a:cs typeface="Arial"/>
              </a:rPr>
              <a:t>To:</a:t>
            </a:r>
            <a:r>
              <a:rPr dirty="0" sz="3000" spc="-29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0" b="1">
                <a:solidFill>
                  <a:srgbClr val="111111"/>
                </a:solidFill>
                <a:latin typeface="Arial"/>
                <a:cs typeface="Arial"/>
              </a:rPr>
              <a:t>Negative </a:t>
            </a:r>
            <a:r>
              <a:rPr dirty="0" sz="3000" spc="-10" b="1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dirty="0" sz="3000" spc="-75" b="1">
                <a:solidFill>
                  <a:srgbClr val="111111"/>
                </a:solidFill>
                <a:latin typeface="Arial"/>
                <a:cs typeface="Arial"/>
              </a:rPr>
              <a:t>Reinforcement </a:t>
            </a:r>
            <a:r>
              <a:rPr dirty="0" sz="3000" spc="-75" b="1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dirty="0" sz="3000" spc="-175">
                <a:solidFill>
                  <a:srgbClr val="111111"/>
                </a:solidFill>
                <a:latin typeface="Times New Roman"/>
                <a:cs typeface="Times New Roman"/>
              </a:rPr>
              <a:t>(Seeking</a:t>
            </a:r>
            <a:r>
              <a:rPr dirty="0" sz="3000" spc="-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000" spc="-160">
                <a:solidFill>
                  <a:srgbClr val="111111"/>
                </a:solidFill>
                <a:latin typeface="Times New Roman"/>
                <a:cs typeface="Times New Roman"/>
              </a:rPr>
              <a:t>Relief/Normalcy)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756783" y="7540766"/>
            <a:ext cx="2229485" cy="438784"/>
          </a:xfrm>
          <a:custGeom>
            <a:avLst/>
            <a:gdLst/>
            <a:ahLst/>
            <a:cxnLst/>
            <a:rect l="l" t="t" r="r" b="b"/>
            <a:pathLst>
              <a:path w="2229484" h="438784">
                <a:moveTo>
                  <a:pt x="2228960" y="438786"/>
                </a:moveTo>
                <a:lnTo>
                  <a:pt x="0" y="438786"/>
                </a:lnTo>
                <a:lnTo>
                  <a:pt x="0" y="0"/>
                </a:lnTo>
                <a:lnTo>
                  <a:pt x="2228960" y="0"/>
                </a:lnTo>
                <a:lnTo>
                  <a:pt x="2228960" y="438786"/>
                </a:lnTo>
                <a:close/>
              </a:path>
            </a:pathLst>
          </a:custGeom>
          <a:solidFill>
            <a:srgbClr val="5969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744083" y="7545123"/>
            <a:ext cx="2219960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-70" b="1">
                <a:solidFill>
                  <a:srgbClr val="E9F0F2"/>
                </a:solidFill>
                <a:latin typeface="Arial"/>
                <a:cs typeface="Arial"/>
              </a:rPr>
              <a:t>Allostatic</a:t>
            </a:r>
            <a:r>
              <a:rPr dirty="0" sz="2400" spc="-75" b="1">
                <a:solidFill>
                  <a:srgbClr val="E9F0F2"/>
                </a:solidFill>
                <a:latin typeface="Arial"/>
                <a:cs typeface="Arial"/>
              </a:rPr>
              <a:t> </a:t>
            </a:r>
            <a:r>
              <a:rPr dirty="0" sz="2400" spc="-95" b="1">
                <a:solidFill>
                  <a:srgbClr val="E9F0F2"/>
                </a:solidFill>
                <a:latin typeface="Arial"/>
                <a:cs typeface="Arial"/>
              </a:rPr>
              <a:t>Load</a:t>
            </a:r>
            <a:r>
              <a:rPr dirty="0" sz="2400" spc="-165" b="1">
                <a:solidFill>
                  <a:srgbClr val="E9F0F2"/>
                </a:solidFill>
                <a:latin typeface="Arial"/>
                <a:cs typeface="Arial"/>
              </a:rPr>
              <a:t> </a:t>
            </a:r>
            <a:r>
              <a:rPr dirty="0" sz="2400" spc="-50">
                <a:solidFill>
                  <a:srgbClr val="E9F0F2"/>
                </a:solidFill>
                <a:latin typeface="Arial"/>
                <a:cs typeface="Arial"/>
              </a:rPr>
              <a:t>/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252573" y="7870482"/>
            <a:ext cx="3189605" cy="444500"/>
          </a:xfrm>
          <a:custGeom>
            <a:avLst/>
            <a:gdLst/>
            <a:ahLst/>
            <a:cxnLst/>
            <a:rect l="l" t="t" r="r" b="b"/>
            <a:pathLst>
              <a:path w="3189604" h="444500">
                <a:moveTo>
                  <a:pt x="3189496" y="444115"/>
                </a:moveTo>
                <a:lnTo>
                  <a:pt x="0" y="444115"/>
                </a:lnTo>
                <a:lnTo>
                  <a:pt x="0" y="0"/>
                </a:lnTo>
                <a:lnTo>
                  <a:pt x="3189496" y="0"/>
                </a:lnTo>
                <a:lnTo>
                  <a:pt x="3189496" y="444115"/>
                </a:lnTo>
                <a:close/>
              </a:path>
            </a:pathLst>
          </a:custGeom>
          <a:solidFill>
            <a:srgbClr val="5969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7239873" y="7870659"/>
            <a:ext cx="3237865" cy="4165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-114">
                <a:solidFill>
                  <a:srgbClr val="E9F0F2"/>
                </a:solidFill>
                <a:latin typeface="Arial"/>
                <a:cs typeface="Arial"/>
              </a:rPr>
              <a:t>The</a:t>
            </a:r>
            <a:r>
              <a:rPr dirty="0" sz="2550" spc="-254">
                <a:solidFill>
                  <a:srgbClr val="E9F0F2"/>
                </a:solidFill>
                <a:latin typeface="Arial"/>
                <a:cs typeface="Arial"/>
              </a:rPr>
              <a:t> </a:t>
            </a:r>
            <a:r>
              <a:rPr dirty="0" sz="2550" spc="-105">
                <a:solidFill>
                  <a:srgbClr val="E9F0F2"/>
                </a:solidFill>
                <a:latin typeface="Arial"/>
                <a:cs typeface="Arial"/>
              </a:rPr>
              <a:t>"Anti-</a:t>
            </a:r>
            <a:r>
              <a:rPr dirty="0" sz="2550" spc="-110">
                <a:solidFill>
                  <a:srgbClr val="E9F0F2"/>
                </a:solidFill>
                <a:latin typeface="Arial"/>
                <a:cs typeface="Arial"/>
              </a:rPr>
              <a:t>Reward"</a:t>
            </a:r>
            <a:r>
              <a:rPr dirty="0" sz="2550" spc="50">
                <a:solidFill>
                  <a:srgbClr val="E9F0F2"/>
                </a:solidFill>
                <a:latin typeface="Arial"/>
                <a:cs typeface="Arial"/>
              </a:rPr>
              <a:t> </a:t>
            </a:r>
            <a:r>
              <a:rPr dirty="0" sz="2550" spc="-60">
                <a:solidFill>
                  <a:srgbClr val="E9F0F2"/>
                </a:solidFill>
                <a:latin typeface="Arial"/>
                <a:cs typeface="Arial"/>
              </a:rPr>
              <a:t>State</a:t>
            </a:r>
            <a:endParaRPr sz="255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33434"/>
                </a:solidFill>
              </a:rPr>
              <a:t>Isl\</a:t>
            </a:r>
            <a:r>
              <a:rPr dirty="0" sz="1300" spc="-45">
                <a:solidFill>
                  <a:srgbClr val="333434"/>
                </a:solidFill>
              </a:rPr>
              <a:t> </a:t>
            </a:r>
            <a:r>
              <a:rPr dirty="0" spc="-10">
                <a:solidFill>
                  <a:srgbClr val="1C1C1C"/>
                </a:solidFill>
              </a:rPr>
              <a:t>NotebookLM</a:t>
            </a:r>
            <a:endParaRPr sz="1300"/>
          </a:p>
        </p:txBody>
      </p:sp>
      <p:sp>
        <p:nvSpPr>
          <p:cNvPr id="33" name="object 33"/>
          <p:cNvSpPr txBox="1"/>
          <p:nvPr/>
        </p:nvSpPr>
        <p:spPr>
          <a:xfrm>
            <a:off x="6836795" y="8655777"/>
            <a:ext cx="3780154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14">
                <a:solidFill>
                  <a:srgbClr val="111111"/>
                </a:solidFill>
                <a:latin typeface="Arial"/>
                <a:cs typeface="Arial"/>
              </a:rPr>
              <a:t>Progression</a:t>
            </a:r>
            <a:r>
              <a:rPr dirty="0" sz="2900" spc="-3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900" spc="-30">
                <a:solidFill>
                  <a:srgbClr val="111111"/>
                </a:solidFill>
                <a:latin typeface="Arial"/>
                <a:cs typeface="Arial"/>
              </a:rPr>
              <a:t>of</a:t>
            </a:r>
            <a:r>
              <a:rPr dirty="0" sz="2900" spc="-17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900" spc="-40">
                <a:solidFill>
                  <a:srgbClr val="111111"/>
                </a:solidFill>
                <a:latin typeface="Arial"/>
                <a:cs typeface="Arial"/>
              </a:rPr>
              <a:t>Addiction</a:t>
            </a:r>
            <a:endParaRPr sz="29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769939" y="7111073"/>
            <a:ext cx="3972560" cy="1751964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8415" marR="5080" indent="-6350">
              <a:lnSpc>
                <a:spcPts val="3320"/>
              </a:lnSpc>
              <a:spcBef>
                <a:spcPts val="459"/>
              </a:spcBef>
            </a:pPr>
            <a:r>
              <a:rPr dirty="0" sz="3000" spc="-110" b="1">
                <a:solidFill>
                  <a:srgbClr val="111111"/>
                </a:solidFill>
                <a:latin typeface="Arial"/>
                <a:cs typeface="Arial"/>
              </a:rPr>
              <a:t>Clinical</a:t>
            </a:r>
            <a:r>
              <a:rPr dirty="0" sz="3000" spc="-4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75" b="1">
                <a:solidFill>
                  <a:srgbClr val="111111"/>
                </a:solidFill>
                <a:latin typeface="Arial"/>
                <a:cs typeface="Arial"/>
              </a:rPr>
              <a:t>Consequence: </a:t>
            </a:r>
            <a:r>
              <a:rPr dirty="0" sz="3100" spc="-110">
                <a:solidFill>
                  <a:srgbClr val="111111"/>
                </a:solidFill>
                <a:latin typeface="Times New Roman"/>
                <a:cs typeface="Times New Roman"/>
              </a:rPr>
              <a:t>During</a:t>
            </a:r>
            <a:r>
              <a:rPr dirty="0" sz="3100" spc="-3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100" spc="-114">
                <a:solidFill>
                  <a:srgbClr val="111111"/>
                </a:solidFill>
                <a:latin typeface="Times New Roman"/>
                <a:cs typeface="Times New Roman"/>
              </a:rPr>
              <a:t>stress,</a:t>
            </a:r>
            <a:r>
              <a:rPr dirty="0" sz="3100" spc="-3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100" spc="-6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3100" spc="-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100" spc="-170">
                <a:solidFill>
                  <a:srgbClr val="111111"/>
                </a:solidFill>
                <a:latin typeface="Times New Roman"/>
                <a:cs typeface="Times New Roman"/>
              </a:rPr>
              <a:t>biological </a:t>
            </a:r>
            <a:r>
              <a:rPr dirty="0" sz="3100" spc="-140">
                <a:solidFill>
                  <a:srgbClr val="111111"/>
                </a:solidFill>
                <a:latin typeface="Times New Roman"/>
                <a:cs typeface="Times New Roman"/>
              </a:rPr>
              <a:t>need</a:t>
            </a:r>
            <a:r>
              <a:rPr dirty="0" sz="3100" spc="-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100" spc="-105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3100" spc="-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100" spc="-160">
                <a:solidFill>
                  <a:srgbClr val="111111"/>
                </a:solidFill>
                <a:latin typeface="Times New Roman"/>
                <a:cs typeface="Times New Roman"/>
              </a:rPr>
              <a:t>relief</a:t>
            </a:r>
            <a:r>
              <a:rPr dirty="0" sz="3100" spc="-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100" spc="-50">
                <a:solidFill>
                  <a:srgbClr val="212323"/>
                </a:solidFill>
                <a:latin typeface="Times New Roman"/>
                <a:cs typeface="Times New Roman"/>
              </a:rPr>
              <a:t>supersedes </a:t>
            </a:r>
            <a:r>
              <a:rPr dirty="0" sz="3100" spc="-130">
                <a:solidFill>
                  <a:srgbClr val="111111"/>
                </a:solidFill>
                <a:latin typeface="Times New Roman"/>
                <a:cs typeface="Times New Roman"/>
              </a:rPr>
              <a:t>long-</a:t>
            </a:r>
            <a:r>
              <a:rPr dirty="0" sz="3100" spc="-120">
                <a:solidFill>
                  <a:srgbClr val="111111"/>
                </a:solidFill>
                <a:latin typeface="Times New Roman"/>
                <a:cs typeface="Times New Roman"/>
              </a:rPr>
              <a:t>term</a:t>
            </a:r>
            <a:r>
              <a:rPr dirty="0" sz="310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100" spc="-170">
                <a:solidFill>
                  <a:srgbClr val="111111"/>
                </a:solidFill>
                <a:latin typeface="Times New Roman"/>
                <a:cs typeface="Times New Roman"/>
              </a:rPr>
              <a:t>recovery </a:t>
            </a:r>
            <a:r>
              <a:rPr dirty="0" sz="3100" spc="-10">
                <a:solidFill>
                  <a:srgbClr val="212323"/>
                </a:solidFill>
                <a:latin typeface="Times New Roman"/>
                <a:cs typeface="Times New Roman"/>
              </a:rPr>
              <a:t>goals.</a:t>
            </a:r>
            <a:endParaRPr sz="3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83395" y="2400300"/>
            <a:ext cx="8228330" cy="5566410"/>
            <a:chOff x="4483395" y="2400300"/>
            <a:chExt cx="8228330" cy="55664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3395" y="2400300"/>
              <a:ext cx="8228049" cy="556603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903713" y="4213091"/>
              <a:ext cx="0" cy="408940"/>
            </a:xfrm>
            <a:custGeom>
              <a:avLst/>
              <a:gdLst/>
              <a:ahLst/>
              <a:cxnLst/>
              <a:rect l="l" t="t" r="r" b="b"/>
              <a:pathLst>
                <a:path w="0" h="408939">
                  <a:moveTo>
                    <a:pt x="0" y="408516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866110" y="1966250"/>
            <a:ext cx="15794355" cy="0"/>
          </a:xfrm>
          <a:custGeom>
            <a:avLst/>
            <a:gdLst/>
            <a:ahLst/>
            <a:cxnLst/>
            <a:rect l="l" t="t" r="r" b="b"/>
            <a:pathLst>
              <a:path w="15794355" h="0">
                <a:moveTo>
                  <a:pt x="0" y="0"/>
                </a:moveTo>
                <a:lnTo>
                  <a:pt x="15793780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93099" y="7225900"/>
            <a:ext cx="2573020" cy="0"/>
          </a:xfrm>
          <a:custGeom>
            <a:avLst/>
            <a:gdLst/>
            <a:ahLst/>
            <a:cxnLst/>
            <a:rect l="l" t="t" r="r" b="b"/>
            <a:pathLst>
              <a:path w="2573020" h="0">
                <a:moveTo>
                  <a:pt x="0" y="0"/>
                </a:moveTo>
                <a:lnTo>
                  <a:pt x="257285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6405" y="319484"/>
            <a:ext cx="12756515" cy="145542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 marR="5080" indent="11430">
              <a:lnSpc>
                <a:spcPts val="5230"/>
              </a:lnSpc>
              <a:spcBef>
                <a:spcPts val="940"/>
              </a:spcBef>
            </a:pPr>
            <a:r>
              <a:rPr dirty="0" sz="5000" spc="-265" b="1">
                <a:solidFill>
                  <a:srgbClr val="1C1C1A"/>
                </a:solidFill>
                <a:latin typeface="Arial"/>
                <a:cs typeface="Arial"/>
              </a:rPr>
              <a:t>Non-</a:t>
            </a:r>
            <a:r>
              <a:rPr dirty="0" sz="5000" spc="-130" b="1">
                <a:solidFill>
                  <a:srgbClr val="1C1C1A"/>
                </a:solidFill>
                <a:latin typeface="Arial"/>
                <a:cs typeface="Arial"/>
              </a:rPr>
              <a:t>Linear</a:t>
            </a:r>
            <a:r>
              <a:rPr dirty="0" sz="5000" spc="-75" b="1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5000" spc="-190" b="1">
                <a:solidFill>
                  <a:srgbClr val="1C1C1A"/>
                </a:solidFill>
                <a:latin typeface="Arial"/>
                <a:cs typeface="Arial"/>
              </a:rPr>
              <a:t>Dynamics:</a:t>
            </a:r>
            <a:r>
              <a:rPr dirty="0" sz="5000" spc="-160" b="1">
                <a:solidFill>
                  <a:srgbClr val="1C1C1A"/>
                </a:solidFill>
                <a:latin typeface="Arial"/>
                <a:cs typeface="Arial"/>
              </a:rPr>
              <a:t> The</a:t>
            </a:r>
            <a:r>
              <a:rPr dirty="0" sz="5000" spc="-254" b="1">
                <a:solidFill>
                  <a:srgbClr val="1C1C1A"/>
                </a:solidFill>
                <a:latin typeface="Arial"/>
                <a:cs typeface="Arial"/>
              </a:rPr>
              <a:t> Cusp</a:t>
            </a:r>
            <a:r>
              <a:rPr dirty="0" sz="5000" spc="-90" b="1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5000" spc="-185" b="1">
                <a:solidFill>
                  <a:srgbClr val="1C1C1A"/>
                </a:solidFill>
                <a:latin typeface="Arial"/>
                <a:cs typeface="Arial"/>
              </a:rPr>
              <a:t>Catastrophe Model</a:t>
            </a:r>
            <a:r>
              <a:rPr dirty="0" sz="5000" spc="-165" b="1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5000" spc="-30" b="1">
                <a:solidFill>
                  <a:srgbClr val="1C1C1A"/>
                </a:solidFill>
                <a:latin typeface="Arial"/>
                <a:cs typeface="Arial"/>
              </a:rPr>
              <a:t>of</a:t>
            </a:r>
            <a:r>
              <a:rPr dirty="0" sz="5000" spc="-305" b="1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5000" spc="-45" b="1">
                <a:solidFill>
                  <a:srgbClr val="1C1C1A"/>
                </a:solidFill>
                <a:latin typeface="Arial"/>
                <a:cs typeface="Arial"/>
              </a:rPr>
              <a:t>Relapse</a:t>
            </a:r>
            <a:endParaRPr sz="50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33434"/>
                </a:solidFill>
              </a:rPr>
              <a:t>Isl\</a:t>
            </a:r>
            <a:r>
              <a:rPr dirty="0" sz="1300" spc="-45">
                <a:solidFill>
                  <a:srgbClr val="333434"/>
                </a:solidFill>
              </a:rPr>
              <a:t> </a:t>
            </a:r>
            <a:r>
              <a:rPr dirty="0" spc="-10">
                <a:solidFill>
                  <a:srgbClr val="1C1C1C"/>
                </a:solidFill>
              </a:rPr>
              <a:t>NotebookLM</a:t>
            </a:r>
            <a:endParaRPr sz="1300"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331977" y="2706753"/>
            <a:ext cx="265430" cy="960119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aseline="-4553" sz="9150" spc="-2115" b="0">
                <a:solidFill>
                  <a:srgbClr val="1C1C1A"/>
                </a:solidFill>
                <a:latin typeface="Arial"/>
                <a:cs typeface="Arial"/>
              </a:rPr>
              <a:t>-</a:t>
            </a:r>
            <a:r>
              <a:rPr dirty="0" sz="1000" spc="-25">
                <a:solidFill>
                  <a:srgbClr val="1C1C1A"/>
                </a:solidFill>
                <a:latin typeface="Times New Roman"/>
                <a:cs typeface="Times New Roman"/>
              </a:rPr>
              <a:t>Q)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19747" y="3504637"/>
            <a:ext cx="13843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5" b="1">
                <a:solidFill>
                  <a:srgbClr val="1C1C1A"/>
                </a:solidFill>
                <a:latin typeface="Arial"/>
                <a:cs typeface="Arial"/>
              </a:rPr>
              <a:t>V)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85254" y="3574851"/>
            <a:ext cx="266700" cy="286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35947" sz="2550" spc="-1485" b="1">
                <a:solidFill>
                  <a:srgbClr val="1C1C1A"/>
                </a:solidFill>
                <a:latin typeface="Arial"/>
                <a:cs typeface="Arial"/>
              </a:rPr>
              <a:t>c</a:t>
            </a:r>
            <a:r>
              <a:rPr dirty="0" sz="1250" spc="-50" b="1">
                <a:solidFill>
                  <a:srgbClr val="1C1C1A"/>
                </a:solidFill>
                <a:latin typeface="Arial"/>
                <a:cs typeface="Arial"/>
              </a:rPr>
              <a:t>C</a:t>
            </a:r>
            <a:r>
              <a:rPr dirty="0" sz="1250" spc="-395" b="1">
                <a:solidFill>
                  <a:srgbClr val="1C1C1A"/>
                </a:solidFill>
                <a:latin typeface="Arial"/>
                <a:cs typeface="Arial"/>
              </a:rPr>
              <a:t>l</a:t>
            </a:r>
            <a:r>
              <a:rPr dirty="0" baseline="-35947" sz="2550" spc="-1087" b="1">
                <a:solidFill>
                  <a:srgbClr val="1C1C1A"/>
                </a:solidFill>
                <a:latin typeface="Arial"/>
                <a:cs typeface="Arial"/>
              </a:rPr>
              <a:t>o</a:t>
            </a:r>
            <a:r>
              <a:rPr dirty="0" sz="1250" spc="-50" b="1">
                <a:solidFill>
                  <a:srgbClr val="1C1C1A"/>
                </a:solidFill>
                <a:latin typeface="Arial"/>
                <a:cs typeface="Arial"/>
              </a:rPr>
              <a:t>.</a:t>
            </a:r>
            <a:endParaRPr sz="12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61042" y="3983367"/>
            <a:ext cx="228600" cy="381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6040">
              <a:lnSpc>
                <a:spcPts val="1130"/>
              </a:lnSpc>
              <a:spcBef>
                <a:spcPts val="105"/>
              </a:spcBef>
            </a:pPr>
            <a:r>
              <a:rPr dirty="0" sz="1000" spc="-25" b="1">
                <a:solidFill>
                  <a:srgbClr val="1C1C1A"/>
                </a:solidFill>
                <a:latin typeface="Times New Roman"/>
                <a:cs typeface="Times New Roman"/>
              </a:rPr>
              <a:t>Q)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670"/>
              </a:lnSpc>
            </a:pPr>
            <a:r>
              <a:rPr dirty="0" sz="1450" spc="-55" b="1">
                <a:solidFill>
                  <a:srgbClr val="1C1C1A"/>
                </a:solidFill>
                <a:latin typeface="Arial"/>
                <a:cs typeface="Arial"/>
              </a:rPr>
              <a:t>0::</a:t>
            </a:r>
            <a:endParaRPr sz="14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64490" y="4328054"/>
            <a:ext cx="7366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solidFill>
                  <a:srgbClr val="1C1C1A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1115" y="4500397"/>
            <a:ext cx="1254125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-280" b="1">
                <a:solidFill>
                  <a:srgbClr val="0C0C0A"/>
                </a:solidFill>
                <a:latin typeface="Arial"/>
                <a:cs typeface="Arial"/>
              </a:rPr>
              <a:t>Behavior</a:t>
            </a:r>
            <a:endParaRPr sz="27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11441" y="4500397"/>
            <a:ext cx="2872105" cy="76644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ctr">
              <a:lnSpc>
                <a:spcPts val="2905"/>
              </a:lnSpc>
              <a:spcBef>
                <a:spcPts val="115"/>
              </a:spcBef>
              <a:tabLst>
                <a:tab pos="726440" algn="l"/>
              </a:tabLst>
            </a:pPr>
            <a:r>
              <a:rPr dirty="0" sz="2050" spc="-325">
                <a:solidFill>
                  <a:srgbClr val="1C1C1A"/>
                </a:solidFill>
                <a:latin typeface="Arial"/>
                <a:cs typeface="Arial"/>
              </a:rPr>
              <a:t>g?</a:t>
            </a:r>
            <a:r>
              <a:rPr dirty="0" sz="2050">
                <a:solidFill>
                  <a:srgbClr val="1C1C1A"/>
                </a:solidFill>
                <a:latin typeface="Arial"/>
                <a:cs typeface="Arial"/>
              </a:rPr>
              <a:t>	</a:t>
            </a:r>
            <a:r>
              <a:rPr dirty="0" sz="2750" spc="-220" b="1">
                <a:solidFill>
                  <a:srgbClr val="0C0C0A"/>
                </a:solidFill>
                <a:latin typeface="Arial"/>
                <a:cs typeface="Arial"/>
              </a:rPr>
              <a:t>The</a:t>
            </a:r>
            <a:r>
              <a:rPr dirty="0" sz="2750" spc="-245" b="1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750" spc="-225" b="1">
                <a:solidFill>
                  <a:srgbClr val="0C0C0A"/>
                </a:solidFill>
                <a:latin typeface="Arial"/>
                <a:cs typeface="Arial"/>
              </a:rPr>
              <a:t>Bifurcation</a:t>
            </a:r>
            <a:endParaRPr sz="2750">
              <a:latin typeface="Arial"/>
              <a:cs typeface="Arial"/>
            </a:endParaRPr>
          </a:p>
          <a:p>
            <a:pPr algn="ctr" marL="758190">
              <a:lnSpc>
                <a:spcPts val="2905"/>
              </a:lnSpc>
            </a:pPr>
            <a:r>
              <a:rPr dirty="0" sz="2750" spc="-30" b="1">
                <a:solidFill>
                  <a:srgbClr val="0C0C0A"/>
                </a:solidFill>
                <a:latin typeface="Arial"/>
                <a:cs typeface="Arial"/>
              </a:rPr>
              <a:t>Point</a:t>
            </a:r>
            <a:endParaRPr sz="27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24936" y="4647207"/>
            <a:ext cx="2280285" cy="715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4565"/>
              </a:lnSpc>
              <a:spcBef>
                <a:spcPts val="120"/>
              </a:spcBef>
            </a:pPr>
            <a:r>
              <a:rPr dirty="0" sz="2650" spc="-250">
                <a:solidFill>
                  <a:srgbClr val="1C1C1A"/>
                </a:solidFill>
                <a:latin typeface="Arial"/>
                <a:cs typeface="Arial"/>
              </a:rPr>
              <a:t>(Abstinence</a:t>
            </a:r>
            <a:r>
              <a:rPr dirty="0" sz="2650" spc="95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2650" spc="-145">
                <a:solidFill>
                  <a:srgbClr val="1C1C1A"/>
                </a:solidFill>
                <a:latin typeface="Arial"/>
                <a:cs typeface="Arial"/>
              </a:rPr>
              <a:t>vs.</a:t>
            </a:r>
            <a:r>
              <a:rPr dirty="0" sz="2650" spc="-295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4100" spc="-2250">
                <a:solidFill>
                  <a:srgbClr val="1C1C1A"/>
                </a:solidFill>
                <a:latin typeface="Arial"/>
                <a:cs typeface="Arial"/>
              </a:rPr>
              <a:t>g</a:t>
            </a:r>
            <a:endParaRPr sz="4100">
              <a:latin typeface="Arial"/>
              <a:cs typeface="Arial"/>
            </a:endParaRPr>
          </a:p>
          <a:p>
            <a:pPr algn="r" marR="150495">
              <a:lnSpc>
                <a:spcPts val="844"/>
              </a:lnSpc>
            </a:pPr>
            <a:r>
              <a:rPr dirty="0" sz="1000" spc="-25" b="1">
                <a:solidFill>
                  <a:srgbClr val="1C1C1A"/>
                </a:solidFill>
                <a:latin typeface="Times New Roman"/>
                <a:cs typeface="Times New Roman"/>
              </a:rPr>
              <a:t>Q)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11786" y="5330196"/>
            <a:ext cx="12255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85">
                <a:solidFill>
                  <a:srgbClr val="1C1C1A"/>
                </a:solidFill>
                <a:latin typeface="Arial"/>
                <a:cs typeface="Arial"/>
              </a:rPr>
              <a:t>C</a:t>
            </a:r>
            <a:endParaRPr sz="12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4783" y="5330196"/>
            <a:ext cx="302895" cy="569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50" spc="-615" i="1">
                <a:solidFill>
                  <a:srgbClr val="1C1C1A"/>
                </a:solidFill>
                <a:latin typeface="Times New Roman"/>
                <a:cs typeface="Times New Roman"/>
              </a:rPr>
              <a:t>en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40689" y="5706797"/>
            <a:ext cx="182245" cy="286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15" b="1">
                <a:solidFill>
                  <a:srgbClr val="0C0C0A"/>
                </a:solidFill>
                <a:latin typeface="Arial"/>
                <a:cs typeface="Arial"/>
              </a:rPr>
              <a:t>..c</a:t>
            </a:r>
            <a:endParaRPr sz="1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64201" y="5859991"/>
            <a:ext cx="30416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170" b="1">
                <a:solidFill>
                  <a:srgbClr val="1C1C1A"/>
                </a:solidFill>
                <a:latin typeface="Times New Roman"/>
                <a:cs typeface="Times New Roman"/>
              </a:rPr>
              <a:t>&lt;l::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31977" y="5579136"/>
            <a:ext cx="261620" cy="96011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100" spc="-1855">
                <a:solidFill>
                  <a:srgbClr val="1C1C1A"/>
                </a:solidFill>
                <a:latin typeface="Arial"/>
                <a:cs typeface="Arial"/>
              </a:rPr>
              <a:t>-</a:t>
            </a:r>
            <a:endParaRPr sz="6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103770" y="3364210"/>
            <a:ext cx="2148840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550" spc="1019" b="1">
                <a:solidFill>
                  <a:srgbClr val="893F38"/>
                </a:solidFill>
                <a:latin typeface="Arial"/>
                <a:cs typeface="Arial"/>
              </a:rPr>
              <a:t>1-</a:t>
            </a:r>
            <a:r>
              <a:rPr dirty="0" sz="1550" spc="765" b="1">
                <a:solidFill>
                  <a:srgbClr val="893F38"/>
                </a:solidFill>
                <a:latin typeface="Arial"/>
                <a:cs typeface="Arial"/>
              </a:rPr>
              <a:t>--</a:t>
            </a:r>
            <a:r>
              <a:rPr dirty="0" sz="1550" spc="170" b="1">
                <a:solidFill>
                  <a:srgbClr val="893F38"/>
                </a:solidFill>
                <a:latin typeface="Arial"/>
                <a:cs typeface="Arial"/>
              </a:rPr>
              <a:t> </a:t>
            </a:r>
            <a:r>
              <a:rPr dirty="0" sz="2750" spc="-220" b="1">
                <a:solidFill>
                  <a:srgbClr val="0C0C0A"/>
                </a:solidFill>
                <a:latin typeface="Arial"/>
                <a:cs typeface="Arial"/>
              </a:rPr>
              <a:t>The</a:t>
            </a:r>
            <a:r>
              <a:rPr dirty="0" sz="2750" spc="-345" b="1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2750" spc="-220" b="1">
                <a:solidFill>
                  <a:srgbClr val="0C0C0A"/>
                </a:solidFill>
                <a:latin typeface="Arial"/>
                <a:cs typeface="Arial"/>
              </a:rPr>
              <a:t>Drop</a:t>
            </a:r>
            <a:endParaRPr sz="27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506358" y="3734428"/>
            <a:ext cx="2219960" cy="4318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50" spc="-265">
                <a:solidFill>
                  <a:srgbClr val="1C1C1A"/>
                </a:solidFill>
                <a:latin typeface="Arial"/>
                <a:cs typeface="Arial"/>
              </a:rPr>
              <a:t>(Sudden</a:t>
            </a:r>
            <a:r>
              <a:rPr dirty="0" sz="2650" spc="-85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2650" spc="-295">
                <a:solidFill>
                  <a:srgbClr val="0C0C0A"/>
                </a:solidFill>
                <a:latin typeface="Arial"/>
                <a:cs typeface="Arial"/>
              </a:rPr>
              <a:t>Relapse)</a:t>
            </a:r>
            <a:endParaRPr sz="26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779393" y="3664215"/>
            <a:ext cx="552450" cy="822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200" spc="50">
                <a:solidFill>
                  <a:srgbClr val="64757B"/>
                </a:solidFill>
                <a:latin typeface="Times New Roman"/>
                <a:cs typeface="Times New Roman"/>
              </a:rPr>
              <a:t>...</a:t>
            </a:r>
            <a:endParaRPr sz="5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206484" y="4315288"/>
            <a:ext cx="380365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25252" sz="3300" spc="-217">
                <a:solidFill>
                  <a:srgbClr val="64757B"/>
                </a:solidFill>
                <a:latin typeface="Arial"/>
                <a:cs typeface="Arial"/>
              </a:rPr>
              <a:t>•</a:t>
            </a:r>
            <a:r>
              <a:rPr dirty="0" sz="2400" spc="-145">
                <a:solidFill>
                  <a:srgbClr val="64757B"/>
                </a:solidFill>
                <a:latin typeface="Arial"/>
                <a:cs typeface="Arial"/>
              </a:rPr>
              <a:t>••</a:t>
            </a:r>
            <a:r>
              <a:rPr dirty="0" baseline="-25252" sz="3300" spc="-217">
                <a:solidFill>
                  <a:srgbClr val="64757B"/>
                </a:solidFill>
                <a:latin typeface="Arial"/>
                <a:cs typeface="Arial"/>
              </a:rPr>
              <a:t>•</a:t>
            </a:r>
            <a:endParaRPr baseline="-25252" sz="3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486316" y="4576994"/>
            <a:ext cx="3498215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-220">
                <a:solidFill>
                  <a:srgbClr val="64757B"/>
                </a:solidFill>
                <a:latin typeface="Arial"/>
                <a:cs typeface="Arial"/>
              </a:rPr>
              <a:t>·-</a:t>
            </a:r>
            <a:r>
              <a:rPr dirty="0" sz="2750" spc="-130">
                <a:solidFill>
                  <a:srgbClr val="64757B"/>
                </a:solidFill>
                <a:latin typeface="Arial"/>
                <a:cs typeface="Arial"/>
              </a:rPr>
              <a:t>;•••......•••••....</a:t>
            </a:r>
            <a:r>
              <a:rPr dirty="0" sz="2750" spc="-125">
                <a:solidFill>
                  <a:srgbClr val="64757B"/>
                </a:solidFill>
                <a:latin typeface="Arial"/>
                <a:cs typeface="Arial"/>
              </a:rPr>
              <a:t> </a:t>
            </a:r>
            <a:r>
              <a:rPr dirty="0" sz="2750" spc="-220" b="1">
                <a:solidFill>
                  <a:srgbClr val="0C0C0A"/>
                </a:solidFill>
                <a:latin typeface="Arial"/>
                <a:cs typeface="Arial"/>
              </a:rPr>
              <a:t>Hysteresis</a:t>
            </a:r>
            <a:endParaRPr sz="27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640638" y="4947212"/>
            <a:ext cx="4076700" cy="4318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151890" algn="l"/>
              </a:tabLst>
            </a:pPr>
            <a:r>
              <a:rPr dirty="0" sz="2650" spc="-805">
                <a:solidFill>
                  <a:srgbClr val="64757B"/>
                </a:solidFill>
                <a:latin typeface="Arial"/>
                <a:cs typeface="Arial"/>
              </a:rPr>
              <a:t>·�</a:t>
            </a:r>
            <a:r>
              <a:rPr dirty="0" sz="2650">
                <a:solidFill>
                  <a:srgbClr val="64757B"/>
                </a:solidFill>
                <a:latin typeface="Arial"/>
                <a:cs typeface="Arial"/>
              </a:rPr>
              <a:t>	</a:t>
            </a:r>
            <a:r>
              <a:rPr dirty="0" sz="2650" spc="-235">
                <a:solidFill>
                  <a:srgbClr val="1C1C1A"/>
                </a:solidFill>
                <a:latin typeface="Arial"/>
                <a:cs typeface="Arial"/>
              </a:rPr>
              <a:t>(Path</a:t>
            </a:r>
            <a:r>
              <a:rPr dirty="0" sz="2650" spc="-145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2650" spc="-185">
                <a:solidFill>
                  <a:srgbClr val="1C1C1A"/>
                </a:solidFill>
                <a:latin typeface="Arial"/>
                <a:cs typeface="Arial"/>
              </a:rPr>
              <a:t>of</a:t>
            </a:r>
            <a:r>
              <a:rPr dirty="0" sz="2650" spc="-140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2650" spc="-160">
                <a:solidFill>
                  <a:srgbClr val="0C0C0A"/>
                </a:solidFill>
                <a:latin typeface="Arial"/>
                <a:cs typeface="Arial"/>
              </a:rPr>
              <a:t>Inaccessibility)</a:t>
            </a:r>
            <a:endParaRPr sz="26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27349" y="5183385"/>
            <a:ext cx="161290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400" spc="-955">
                <a:solidFill>
                  <a:srgbClr val="64757B"/>
                </a:solidFill>
                <a:latin typeface="Arial"/>
                <a:cs typeface="Arial"/>
              </a:rPr>
              <a:t>•</a:t>
            </a:r>
            <a:r>
              <a:rPr dirty="0" baseline="-20202" sz="3300" spc="-172">
                <a:solidFill>
                  <a:srgbClr val="64757B"/>
                </a:solidFill>
                <a:latin typeface="Arial"/>
                <a:cs typeface="Arial"/>
              </a:rPr>
              <a:t>•</a:t>
            </a:r>
            <a:endParaRPr baseline="-20202" sz="33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717237" y="5438709"/>
            <a:ext cx="101600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50">
                <a:solidFill>
                  <a:srgbClr val="64757B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41697" y="8157829"/>
            <a:ext cx="13017500" cy="1136650"/>
          </a:xfrm>
          <a:prstGeom prst="rect">
            <a:avLst/>
          </a:prstGeom>
          <a:ln w="50947">
            <a:solidFill>
              <a:srgbClr val="000000"/>
            </a:solidFill>
          </a:ln>
        </p:spPr>
        <p:txBody>
          <a:bodyPr wrap="square" lIns="0" tIns="157480" rIns="0" bIns="0" rtlCol="0" vert="horz">
            <a:spAutoFit/>
          </a:bodyPr>
          <a:lstStyle/>
          <a:p>
            <a:pPr marL="292100" marR="360680" indent="-3175">
              <a:lnSpc>
                <a:spcPts val="3220"/>
              </a:lnSpc>
              <a:spcBef>
                <a:spcPts val="1240"/>
              </a:spcBef>
            </a:pPr>
            <a:r>
              <a:rPr dirty="0" sz="3000" spc="-229" b="1">
                <a:solidFill>
                  <a:srgbClr val="0C0C0A"/>
                </a:solidFill>
                <a:latin typeface="Arial"/>
                <a:cs typeface="Arial"/>
              </a:rPr>
              <a:t>Key</a:t>
            </a:r>
            <a:r>
              <a:rPr dirty="0" sz="3000" spc="-254" b="1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3000" spc="-195" b="1">
                <a:solidFill>
                  <a:srgbClr val="0C0C0A"/>
                </a:solidFill>
                <a:latin typeface="Arial"/>
                <a:cs typeface="Arial"/>
              </a:rPr>
              <a:t>Insight:</a:t>
            </a:r>
            <a:r>
              <a:rPr dirty="0" sz="3000" spc="-85" b="1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dirty="0" sz="3000" spc="-150">
                <a:solidFill>
                  <a:srgbClr val="0C0C0A"/>
                </a:solidFill>
                <a:latin typeface="Times New Roman"/>
                <a:cs typeface="Times New Roman"/>
              </a:rPr>
              <a:t>When</a:t>
            </a:r>
            <a:r>
              <a:rPr dirty="0" sz="3000" spc="-10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000" spc="-40">
                <a:solidFill>
                  <a:srgbClr val="1C1C1A"/>
                </a:solidFill>
                <a:latin typeface="Times New Roman"/>
                <a:cs typeface="Times New Roman"/>
              </a:rPr>
              <a:t>distal</a:t>
            </a:r>
            <a:r>
              <a:rPr dirty="0" sz="3000" spc="-55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 spc="-90">
                <a:solidFill>
                  <a:srgbClr val="1C1C1A"/>
                </a:solidFill>
                <a:latin typeface="Times New Roman"/>
                <a:cs typeface="Times New Roman"/>
              </a:rPr>
              <a:t>risk</a:t>
            </a:r>
            <a:r>
              <a:rPr dirty="0" sz="3000" spc="-60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 spc="-75">
                <a:solidFill>
                  <a:srgbClr val="1C1C1A"/>
                </a:solidFill>
                <a:latin typeface="Times New Roman"/>
                <a:cs typeface="Times New Roman"/>
              </a:rPr>
              <a:t>(stress)</a:t>
            </a:r>
            <a:r>
              <a:rPr dirty="0" sz="3000" spc="-85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0C0C0A"/>
                </a:solidFill>
                <a:latin typeface="Times New Roman"/>
                <a:cs typeface="Times New Roman"/>
              </a:rPr>
              <a:t>is</a:t>
            </a:r>
            <a:r>
              <a:rPr dirty="0" sz="3000" spc="-24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000" spc="-70">
                <a:solidFill>
                  <a:srgbClr val="1C1C1A"/>
                </a:solidFill>
                <a:latin typeface="Times New Roman"/>
                <a:cs typeface="Times New Roman"/>
              </a:rPr>
              <a:t>high,</a:t>
            </a:r>
            <a:r>
              <a:rPr dirty="0" sz="3000" spc="-90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 spc="-50">
                <a:solidFill>
                  <a:srgbClr val="1C1C1A"/>
                </a:solidFill>
                <a:latin typeface="Times New Roman"/>
                <a:cs typeface="Times New Roman"/>
              </a:rPr>
              <a:t>the</a:t>
            </a:r>
            <a:r>
              <a:rPr dirty="0" sz="3000" spc="-320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 spc="-80">
                <a:solidFill>
                  <a:srgbClr val="1C1C1A"/>
                </a:solidFill>
                <a:latin typeface="Times New Roman"/>
                <a:cs typeface="Times New Roman"/>
              </a:rPr>
              <a:t>system</a:t>
            </a:r>
            <a:r>
              <a:rPr dirty="0" sz="3000" spc="-45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 spc="-75">
                <a:solidFill>
                  <a:srgbClr val="1C1C1A"/>
                </a:solidFill>
                <a:latin typeface="Times New Roman"/>
                <a:cs typeface="Times New Roman"/>
              </a:rPr>
              <a:t>enters</a:t>
            </a:r>
            <a:r>
              <a:rPr dirty="0" sz="3000" spc="-15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1C1C1A"/>
                </a:solidFill>
                <a:latin typeface="Times New Roman"/>
                <a:cs typeface="Times New Roman"/>
              </a:rPr>
              <a:t>a</a:t>
            </a:r>
            <a:r>
              <a:rPr dirty="0" sz="3000" spc="-245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 spc="-65">
                <a:solidFill>
                  <a:srgbClr val="1C1C1A"/>
                </a:solidFill>
                <a:latin typeface="Times New Roman"/>
                <a:cs typeface="Times New Roman"/>
              </a:rPr>
              <a:t>fold.</a:t>
            </a:r>
            <a:r>
              <a:rPr dirty="0" sz="3000" spc="-265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 spc="-160">
                <a:solidFill>
                  <a:srgbClr val="1C1C1A"/>
                </a:solidFill>
                <a:latin typeface="Times New Roman"/>
                <a:cs typeface="Times New Roman"/>
              </a:rPr>
              <a:t>A</a:t>
            </a:r>
            <a:r>
              <a:rPr dirty="0" sz="3000" spc="-170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 spc="-110">
                <a:solidFill>
                  <a:srgbClr val="1C1C1A"/>
                </a:solidFill>
                <a:latin typeface="Times New Roman"/>
                <a:cs typeface="Times New Roman"/>
              </a:rPr>
              <a:t>minor</a:t>
            </a:r>
            <a:r>
              <a:rPr dirty="0" sz="3000" spc="-60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 spc="-45">
                <a:solidFill>
                  <a:srgbClr val="1C1C1A"/>
                </a:solidFill>
                <a:latin typeface="Times New Roman"/>
                <a:cs typeface="Times New Roman"/>
              </a:rPr>
              <a:t>trigger </a:t>
            </a:r>
            <a:r>
              <a:rPr dirty="0" sz="3000" spc="-90">
                <a:solidFill>
                  <a:srgbClr val="1C1C1A"/>
                </a:solidFill>
                <a:latin typeface="Times New Roman"/>
                <a:cs typeface="Times New Roman"/>
              </a:rPr>
              <a:t>causes</a:t>
            </a:r>
            <a:r>
              <a:rPr dirty="0" sz="3000" spc="-110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1C1C1A"/>
                </a:solidFill>
                <a:latin typeface="Times New Roman"/>
                <a:cs typeface="Times New Roman"/>
              </a:rPr>
              <a:t>a</a:t>
            </a:r>
            <a:r>
              <a:rPr dirty="0" sz="3000" spc="-229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 spc="-80">
                <a:solidFill>
                  <a:srgbClr val="0C0C0A"/>
                </a:solidFill>
                <a:latin typeface="Times New Roman"/>
                <a:cs typeface="Times New Roman"/>
              </a:rPr>
              <a:t>discontinuous,</a:t>
            </a:r>
            <a:r>
              <a:rPr dirty="0" sz="3000" spc="-229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000" spc="-80">
                <a:solidFill>
                  <a:srgbClr val="1C1C1A"/>
                </a:solidFill>
                <a:latin typeface="Times New Roman"/>
                <a:cs typeface="Times New Roman"/>
              </a:rPr>
              <a:t>catastrophic</a:t>
            </a:r>
            <a:r>
              <a:rPr dirty="0" sz="3000" spc="-45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 spc="-55">
                <a:solidFill>
                  <a:srgbClr val="1C1C1A"/>
                </a:solidFill>
                <a:latin typeface="Times New Roman"/>
                <a:cs typeface="Times New Roman"/>
              </a:rPr>
              <a:t>drop</a:t>
            </a:r>
            <a:r>
              <a:rPr dirty="0" sz="3000" spc="-130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1C1C1A"/>
                </a:solidFill>
                <a:latin typeface="Times New Roman"/>
                <a:cs typeface="Times New Roman"/>
              </a:rPr>
              <a:t>in</a:t>
            </a:r>
            <a:r>
              <a:rPr dirty="0" sz="3000" spc="-120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 spc="-114">
                <a:solidFill>
                  <a:srgbClr val="1C1C1A"/>
                </a:solidFill>
                <a:latin typeface="Times New Roman"/>
                <a:cs typeface="Times New Roman"/>
              </a:rPr>
              <a:t>behavior.</a:t>
            </a:r>
            <a:r>
              <a:rPr dirty="0" sz="3000" spc="-55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 spc="-90">
                <a:solidFill>
                  <a:srgbClr val="0C0C0A"/>
                </a:solidFill>
                <a:latin typeface="Times New Roman"/>
                <a:cs typeface="Times New Roman"/>
              </a:rPr>
              <a:t>Relapse</a:t>
            </a:r>
            <a:r>
              <a:rPr dirty="0" sz="3000" spc="-15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dirty="0" sz="3000" spc="-30">
                <a:solidFill>
                  <a:srgbClr val="1C1C1A"/>
                </a:solidFill>
                <a:latin typeface="Times New Roman"/>
                <a:cs typeface="Times New Roman"/>
              </a:rPr>
              <a:t>is</a:t>
            </a:r>
            <a:r>
              <a:rPr dirty="0" sz="3000" spc="-270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 spc="-70">
                <a:solidFill>
                  <a:srgbClr val="1C1C1A"/>
                </a:solidFill>
                <a:latin typeface="Times New Roman"/>
                <a:cs typeface="Times New Roman"/>
              </a:rPr>
              <a:t>sudden,</a:t>
            </a:r>
            <a:r>
              <a:rPr dirty="0" sz="3000" spc="-25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 spc="-75">
                <a:solidFill>
                  <a:srgbClr val="1C1C1A"/>
                </a:solidFill>
                <a:latin typeface="Times New Roman"/>
                <a:cs typeface="Times New Roman"/>
              </a:rPr>
              <a:t>not</a:t>
            </a:r>
            <a:r>
              <a:rPr dirty="0" sz="3000" spc="-160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1C1C1A"/>
                </a:solidFill>
                <a:latin typeface="Times New Roman"/>
                <a:cs typeface="Times New Roman"/>
              </a:rPr>
              <a:t>gradual.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8770" y="2196042"/>
            <a:ext cx="1936012" cy="140427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4852" y="2987542"/>
            <a:ext cx="3846549" cy="59745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44047" y="3115204"/>
            <a:ext cx="3591811" cy="58468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90595" y="4851400"/>
            <a:ext cx="509476" cy="347239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698101" y="4851398"/>
            <a:ext cx="0" cy="3472815"/>
          </a:xfrm>
          <a:custGeom>
            <a:avLst/>
            <a:gdLst/>
            <a:ahLst/>
            <a:cxnLst/>
            <a:rect l="l" t="t" r="r" b="b"/>
            <a:pathLst>
              <a:path w="0" h="3472815">
                <a:moveTo>
                  <a:pt x="0" y="3472390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66110" y="1825823"/>
            <a:ext cx="1732280" cy="0"/>
          </a:xfrm>
          <a:custGeom>
            <a:avLst/>
            <a:gdLst/>
            <a:ahLst/>
            <a:cxnLst/>
            <a:rect l="l" t="t" r="r" b="b"/>
            <a:pathLst>
              <a:path w="1732280" h="0">
                <a:moveTo>
                  <a:pt x="0" y="0"/>
                </a:moveTo>
                <a:lnTo>
                  <a:pt x="1732221" y="0"/>
                </a:lnTo>
              </a:path>
            </a:pathLst>
          </a:custGeom>
          <a:ln w="893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14782" y="2770517"/>
            <a:ext cx="942975" cy="0"/>
          </a:xfrm>
          <a:custGeom>
            <a:avLst/>
            <a:gdLst/>
            <a:ahLst/>
            <a:cxnLst/>
            <a:rect l="l" t="t" r="r" b="b"/>
            <a:pathLst>
              <a:path w="942975" h="0">
                <a:moveTo>
                  <a:pt x="0" y="0"/>
                </a:moveTo>
                <a:lnTo>
                  <a:pt x="942532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51401" y="3613082"/>
            <a:ext cx="2394585" cy="0"/>
          </a:xfrm>
          <a:custGeom>
            <a:avLst/>
            <a:gdLst/>
            <a:ahLst/>
            <a:cxnLst/>
            <a:rect l="l" t="t" r="r" b="b"/>
            <a:pathLst>
              <a:path w="2394584" h="0">
                <a:moveTo>
                  <a:pt x="0" y="0"/>
                </a:moveTo>
                <a:lnTo>
                  <a:pt x="2394540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201968" y="4889696"/>
            <a:ext cx="4534535" cy="0"/>
          </a:xfrm>
          <a:custGeom>
            <a:avLst/>
            <a:gdLst/>
            <a:ahLst/>
            <a:cxnLst/>
            <a:rect l="l" t="t" r="r" b="b"/>
            <a:pathLst>
              <a:path w="4534534" h="0">
                <a:moveTo>
                  <a:pt x="0" y="0"/>
                </a:moveTo>
                <a:lnTo>
                  <a:pt x="4534343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075814" y="5106721"/>
            <a:ext cx="4866005" cy="0"/>
          </a:xfrm>
          <a:custGeom>
            <a:avLst/>
            <a:gdLst/>
            <a:ahLst/>
            <a:cxnLst/>
            <a:rect l="l" t="t" r="r" b="b"/>
            <a:pathLst>
              <a:path w="4866005" h="0">
                <a:moveTo>
                  <a:pt x="0" y="0"/>
                </a:moveTo>
                <a:lnTo>
                  <a:pt x="4865503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075814" y="6345037"/>
            <a:ext cx="4866005" cy="0"/>
          </a:xfrm>
          <a:custGeom>
            <a:avLst/>
            <a:gdLst/>
            <a:ahLst/>
            <a:cxnLst/>
            <a:rect l="l" t="t" r="r" b="b"/>
            <a:pathLst>
              <a:path w="4866005" h="0">
                <a:moveTo>
                  <a:pt x="0" y="0"/>
                </a:moveTo>
                <a:lnTo>
                  <a:pt x="4865503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12660" y="7596119"/>
            <a:ext cx="3617595" cy="0"/>
          </a:xfrm>
          <a:custGeom>
            <a:avLst/>
            <a:gdLst/>
            <a:ahLst/>
            <a:cxnLst/>
            <a:rect l="l" t="t" r="r" b="b"/>
            <a:pathLst>
              <a:path w="3617595" h="0">
                <a:moveTo>
                  <a:pt x="0" y="0"/>
                </a:moveTo>
                <a:lnTo>
                  <a:pt x="3617285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201968" y="8272724"/>
            <a:ext cx="4534535" cy="0"/>
          </a:xfrm>
          <a:custGeom>
            <a:avLst/>
            <a:gdLst/>
            <a:ahLst/>
            <a:cxnLst/>
            <a:rect l="l" t="t" r="r" b="b"/>
            <a:pathLst>
              <a:path w="4534534" h="0">
                <a:moveTo>
                  <a:pt x="0" y="0"/>
                </a:moveTo>
                <a:lnTo>
                  <a:pt x="4534343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12660" y="8872733"/>
            <a:ext cx="4229100" cy="0"/>
          </a:xfrm>
          <a:custGeom>
            <a:avLst/>
            <a:gdLst/>
            <a:ahLst/>
            <a:cxnLst/>
            <a:rect l="l" t="t" r="r" b="b"/>
            <a:pathLst>
              <a:path w="4229100" h="0">
                <a:moveTo>
                  <a:pt x="0" y="0"/>
                </a:moveTo>
                <a:lnTo>
                  <a:pt x="4228657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66595" y="421613"/>
            <a:ext cx="2552065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>
                <a:solidFill>
                  <a:srgbClr val="1F2323"/>
                </a:solidFill>
                <a:latin typeface="Arial"/>
                <a:cs typeface="Arial"/>
              </a:rPr>
              <a:t>Academic</a:t>
            </a:r>
            <a:r>
              <a:rPr dirty="0" sz="2300" spc="375">
                <a:solidFill>
                  <a:srgbClr val="1F2323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3"/>
                </a:solidFill>
                <a:latin typeface="Arial"/>
                <a:cs typeface="Arial"/>
              </a:rPr>
              <a:t>Editorial</a:t>
            </a:r>
            <a:endParaRPr sz="23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33434"/>
                </a:solidFill>
              </a:rPr>
              <a:t>Isl\</a:t>
            </a:r>
            <a:r>
              <a:rPr dirty="0" sz="1300" spc="-45">
                <a:solidFill>
                  <a:srgbClr val="333434"/>
                </a:solidFill>
              </a:rPr>
              <a:t> </a:t>
            </a:r>
            <a:r>
              <a:rPr dirty="0" spc="-10">
                <a:solidFill>
                  <a:srgbClr val="1C1C1C"/>
                </a:solidFill>
              </a:rPr>
              <a:t>NotebookLM</a:t>
            </a:r>
            <a:endParaRPr sz="1300"/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860383" y="1028004"/>
            <a:ext cx="15447010" cy="66167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150" spc="75">
                <a:solidFill>
                  <a:srgbClr val="1F2323"/>
                </a:solidFill>
              </a:rPr>
              <a:t>Socio-Ecological</a:t>
            </a:r>
            <a:r>
              <a:rPr dirty="0" sz="4150" spc="-280">
                <a:solidFill>
                  <a:srgbClr val="1F2323"/>
                </a:solidFill>
              </a:rPr>
              <a:t> </a:t>
            </a:r>
            <a:r>
              <a:rPr dirty="0" sz="4150" spc="60">
                <a:solidFill>
                  <a:srgbClr val="1F2323"/>
                </a:solidFill>
              </a:rPr>
              <a:t>Constraints:</a:t>
            </a:r>
            <a:r>
              <a:rPr dirty="0" sz="4150" spc="170">
                <a:solidFill>
                  <a:srgbClr val="1F2323"/>
                </a:solidFill>
              </a:rPr>
              <a:t> </a:t>
            </a:r>
            <a:r>
              <a:rPr dirty="0" sz="4150" spc="140">
                <a:solidFill>
                  <a:srgbClr val="1F2323"/>
                </a:solidFill>
              </a:rPr>
              <a:t>The</a:t>
            </a:r>
            <a:r>
              <a:rPr dirty="0" sz="4150" spc="-15">
                <a:solidFill>
                  <a:srgbClr val="1F2323"/>
                </a:solidFill>
              </a:rPr>
              <a:t> </a:t>
            </a:r>
            <a:r>
              <a:rPr dirty="0" sz="4150" spc="85">
                <a:solidFill>
                  <a:srgbClr val="1F2323"/>
                </a:solidFill>
              </a:rPr>
              <a:t>Role</a:t>
            </a:r>
            <a:r>
              <a:rPr dirty="0" sz="4150" spc="10">
                <a:solidFill>
                  <a:srgbClr val="1F2323"/>
                </a:solidFill>
              </a:rPr>
              <a:t> </a:t>
            </a:r>
            <a:r>
              <a:rPr dirty="0" sz="4150">
                <a:solidFill>
                  <a:srgbClr val="1F2323"/>
                </a:solidFill>
              </a:rPr>
              <a:t>of</a:t>
            </a:r>
            <a:r>
              <a:rPr dirty="0" sz="4150" spc="250">
                <a:solidFill>
                  <a:srgbClr val="1F2323"/>
                </a:solidFill>
              </a:rPr>
              <a:t> </a:t>
            </a:r>
            <a:r>
              <a:rPr dirty="0" sz="4150">
                <a:solidFill>
                  <a:srgbClr val="1F2323"/>
                </a:solidFill>
              </a:rPr>
              <a:t>Recovery</a:t>
            </a:r>
            <a:r>
              <a:rPr dirty="0" sz="4150" spc="190">
                <a:solidFill>
                  <a:srgbClr val="1F2323"/>
                </a:solidFill>
              </a:rPr>
              <a:t> </a:t>
            </a:r>
            <a:r>
              <a:rPr dirty="0" sz="4150" spc="40">
                <a:solidFill>
                  <a:srgbClr val="1F2323"/>
                </a:solidFill>
              </a:rPr>
              <a:t>Capital</a:t>
            </a:r>
            <a:endParaRPr sz="4150"/>
          </a:p>
        </p:txBody>
      </p:sp>
      <p:sp>
        <p:nvSpPr>
          <p:cNvPr id="18" name="object 18"/>
          <p:cNvSpPr txBox="1"/>
          <p:nvPr/>
        </p:nvSpPr>
        <p:spPr>
          <a:xfrm>
            <a:off x="7621478" y="2208873"/>
            <a:ext cx="4060190" cy="5156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200" spc="-40" b="1">
                <a:solidFill>
                  <a:srgbClr val="0F0F0F"/>
                </a:solidFill>
                <a:latin typeface="Times New Roman"/>
                <a:cs typeface="Times New Roman"/>
              </a:rPr>
              <a:t>Motivation</a:t>
            </a:r>
            <a:r>
              <a:rPr dirty="0" sz="3200" spc="-11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200" spc="-165" b="1">
                <a:solidFill>
                  <a:srgbClr val="0F0F0F"/>
                </a:solidFill>
                <a:latin typeface="Times New Roman"/>
                <a:cs typeface="Times New Roman"/>
              </a:rPr>
              <a:t>&amp;</a:t>
            </a:r>
            <a:r>
              <a:rPr dirty="0" sz="3200" spc="-34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200" spc="-35" b="1">
                <a:solidFill>
                  <a:srgbClr val="0F0F0F"/>
                </a:solidFill>
                <a:latin typeface="Times New Roman"/>
                <a:cs typeface="Times New Roman"/>
              </a:rPr>
              <a:t>Readiness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87669" y="5272749"/>
            <a:ext cx="544830" cy="8528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400" spc="-60">
                <a:solidFill>
                  <a:srgbClr val="313334"/>
                </a:solidFill>
                <a:latin typeface="Arial"/>
                <a:cs typeface="Arial"/>
              </a:rPr>
              <a:t>Q</a:t>
            </a:r>
            <a:endParaRPr sz="5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06115" y="4072731"/>
            <a:ext cx="3406775" cy="5156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888615" algn="l"/>
              </a:tabLst>
            </a:pPr>
            <a:r>
              <a:rPr dirty="0" sz="3200" b="1">
                <a:solidFill>
                  <a:srgbClr val="0F0F0F"/>
                </a:solidFill>
                <a:latin typeface="Times New Roman"/>
                <a:cs typeface="Times New Roman"/>
              </a:rPr>
              <a:t>1.</a:t>
            </a:r>
            <a:r>
              <a:rPr dirty="0" sz="3200" spc="-254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200" spc="-35" b="1">
                <a:solidFill>
                  <a:srgbClr val="0F0F0F"/>
                </a:solidFill>
                <a:latin typeface="Times New Roman"/>
                <a:cs typeface="Times New Roman"/>
              </a:rPr>
              <a:t>Social</a:t>
            </a:r>
            <a:r>
              <a:rPr dirty="0" sz="3200" spc="-14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0F0F0F"/>
                </a:solidFill>
                <a:latin typeface="Times New Roman"/>
                <a:cs typeface="Times New Roman"/>
              </a:rPr>
              <a:t>Capital</a:t>
            </a:r>
            <a:r>
              <a:rPr dirty="0" sz="3200" b="1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3200" spc="-125">
                <a:solidFill>
                  <a:srgbClr val="313334"/>
                </a:solidFill>
                <a:latin typeface="Times New Roman"/>
                <a:cs typeface="Times New Roman"/>
              </a:rPr>
              <a:t>�</a:t>
            </a:r>
            <a:r>
              <a:rPr dirty="0" sz="3200" spc="-125">
                <a:solidFill>
                  <a:srgbClr val="3F484D"/>
                </a:solidFill>
                <a:latin typeface="Times New Roman"/>
                <a:cs typeface="Times New Roman"/>
              </a:rPr>
              <a:t>-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84143" y="4487631"/>
            <a:ext cx="46609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8940" algn="l"/>
              </a:tabLst>
            </a:pPr>
            <a:r>
              <a:rPr dirty="0" sz="1250" spc="-50">
                <a:solidFill>
                  <a:srgbClr val="1F2323"/>
                </a:solidFill>
                <a:latin typeface="Times New Roman"/>
                <a:cs typeface="Times New Roman"/>
              </a:rPr>
              <a:t>1</a:t>
            </a:r>
            <a:r>
              <a:rPr dirty="0" sz="1250">
                <a:solidFill>
                  <a:srgbClr val="1F2323"/>
                </a:solidFill>
                <a:latin typeface="Times New Roman"/>
                <a:cs typeface="Times New Roman"/>
              </a:rPr>
              <a:t>	</a:t>
            </a:r>
            <a:r>
              <a:rPr dirty="0" sz="1250" spc="-50">
                <a:solidFill>
                  <a:srgbClr val="313334"/>
                </a:solidFill>
                <a:latin typeface="Times New Roman"/>
                <a:cs typeface="Times New Roman"/>
              </a:rPr>
              <a:t>I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42165" y="4545078"/>
            <a:ext cx="3742054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258185" algn="l"/>
              </a:tabLst>
            </a:pPr>
            <a:r>
              <a:rPr dirty="0" sz="2400" spc="-90">
                <a:solidFill>
                  <a:srgbClr val="313334"/>
                </a:solidFill>
                <a:latin typeface="Times New Roman"/>
                <a:cs typeface="Times New Roman"/>
              </a:rPr>
              <a:t>(Support</a:t>
            </a:r>
            <a:r>
              <a:rPr dirty="0" sz="2400" spc="25">
                <a:solidFill>
                  <a:srgbClr val="313334"/>
                </a:solidFill>
                <a:latin typeface="Times New Roman"/>
                <a:cs typeface="Times New Roman"/>
              </a:rPr>
              <a:t> </a:t>
            </a:r>
            <a:r>
              <a:rPr dirty="0" sz="2400" spc="-90">
                <a:solidFill>
                  <a:srgbClr val="313334"/>
                </a:solidFill>
                <a:latin typeface="Times New Roman"/>
                <a:cs typeface="Times New Roman"/>
              </a:rPr>
              <a:t>network</a:t>
            </a:r>
            <a:r>
              <a:rPr dirty="0" sz="2400" spc="-90">
                <a:solidFill>
                  <a:srgbClr val="3F484D"/>
                </a:solidFill>
                <a:latin typeface="Times New Roman"/>
                <a:cs typeface="Times New Roman"/>
              </a:rPr>
              <a:t>s</a:t>
            </a:r>
            <a:r>
              <a:rPr dirty="0" sz="2400" spc="-90">
                <a:solidFill>
                  <a:srgbClr val="313334"/>
                </a:solidFill>
                <a:latin typeface="Times New Roman"/>
                <a:cs typeface="Times New Roman"/>
              </a:rPr>
              <a:t>,</a:t>
            </a:r>
            <a:r>
              <a:rPr dirty="0" sz="2400" spc="-130">
                <a:solidFill>
                  <a:srgbClr val="313334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313334"/>
                </a:solidFill>
                <a:latin typeface="Times New Roman"/>
                <a:cs typeface="Times New Roman"/>
              </a:rPr>
              <a:t>famil</a:t>
            </a:r>
            <a:r>
              <a:rPr dirty="0" sz="2400" spc="-10">
                <a:solidFill>
                  <a:srgbClr val="3F484D"/>
                </a:solidFill>
                <a:latin typeface="Times New Roman"/>
                <a:cs typeface="Times New Roman"/>
              </a:rPr>
              <a:t>y</a:t>
            </a:r>
            <a:r>
              <a:rPr dirty="0" sz="2400" spc="-10">
                <a:solidFill>
                  <a:srgbClr val="313334"/>
                </a:solidFill>
                <a:latin typeface="Times New Roman"/>
                <a:cs typeface="Times New Roman"/>
              </a:rPr>
              <a:t>)</a:t>
            </a:r>
            <a:r>
              <a:rPr dirty="0" sz="2400">
                <a:solidFill>
                  <a:srgbClr val="313334"/>
                </a:solidFill>
                <a:latin typeface="Times New Roman"/>
                <a:cs typeface="Times New Roman"/>
              </a:rPr>
              <a:t>	</a:t>
            </a:r>
            <a:r>
              <a:rPr dirty="0" sz="1650" spc="114">
                <a:solidFill>
                  <a:srgbClr val="3F484D"/>
                </a:solidFill>
                <a:latin typeface="Times New Roman"/>
                <a:cs typeface="Times New Roman"/>
              </a:rPr>
              <a:t>A</a:t>
            </a:r>
            <a:r>
              <a:rPr dirty="0" sz="1650" spc="114">
                <a:solidFill>
                  <a:srgbClr val="5B5B5B"/>
                </a:solidFill>
                <a:latin typeface="Times New Roman"/>
                <a:cs typeface="Times New Roman"/>
              </a:rPr>
              <a:t>-</a:t>
            </a:r>
            <a:r>
              <a:rPr dirty="0" sz="1650" spc="130">
                <a:solidFill>
                  <a:srgbClr val="313334"/>
                </a:solidFill>
                <a:latin typeface="Times New Roman"/>
                <a:cs typeface="Times New Roman"/>
              </a:rPr>
              <a:t>@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49128" y="5783394"/>
            <a:ext cx="247015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-605">
                <a:solidFill>
                  <a:srgbClr val="313334"/>
                </a:solidFill>
                <a:latin typeface="Times New Roman"/>
                <a:cs typeface="Times New Roman"/>
              </a:rPr>
              <a:t>�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34929" y="5298281"/>
            <a:ext cx="3856990" cy="8782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3829"/>
              </a:lnSpc>
              <a:spcBef>
                <a:spcPts val="114"/>
              </a:spcBef>
              <a:tabLst>
                <a:tab pos="683895" algn="l"/>
              </a:tabLst>
            </a:pPr>
            <a:r>
              <a:rPr dirty="0" sz="2850" spc="235">
                <a:solidFill>
                  <a:srgbClr val="3F484D"/>
                </a:solidFill>
                <a:latin typeface="Arial"/>
                <a:cs typeface="Arial"/>
              </a:rPr>
              <a:t>G</a:t>
            </a:r>
            <a:r>
              <a:rPr dirty="0" sz="2850">
                <a:solidFill>
                  <a:srgbClr val="3F484D"/>
                </a:solidFill>
                <a:latin typeface="Arial"/>
                <a:cs typeface="Arial"/>
              </a:rPr>
              <a:t>	</a:t>
            </a:r>
            <a:r>
              <a:rPr dirty="0" sz="3200" b="1">
                <a:solidFill>
                  <a:srgbClr val="0F0F0F"/>
                </a:solidFill>
                <a:latin typeface="Times New Roman"/>
                <a:cs typeface="Times New Roman"/>
              </a:rPr>
              <a:t>2.</a:t>
            </a:r>
            <a:r>
              <a:rPr dirty="0" sz="3200" spc="-18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200" spc="-65" b="1">
                <a:solidFill>
                  <a:srgbClr val="0F0F0F"/>
                </a:solidFill>
                <a:latin typeface="Times New Roman"/>
                <a:cs typeface="Times New Roman"/>
              </a:rPr>
              <a:t>Physical</a:t>
            </a:r>
            <a:r>
              <a:rPr dirty="0" sz="3200" spc="-4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0F0F0F"/>
                </a:solidFill>
                <a:latin typeface="Times New Roman"/>
                <a:cs typeface="Times New Roman"/>
              </a:rPr>
              <a:t>Capital</a:t>
            </a:r>
            <a:endParaRPr sz="3200">
              <a:latin typeface="Times New Roman"/>
              <a:cs typeface="Times New Roman"/>
            </a:endParaRPr>
          </a:p>
          <a:p>
            <a:pPr algn="ctr" marL="592455">
              <a:lnSpc>
                <a:spcPts val="2870"/>
              </a:lnSpc>
            </a:pPr>
            <a:r>
              <a:rPr dirty="0" sz="2400" spc="-105">
                <a:solidFill>
                  <a:srgbClr val="313334"/>
                </a:solidFill>
                <a:latin typeface="Times New Roman"/>
                <a:cs typeface="Times New Roman"/>
              </a:rPr>
              <a:t>(Housing,</a:t>
            </a:r>
            <a:r>
              <a:rPr dirty="0" sz="2400" spc="-10">
                <a:solidFill>
                  <a:srgbClr val="313334"/>
                </a:solidFill>
                <a:latin typeface="Times New Roman"/>
                <a:cs typeface="Times New Roman"/>
              </a:rPr>
              <a:t> </a:t>
            </a:r>
            <a:r>
              <a:rPr dirty="0" sz="2400" spc="-90">
                <a:solidFill>
                  <a:srgbClr val="313334"/>
                </a:solidFill>
                <a:latin typeface="Times New Roman"/>
                <a:cs typeface="Times New Roman"/>
              </a:rPr>
              <a:t>finance,</a:t>
            </a:r>
            <a:r>
              <a:rPr dirty="0" sz="2400" spc="-50">
                <a:solidFill>
                  <a:srgbClr val="313334"/>
                </a:solidFill>
                <a:latin typeface="Times New Roman"/>
                <a:cs typeface="Times New Roman"/>
              </a:rPr>
              <a:t> </a:t>
            </a:r>
            <a:r>
              <a:rPr dirty="0" sz="2400" spc="-40">
                <a:solidFill>
                  <a:srgbClr val="313334"/>
                </a:solidFill>
                <a:latin typeface="Times New Roman"/>
                <a:cs typeface="Times New Roman"/>
              </a:rPr>
              <a:t>transport)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73650" y="6549363"/>
            <a:ext cx="2971800" cy="8782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3829"/>
              </a:lnSpc>
              <a:spcBef>
                <a:spcPts val="114"/>
              </a:spcBef>
            </a:pPr>
            <a:r>
              <a:rPr dirty="0" sz="3200" b="1">
                <a:solidFill>
                  <a:srgbClr val="0F0F0F"/>
                </a:solidFill>
                <a:latin typeface="Times New Roman"/>
                <a:cs typeface="Times New Roman"/>
              </a:rPr>
              <a:t>3.</a:t>
            </a:r>
            <a:r>
              <a:rPr dirty="0" sz="3200" spc="-12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200" spc="-95" b="1">
                <a:solidFill>
                  <a:srgbClr val="0F0F0F"/>
                </a:solidFill>
                <a:latin typeface="Times New Roman"/>
                <a:cs typeface="Times New Roman"/>
              </a:rPr>
              <a:t>Human</a:t>
            </a:r>
            <a:r>
              <a:rPr dirty="0" sz="3200" spc="-114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200" spc="-75" b="1">
                <a:solidFill>
                  <a:srgbClr val="0F0F0F"/>
                </a:solidFill>
                <a:latin typeface="Times New Roman"/>
                <a:cs typeface="Times New Roman"/>
              </a:rPr>
              <a:t>Capital</a:t>
            </a:r>
            <a:endParaRPr sz="3200">
              <a:latin typeface="Times New Roman"/>
              <a:cs typeface="Times New Roman"/>
            </a:endParaRPr>
          </a:p>
          <a:p>
            <a:pPr marL="57150">
              <a:lnSpc>
                <a:spcPts val="2870"/>
              </a:lnSpc>
            </a:pPr>
            <a:r>
              <a:rPr dirty="0" sz="2400" spc="-110">
                <a:solidFill>
                  <a:srgbClr val="313334"/>
                </a:solidFill>
                <a:latin typeface="Times New Roman"/>
                <a:cs typeface="Times New Roman"/>
              </a:rPr>
              <a:t>(Skills,</a:t>
            </a:r>
            <a:r>
              <a:rPr dirty="0" sz="2400" spc="-15">
                <a:solidFill>
                  <a:srgbClr val="313334"/>
                </a:solidFill>
                <a:latin typeface="Times New Roman"/>
                <a:cs typeface="Times New Roman"/>
              </a:rPr>
              <a:t> </a:t>
            </a:r>
            <a:r>
              <a:rPr dirty="0" sz="2400" spc="-70">
                <a:solidFill>
                  <a:srgbClr val="1F2323"/>
                </a:solidFill>
                <a:latin typeface="Times New Roman"/>
                <a:cs typeface="Times New Roman"/>
              </a:rPr>
              <a:t>health,</a:t>
            </a:r>
            <a:r>
              <a:rPr dirty="0" sz="2400" spc="-140">
                <a:solidFill>
                  <a:srgbClr val="1F2323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313334"/>
                </a:solidFill>
                <a:latin typeface="Times New Roman"/>
                <a:cs typeface="Times New Roman"/>
              </a:rPr>
              <a:t>education)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91216" y="7813212"/>
            <a:ext cx="3138170" cy="8782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4604">
              <a:lnSpc>
                <a:spcPts val="3829"/>
              </a:lnSpc>
              <a:spcBef>
                <a:spcPts val="114"/>
              </a:spcBef>
            </a:pPr>
            <a:r>
              <a:rPr dirty="0" sz="3200" spc="95" b="1">
                <a:solidFill>
                  <a:srgbClr val="0F0F0F"/>
                </a:solidFill>
                <a:latin typeface="Times New Roman"/>
                <a:cs typeface="Times New Roman"/>
              </a:rPr>
              <a:t>4.</a:t>
            </a:r>
            <a:r>
              <a:rPr dirty="0" sz="3200" spc="-34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200" spc="-85" b="1">
                <a:solidFill>
                  <a:srgbClr val="0F0F0F"/>
                </a:solidFill>
                <a:latin typeface="Times New Roman"/>
                <a:cs typeface="Times New Roman"/>
              </a:rPr>
              <a:t>Cultural</a:t>
            </a:r>
            <a:r>
              <a:rPr dirty="0" sz="3200" spc="-7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200" spc="-65" b="1">
                <a:solidFill>
                  <a:srgbClr val="0F0F0F"/>
                </a:solidFill>
                <a:latin typeface="Times New Roman"/>
                <a:cs typeface="Times New Roman"/>
              </a:rPr>
              <a:t>Capital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2870"/>
              </a:lnSpc>
            </a:pPr>
            <a:r>
              <a:rPr dirty="0" sz="2400" spc="-140">
                <a:solidFill>
                  <a:srgbClr val="313334"/>
                </a:solidFill>
                <a:latin typeface="Times New Roman"/>
                <a:cs typeface="Times New Roman"/>
              </a:rPr>
              <a:t>(Values,</a:t>
            </a:r>
            <a:r>
              <a:rPr dirty="0" sz="2400" spc="-80">
                <a:solidFill>
                  <a:srgbClr val="313334"/>
                </a:solidFill>
                <a:latin typeface="Times New Roman"/>
                <a:cs typeface="Times New Roman"/>
              </a:rPr>
              <a:t> </a:t>
            </a:r>
            <a:r>
              <a:rPr dirty="0" sz="2400" spc="-95">
                <a:solidFill>
                  <a:srgbClr val="313334"/>
                </a:solidFill>
                <a:latin typeface="Times New Roman"/>
                <a:cs typeface="Times New Roman"/>
              </a:rPr>
              <a:t>community</a:t>
            </a:r>
            <a:r>
              <a:rPr dirty="0" sz="2400" spc="40">
                <a:solidFill>
                  <a:srgbClr val="313334"/>
                </a:solidFill>
                <a:latin typeface="Times New Roman"/>
                <a:cs typeface="Times New Roman"/>
              </a:rPr>
              <a:t> </a:t>
            </a:r>
            <a:r>
              <a:rPr dirty="0" sz="2400" spc="-75">
                <a:solidFill>
                  <a:srgbClr val="1F2323"/>
                </a:solidFill>
                <a:latin typeface="Times New Roman"/>
                <a:cs typeface="Times New Roman"/>
              </a:rPr>
              <a:t>norms)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201968" y="4926371"/>
            <a:ext cx="4471035" cy="2983865"/>
          </a:xfrm>
          <a:prstGeom prst="rect">
            <a:avLst/>
          </a:prstGeom>
        </p:spPr>
        <p:txBody>
          <a:bodyPr wrap="square" lIns="0" tIns="213360" rIns="0" bIns="0" rtlCol="0" vert="horz">
            <a:spAutoFit/>
          </a:bodyPr>
          <a:lstStyle/>
          <a:p>
            <a:pPr marL="184150">
              <a:lnSpc>
                <a:spcPct val="100000"/>
              </a:lnSpc>
              <a:spcBef>
                <a:spcPts val="1680"/>
              </a:spcBef>
            </a:pPr>
            <a:r>
              <a:rPr dirty="0" sz="2350" spc="90" b="1">
                <a:solidFill>
                  <a:srgbClr val="0F0F0F"/>
                </a:solidFill>
                <a:latin typeface="Arial"/>
                <a:cs typeface="Arial"/>
              </a:rPr>
              <a:t>The</a:t>
            </a:r>
            <a:r>
              <a:rPr dirty="0" sz="2350" spc="-35" b="1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350" spc="50" b="1">
                <a:solidFill>
                  <a:srgbClr val="0F0F0F"/>
                </a:solidFill>
                <a:latin typeface="Arial"/>
                <a:cs typeface="Arial"/>
              </a:rPr>
              <a:t>Impact</a:t>
            </a:r>
            <a:r>
              <a:rPr dirty="0" sz="2350" spc="-55" b="1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350" spc="65" b="1">
                <a:solidFill>
                  <a:srgbClr val="0F0F0F"/>
                </a:solidFill>
                <a:latin typeface="Arial"/>
                <a:cs typeface="Arial"/>
              </a:rPr>
              <a:t>of</a:t>
            </a:r>
            <a:r>
              <a:rPr dirty="0" sz="2350" spc="-10" b="1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350" spc="55" b="1">
                <a:solidFill>
                  <a:srgbClr val="0F0F0F"/>
                </a:solidFill>
                <a:latin typeface="Arial"/>
                <a:cs typeface="Arial"/>
              </a:rPr>
              <a:t>Low</a:t>
            </a:r>
            <a:r>
              <a:rPr dirty="0" sz="2350" spc="80" b="1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350" spc="30" b="1">
                <a:solidFill>
                  <a:srgbClr val="0F0F0F"/>
                </a:solidFill>
                <a:latin typeface="Arial"/>
                <a:cs typeface="Arial"/>
              </a:rPr>
              <a:t>SES:</a:t>
            </a:r>
            <a:endParaRPr sz="2350">
              <a:latin typeface="Arial"/>
              <a:cs typeface="Arial"/>
            </a:endParaRPr>
          </a:p>
          <a:p>
            <a:pPr marL="186055" marR="367665" indent="6985">
              <a:lnSpc>
                <a:spcPct val="105600"/>
              </a:lnSpc>
              <a:spcBef>
                <a:spcPts val="1400"/>
              </a:spcBef>
            </a:pPr>
            <a:r>
              <a:rPr dirty="0" sz="2300">
                <a:solidFill>
                  <a:srgbClr val="0F0F0F"/>
                </a:solidFill>
                <a:latin typeface="Arial"/>
                <a:cs typeface="Arial"/>
              </a:rPr>
              <a:t>Depletion</a:t>
            </a:r>
            <a:r>
              <a:rPr dirty="0" sz="2300" spc="11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300" spc="60">
                <a:solidFill>
                  <a:srgbClr val="0F0F0F"/>
                </a:solidFill>
                <a:latin typeface="Arial"/>
                <a:cs typeface="Arial"/>
              </a:rPr>
              <a:t>of</a:t>
            </a:r>
            <a:r>
              <a:rPr dirty="0" sz="2300" spc="7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300" spc="55">
                <a:solidFill>
                  <a:srgbClr val="0F0F0F"/>
                </a:solidFill>
                <a:latin typeface="Arial"/>
                <a:cs typeface="Arial"/>
              </a:rPr>
              <a:t>reserves</a:t>
            </a:r>
            <a:r>
              <a:rPr dirty="0" sz="2300" spc="16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300" spc="55">
                <a:solidFill>
                  <a:srgbClr val="1F2323"/>
                </a:solidFill>
                <a:latin typeface="Arial"/>
                <a:cs typeface="Arial"/>
              </a:rPr>
              <a:t>leads </a:t>
            </a:r>
            <a:r>
              <a:rPr dirty="0" sz="2300" spc="50">
                <a:solidFill>
                  <a:srgbClr val="1F2323"/>
                </a:solidFill>
                <a:latin typeface="Arial"/>
                <a:cs typeface="Arial"/>
              </a:rPr>
              <a:t>to</a:t>
            </a:r>
            <a:r>
              <a:rPr dirty="0" sz="2300" spc="195">
                <a:solidFill>
                  <a:srgbClr val="1F2323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1F2323"/>
                </a:solidFill>
                <a:latin typeface="Arial"/>
                <a:cs typeface="Arial"/>
              </a:rPr>
              <a:t>"survival</a:t>
            </a:r>
            <a:r>
              <a:rPr dirty="0" sz="2300" spc="325">
                <a:solidFill>
                  <a:srgbClr val="1F2323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313334"/>
                </a:solidFill>
                <a:latin typeface="Arial"/>
                <a:cs typeface="Arial"/>
              </a:rPr>
              <a:t>stress,"</a:t>
            </a:r>
            <a:r>
              <a:rPr dirty="0" sz="2300" spc="195">
                <a:solidFill>
                  <a:srgbClr val="313334"/>
                </a:solidFill>
                <a:latin typeface="Arial"/>
                <a:cs typeface="Arial"/>
              </a:rPr>
              <a:t> </a:t>
            </a:r>
            <a:r>
              <a:rPr dirty="0" sz="2300" spc="40">
                <a:solidFill>
                  <a:srgbClr val="0F0F0F"/>
                </a:solidFill>
                <a:latin typeface="Arial"/>
                <a:cs typeface="Arial"/>
              </a:rPr>
              <a:t>fueling </a:t>
            </a:r>
            <a:r>
              <a:rPr dirty="0" sz="2300" spc="90">
                <a:solidFill>
                  <a:srgbClr val="1F2323"/>
                </a:solidFill>
                <a:latin typeface="Arial"/>
                <a:cs typeface="Arial"/>
              </a:rPr>
              <a:t>the</a:t>
            </a:r>
            <a:r>
              <a:rPr dirty="0" sz="2300" spc="165">
                <a:solidFill>
                  <a:srgbClr val="1F2323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0F0F0F"/>
                </a:solidFill>
                <a:latin typeface="Arial"/>
                <a:cs typeface="Arial"/>
              </a:rPr>
              <a:t>negative</a:t>
            </a:r>
            <a:r>
              <a:rPr dirty="0" sz="2300" spc="13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0F0F0F"/>
                </a:solidFill>
                <a:latin typeface="Arial"/>
                <a:cs typeface="Arial"/>
              </a:rPr>
              <a:t>reinforcement </a:t>
            </a:r>
            <a:r>
              <a:rPr dirty="0" sz="2300" spc="55">
                <a:solidFill>
                  <a:srgbClr val="1F2323"/>
                </a:solidFill>
                <a:latin typeface="Arial"/>
                <a:cs typeface="Arial"/>
              </a:rPr>
              <a:t>loop.</a:t>
            </a:r>
            <a:r>
              <a:rPr dirty="0" sz="2300" spc="-120">
                <a:solidFill>
                  <a:srgbClr val="1F2323"/>
                </a:solidFill>
                <a:latin typeface="Arial"/>
                <a:cs typeface="Arial"/>
              </a:rPr>
              <a:t> </a:t>
            </a:r>
            <a:r>
              <a:rPr dirty="0" sz="2300" spc="75">
                <a:solidFill>
                  <a:srgbClr val="0F0F0F"/>
                </a:solidFill>
                <a:latin typeface="Arial"/>
                <a:cs typeface="Arial"/>
              </a:rPr>
              <a:t>This</a:t>
            </a:r>
            <a:r>
              <a:rPr dirty="0" sz="2300" spc="-114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300" spc="70">
                <a:solidFill>
                  <a:srgbClr val="1F2323"/>
                </a:solidFill>
                <a:latin typeface="Arial"/>
                <a:cs typeface="Arial"/>
              </a:rPr>
              <a:t>acts</a:t>
            </a:r>
            <a:r>
              <a:rPr dirty="0" sz="2300" spc="-45">
                <a:solidFill>
                  <a:srgbClr val="1F2323"/>
                </a:solidFill>
                <a:latin typeface="Arial"/>
                <a:cs typeface="Arial"/>
              </a:rPr>
              <a:t> </a:t>
            </a:r>
            <a:r>
              <a:rPr dirty="0" sz="2300" spc="105">
                <a:solidFill>
                  <a:srgbClr val="1F2323"/>
                </a:solidFill>
                <a:latin typeface="Arial"/>
                <a:cs typeface="Arial"/>
              </a:rPr>
              <a:t>as</a:t>
            </a:r>
            <a:r>
              <a:rPr dirty="0" sz="2300" spc="-85">
                <a:solidFill>
                  <a:srgbClr val="1F2323"/>
                </a:solidFill>
                <a:latin typeface="Arial"/>
                <a:cs typeface="Arial"/>
              </a:rPr>
              <a:t> </a:t>
            </a:r>
            <a:r>
              <a:rPr dirty="0" sz="2300" spc="110">
                <a:solidFill>
                  <a:srgbClr val="1F2323"/>
                </a:solidFill>
                <a:latin typeface="Arial"/>
                <a:cs typeface="Arial"/>
              </a:rPr>
              <a:t>a</a:t>
            </a:r>
            <a:r>
              <a:rPr dirty="0" sz="2300" spc="-45">
                <a:solidFill>
                  <a:srgbClr val="1F2323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313334"/>
                </a:solidFill>
                <a:latin typeface="Arial"/>
                <a:cs typeface="Arial"/>
              </a:rPr>
              <a:t>"</a:t>
            </a:r>
            <a:r>
              <a:rPr dirty="0" sz="2300" spc="-10">
                <a:solidFill>
                  <a:srgbClr val="0F0F0F"/>
                </a:solidFill>
                <a:latin typeface="Arial"/>
                <a:cs typeface="Arial"/>
              </a:rPr>
              <a:t>Splitting </a:t>
            </a:r>
            <a:r>
              <a:rPr dirty="0" sz="2300" spc="45">
                <a:solidFill>
                  <a:srgbClr val="0F0F0F"/>
                </a:solidFill>
                <a:latin typeface="Arial"/>
                <a:cs typeface="Arial"/>
              </a:rPr>
              <a:t>Factor</a:t>
            </a:r>
            <a:r>
              <a:rPr dirty="0" sz="2300" spc="45">
                <a:solidFill>
                  <a:srgbClr val="313334"/>
                </a:solidFill>
                <a:latin typeface="Arial"/>
                <a:cs typeface="Arial"/>
              </a:rPr>
              <a:t>"</a:t>
            </a:r>
            <a:r>
              <a:rPr dirty="0" sz="2300" spc="-45">
                <a:solidFill>
                  <a:srgbClr val="313334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0F0F0F"/>
                </a:solidFill>
                <a:latin typeface="Arial"/>
                <a:cs typeface="Arial"/>
              </a:rPr>
              <a:t>in</a:t>
            </a:r>
            <a:r>
              <a:rPr dirty="0" sz="2300" spc="6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300" spc="65">
                <a:solidFill>
                  <a:srgbClr val="0F0F0F"/>
                </a:solidFill>
                <a:latin typeface="Arial"/>
                <a:cs typeface="Arial"/>
              </a:rPr>
              <a:t>the</a:t>
            </a:r>
            <a:endParaRPr sz="2300">
              <a:latin typeface="Arial"/>
              <a:cs typeface="Arial"/>
            </a:endParaRPr>
          </a:p>
          <a:p>
            <a:pPr marL="188595">
              <a:lnSpc>
                <a:spcPct val="100000"/>
              </a:lnSpc>
              <a:spcBef>
                <a:spcPts val="155"/>
              </a:spcBef>
            </a:pPr>
            <a:r>
              <a:rPr dirty="0" sz="2300">
                <a:solidFill>
                  <a:srgbClr val="0F0F0F"/>
                </a:solidFill>
                <a:latin typeface="Arial"/>
                <a:cs typeface="Arial"/>
              </a:rPr>
              <a:t>Catastrophe</a:t>
            </a:r>
            <a:r>
              <a:rPr dirty="0" sz="2300" spc="51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300" spc="40">
                <a:solidFill>
                  <a:srgbClr val="0F0F0F"/>
                </a:solidFill>
                <a:latin typeface="Arial"/>
                <a:cs typeface="Arial"/>
              </a:rPr>
              <a:t>Model.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52008" y="2323702"/>
            <a:ext cx="8304530" cy="6919595"/>
            <a:chOff x="1452008" y="2323702"/>
            <a:chExt cx="8304530" cy="69195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2008" y="2323702"/>
              <a:ext cx="8304470" cy="45958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2008" y="2808817"/>
              <a:ext cx="3107808" cy="265535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2871" y="5438643"/>
              <a:ext cx="1273691" cy="53617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3198" y="2808817"/>
              <a:ext cx="3133281" cy="1787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23198" y="3013075"/>
              <a:ext cx="3133281" cy="24511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02121" y="5617368"/>
              <a:ext cx="1197270" cy="18383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26762" y="6230143"/>
              <a:ext cx="3005912" cy="71490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26762" y="6970580"/>
              <a:ext cx="3005912" cy="227237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34570" y="5617368"/>
              <a:ext cx="1095375" cy="181279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712660" y="4621608"/>
              <a:ext cx="0" cy="868680"/>
            </a:xfrm>
            <a:custGeom>
              <a:avLst/>
              <a:gdLst/>
              <a:ahLst/>
              <a:cxnLst/>
              <a:rect l="l" t="t" r="r" b="b"/>
              <a:pathLst>
                <a:path w="0" h="868679">
                  <a:moveTo>
                    <a:pt x="0" y="868097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483091" y="4621608"/>
              <a:ext cx="0" cy="868680"/>
            </a:xfrm>
            <a:custGeom>
              <a:avLst/>
              <a:gdLst/>
              <a:ahLst/>
              <a:cxnLst/>
              <a:rect l="l" t="t" r="r" b="b"/>
              <a:pathLst>
                <a:path w="0" h="868679">
                  <a:moveTo>
                    <a:pt x="0" y="868097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11221225" y="2323702"/>
            <a:ext cx="0" cy="6434455"/>
          </a:xfrm>
          <a:custGeom>
            <a:avLst/>
            <a:gdLst/>
            <a:ahLst/>
            <a:cxnLst/>
            <a:rect l="l" t="t" r="r" b="b"/>
            <a:pathLst>
              <a:path w="0" h="6434455">
                <a:moveTo>
                  <a:pt x="0" y="643413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68005" y="1327943"/>
            <a:ext cx="15692119" cy="0"/>
          </a:xfrm>
          <a:custGeom>
            <a:avLst/>
            <a:gdLst/>
            <a:ahLst/>
            <a:cxnLst/>
            <a:rect l="l" t="t" r="r" b="b"/>
            <a:pathLst>
              <a:path w="15692119" h="0">
                <a:moveTo>
                  <a:pt x="0" y="0"/>
                </a:moveTo>
                <a:lnTo>
                  <a:pt x="1569188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96663" y="4213091"/>
            <a:ext cx="866140" cy="0"/>
          </a:xfrm>
          <a:custGeom>
            <a:avLst/>
            <a:gdLst/>
            <a:ahLst/>
            <a:cxnLst/>
            <a:rect l="l" t="t" r="r" b="b"/>
            <a:pathLst>
              <a:path w="866139" h="0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68413" y="268419"/>
            <a:ext cx="209042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>
                <a:solidFill>
                  <a:srgbClr val="2F3131"/>
                </a:solidFill>
                <a:latin typeface="Arial"/>
                <a:cs typeface="Arial"/>
              </a:rPr>
              <a:t>Academic</a:t>
            </a:r>
            <a:r>
              <a:rPr dirty="0" sz="1900" spc="17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F3131"/>
                </a:solidFill>
                <a:latin typeface="Arial"/>
                <a:cs typeface="Arial"/>
              </a:rPr>
              <a:t>Ed</a:t>
            </a:r>
            <a:r>
              <a:rPr dirty="0" sz="1900" spc="-10">
                <a:solidFill>
                  <a:srgbClr val="494B4B"/>
                </a:solidFill>
                <a:latin typeface="Arial"/>
                <a:cs typeface="Arial"/>
              </a:rPr>
              <a:t>i</a:t>
            </a:r>
            <a:r>
              <a:rPr dirty="0" sz="1900" spc="-10">
                <a:solidFill>
                  <a:srgbClr val="181A1A"/>
                </a:solidFill>
                <a:latin typeface="Arial"/>
                <a:cs typeface="Arial"/>
              </a:rPr>
              <a:t>torial</a:t>
            </a:r>
            <a:endParaRPr sz="1900">
              <a:latin typeface="Arial"/>
              <a:cs typeface="Arial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959827" y="651403"/>
            <a:ext cx="15668625" cy="56197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0">
                <a:solidFill>
                  <a:srgbClr val="030505"/>
                </a:solidFill>
              </a:rPr>
              <a:t>Clinical</a:t>
            </a:r>
            <a:r>
              <a:rPr dirty="0" sz="3500" spc="50">
                <a:solidFill>
                  <a:srgbClr val="030505"/>
                </a:solidFill>
              </a:rPr>
              <a:t> </a:t>
            </a:r>
            <a:r>
              <a:rPr dirty="0" sz="3500" spc="80">
                <a:solidFill>
                  <a:srgbClr val="030505"/>
                </a:solidFill>
              </a:rPr>
              <a:t>Management:</a:t>
            </a:r>
            <a:r>
              <a:rPr dirty="0" sz="3500" spc="155">
                <a:solidFill>
                  <a:srgbClr val="030505"/>
                </a:solidFill>
              </a:rPr>
              <a:t> </a:t>
            </a:r>
            <a:r>
              <a:rPr dirty="0" sz="3500">
                <a:solidFill>
                  <a:srgbClr val="030505"/>
                </a:solidFill>
              </a:rPr>
              <a:t>Navigating</a:t>
            </a:r>
            <a:r>
              <a:rPr dirty="0" sz="3500" spc="295">
                <a:solidFill>
                  <a:srgbClr val="030505"/>
                </a:solidFill>
              </a:rPr>
              <a:t> </a:t>
            </a:r>
            <a:r>
              <a:rPr dirty="0" sz="3500" spc="114">
                <a:solidFill>
                  <a:srgbClr val="030505"/>
                </a:solidFill>
              </a:rPr>
              <a:t>the</a:t>
            </a:r>
            <a:r>
              <a:rPr dirty="0" sz="3500" spc="-5">
                <a:solidFill>
                  <a:srgbClr val="030505"/>
                </a:solidFill>
              </a:rPr>
              <a:t> </a:t>
            </a:r>
            <a:r>
              <a:rPr dirty="0" sz="3500">
                <a:solidFill>
                  <a:srgbClr val="030505"/>
                </a:solidFill>
              </a:rPr>
              <a:t>Flux</a:t>
            </a:r>
            <a:r>
              <a:rPr dirty="0" sz="3500" spc="145">
                <a:solidFill>
                  <a:srgbClr val="030505"/>
                </a:solidFill>
              </a:rPr>
              <a:t> </a:t>
            </a:r>
            <a:r>
              <a:rPr dirty="0" sz="3500" spc="80">
                <a:solidFill>
                  <a:srgbClr val="030505"/>
                </a:solidFill>
              </a:rPr>
              <a:t>with</a:t>
            </a:r>
            <a:r>
              <a:rPr dirty="0" sz="3500" spc="-70">
                <a:solidFill>
                  <a:srgbClr val="030505"/>
                </a:solidFill>
              </a:rPr>
              <a:t> </a:t>
            </a:r>
            <a:r>
              <a:rPr dirty="0" sz="3500">
                <a:solidFill>
                  <a:srgbClr val="030505"/>
                </a:solidFill>
              </a:rPr>
              <a:t>Motivational</a:t>
            </a:r>
            <a:r>
              <a:rPr dirty="0" sz="3500" spc="465">
                <a:solidFill>
                  <a:srgbClr val="030505"/>
                </a:solidFill>
              </a:rPr>
              <a:t> </a:t>
            </a:r>
            <a:r>
              <a:rPr dirty="0" sz="3500" spc="-10">
                <a:solidFill>
                  <a:srgbClr val="030505"/>
                </a:solidFill>
              </a:rPr>
              <a:t>Interviewing</a:t>
            </a:r>
            <a:endParaRPr sz="3500"/>
          </a:p>
        </p:txBody>
      </p:sp>
      <p:sp>
        <p:nvSpPr>
          <p:cNvPr id="19" name="object 19"/>
          <p:cNvSpPr txBox="1"/>
          <p:nvPr/>
        </p:nvSpPr>
        <p:spPr>
          <a:xfrm>
            <a:off x="2229723" y="3121653"/>
            <a:ext cx="1558290" cy="15208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51435" marR="72390" indent="63500">
              <a:lnSpc>
                <a:spcPct val="101800"/>
              </a:lnSpc>
              <a:spcBef>
                <a:spcPts val="55"/>
              </a:spcBef>
            </a:pPr>
            <a:r>
              <a:rPr dirty="0" sz="2550" spc="40" b="1">
                <a:solidFill>
                  <a:srgbClr val="030505"/>
                </a:solidFill>
                <a:latin typeface="Arial"/>
                <a:cs typeface="Arial"/>
              </a:rPr>
              <a:t>Express </a:t>
            </a:r>
            <a:r>
              <a:rPr dirty="0" sz="2550" spc="45" b="1">
                <a:solidFill>
                  <a:srgbClr val="030505"/>
                </a:solidFill>
                <a:latin typeface="Arial"/>
                <a:cs typeface="Arial"/>
              </a:rPr>
              <a:t>Empathy</a:t>
            </a:r>
            <a:endParaRPr sz="2550">
              <a:latin typeface="Arial"/>
              <a:cs typeface="Arial"/>
            </a:endParaRPr>
          </a:p>
          <a:p>
            <a:pPr marL="26670" marR="5080" indent="-14604">
              <a:lnSpc>
                <a:spcPts val="2410"/>
              </a:lnSpc>
              <a:spcBef>
                <a:spcPts val="780"/>
              </a:spcBef>
            </a:pPr>
            <a:r>
              <a:rPr dirty="0" sz="2300" spc="-70">
                <a:solidFill>
                  <a:srgbClr val="2F3131"/>
                </a:solidFill>
                <a:latin typeface="Times New Roman"/>
                <a:cs typeface="Times New Roman"/>
              </a:rPr>
              <a:t>(Validation </a:t>
            </a:r>
            <a:r>
              <a:rPr dirty="0" sz="2300" spc="-50">
                <a:solidFill>
                  <a:srgbClr val="2F3131"/>
                </a:solidFill>
                <a:latin typeface="Times New Roman"/>
                <a:cs typeface="Times New Roman"/>
              </a:rPr>
              <a:t>of </a:t>
            </a:r>
            <a:r>
              <a:rPr dirty="0" sz="2300" spc="-40">
                <a:solidFill>
                  <a:srgbClr val="2F3131"/>
                </a:solidFill>
                <a:latin typeface="Times New Roman"/>
                <a:cs typeface="Times New Roman"/>
              </a:rPr>
              <a:t>ambivalence)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27371" y="4519546"/>
            <a:ext cx="11811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220">
                <a:solidFill>
                  <a:srgbClr val="596772"/>
                </a:solidFill>
                <a:latin typeface="Times New Roman"/>
                <a:cs typeface="Times New Roman"/>
              </a:rPr>
              <a:t>�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749648" y="5413108"/>
            <a:ext cx="1681480" cy="0"/>
          </a:xfrm>
          <a:custGeom>
            <a:avLst/>
            <a:gdLst/>
            <a:ahLst/>
            <a:cxnLst/>
            <a:rect l="l" t="t" r="r" b="b"/>
            <a:pathLst>
              <a:path w="1681479" h="0">
                <a:moveTo>
                  <a:pt x="0" y="0"/>
                </a:moveTo>
                <a:lnTo>
                  <a:pt x="1681273" y="0"/>
                </a:lnTo>
              </a:path>
            </a:pathLst>
          </a:custGeom>
          <a:ln w="12766">
            <a:solidFill>
              <a:srgbClr val="5967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736947" y="4481248"/>
            <a:ext cx="171894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-1900" b="1">
                <a:solidFill>
                  <a:srgbClr val="596772"/>
                </a:solidFill>
                <a:latin typeface="Arial"/>
                <a:cs typeface="Arial"/>
              </a:rPr>
              <a:t>OARS</a:t>
            </a:r>
            <a:endParaRPr sz="720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33434"/>
                </a:solidFill>
              </a:rPr>
              <a:t>Isl\</a:t>
            </a:r>
            <a:r>
              <a:rPr dirty="0" sz="1300" spc="-45">
                <a:solidFill>
                  <a:srgbClr val="333434"/>
                </a:solidFill>
              </a:rPr>
              <a:t> </a:t>
            </a:r>
            <a:r>
              <a:rPr dirty="0" spc="-10">
                <a:solidFill>
                  <a:srgbClr val="1C1C1C"/>
                </a:solidFill>
              </a:rPr>
              <a:t>NotebookLM</a:t>
            </a:r>
            <a:endParaRPr sz="1300"/>
          </a:p>
        </p:txBody>
      </p:sp>
      <p:sp>
        <p:nvSpPr>
          <p:cNvPr id="23" name="object 23"/>
          <p:cNvSpPr txBox="1"/>
          <p:nvPr/>
        </p:nvSpPr>
        <p:spPr>
          <a:xfrm>
            <a:off x="7147211" y="3019524"/>
            <a:ext cx="2038985" cy="182689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ctr" marL="12700" marR="9525" indent="16510">
              <a:lnSpc>
                <a:spcPct val="101800"/>
              </a:lnSpc>
              <a:spcBef>
                <a:spcPts val="55"/>
              </a:spcBef>
            </a:pPr>
            <a:r>
              <a:rPr dirty="0" sz="2550" spc="70" b="1">
                <a:solidFill>
                  <a:srgbClr val="030505"/>
                </a:solidFill>
                <a:latin typeface="Arial"/>
                <a:cs typeface="Arial"/>
              </a:rPr>
              <a:t>Develop </a:t>
            </a:r>
            <a:r>
              <a:rPr dirty="0" sz="2550" spc="40" b="1">
                <a:solidFill>
                  <a:srgbClr val="030505"/>
                </a:solidFill>
                <a:latin typeface="Arial"/>
                <a:cs typeface="Arial"/>
              </a:rPr>
              <a:t>Discrepancy</a:t>
            </a:r>
            <a:endParaRPr sz="2550">
              <a:latin typeface="Arial"/>
              <a:cs typeface="Arial"/>
            </a:endParaRPr>
          </a:p>
          <a:p>
            <a:pPr algn="ctr" marL="49530" marR="5080">
              <a:lnSpc>
                <a:spcPts val="2410"/>
              </a:lnSpc>
              <a:spcBef>
                <a:spcPts val="780"/>
              </a:spcBef>
            </a:pPr>
            <a:r>
              <a:rPr dirty="0" sz="2300" spc="-55">
                <a:solidFill>
                  <a:srgbClr val="2F3131"/>
                </a:solidFill>
                <a:latin typeface="Times New Roman"/>
                <a:cs typeface="Times New Roman"/>
              </a:rPr>
              <a:t>(Highlighting</a:t>
            </a:r>
            <a:r>
              <a:rPr dirty="0" sz="2300" spc="-60">
                <a:solidFill>
                  <a:srgbClr val="2F3131"/>
                </a:solidFill>
                <a:latin typeface="Times New Roman"/>
                <a:cs typeface="Times New Roman"/>
              </a:rPr>
              <a:t> </a:t>
            </a:r>
            <a:r>
              <a:rPr dirty="0" sz="2300" spc="-45">
                <a:solidFill>
                  <a:srgbClr val="2F3131"/>
                </a:solidFill>
                <a:latin typeface="Times New Roman"/>
                <a:cs typeface="Times New Roman"/>
              </a:rPr>
              <a:t>gap </a:t>
            </a:r>
            <a:r>
              <a:rPr dirty="0" sz="2300" spc="-50">
                <a:solidFill>
                  <a:srgbClr val="2F3131"/>
                </a:solidFill>
                <a:latin typeface="Times New Roman"/>
                <a:cs typeface="Times New Roman"/>
              </a:rPr>
              <a:t>between</a:t>
            </a:r>
            <a:r>
              <a:rPr dirty="0" sz="2300" spc="-90">
                <a:solidFill>
                  <a:srgbClr val="2F3131"/>
                </a:solidFill>
                <a:latin typeface="Times New Roman"/>
                <a:cs typeface="Times New Roman"/>
              </a:rPr>
              <a:t> </a:t>
            </a:r>
            <a:r>
              <a:rPr dirty="0" sz="2300" spc="-50">
                <a:solidFill>
                  <a:srgbClr val="181A1A"/>
                </a:solidFill>
                <a:latin typeface="Times New Roman"/>
                <a:cs typeface="Times New Roman"/>
              </a:rPr>
              <a:t>behavior </a:t>
            </a:r>
            <a:r>
              <a:rPr dirty="0" sz="2300">
                <a:solidFill>
                  <a:srgbClr val="2F3131"/>
                </a:solidFill>
                <a:latin typeface="Times New Roman"/>
                <a:cs typeface="Times New Roman"/>
              </a:rPr>
              <a:t>and</a:t>
            </a:r>
            <a:r>
              <a:rPr dirty="0" sz="2300" spc="-135">
                <a:solidFill>
                  <a:srgbClr val="2F3131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181A1A"/>
                </a:solidFill>
                <a:latin typeface="Times New Roman"/>
                <a:cs typeface="Times New Roman"/>
              </a:rPr>
              <a:t>values)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86696" y="6938731"/>
            <a:ext cx="2072005" cy="152082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368935">
              <a:lnSpc>
                <a:spcPts val="3220"/>
              </a:lnSpc>
              <a:spcBef>
                <a:spcPts val="85"/>
              </a:spcBef>
            </a:pPr>
            <a:r>
              <a:rPr dirty="0" sz="2550" spc="55" b="1">
                <a:solidFill>
                  <a:srgbClr val="030505"/>
                </a:solidFill>
                <a:latin typeface="Arial"/>
                <a:cs typeface="Arial"/>
              </a:rPr>
              <a:t>Support </a:t>
            </a:r>
            <a:r>
              <a:rPr dirty="0" sz="2550" spc="50" b="1">
                <a:solidFill>
                  <a:srgbClr val="030505"/>
                </a:solidFill>
                <a:latin typeface="Arial"/>
                <a:cs typeface="Arial"/>
              </a:rPr>
              <a:t>Self-</a:t>
            </a:r>
            <a:r>
              <a:rPr dirty="0" sz="2550" spc="45" b="1">
                <a:solidFill>
                  <a:srgbClr val="030505"/>
                </a:solidFill>
                <a:latin typeface="Arial"/>
                <a:cs typeface="Arial"/>
              </a:rPr>
              <a:t>Efficacy</a:t>
            </a:r>
            <a:endParaRPr sz="2550">
              <a:latin typeface="Arial"/>
              <a:cs typeface="Arial"/>
            </a:endParaRPr>
          </a:p>
          <a:p>
            <a:pPr marL="382905" marR="383540" indent="137795">
              <a:lnSpc>
                <a:spcPts val="2410"/>
              </a:lnSpc>
              <a:spcBef>
                <a:spcPts val="540"/>
              </a:spcBef>
            </a:pPr>
            <a:r>
              <a:rPr dirty="0" sz="2300" spc="-10">
                <a:solidFill>
                  <a:srgbClr val="2F3131"/>
                </a:solidFill>
                <a:latin typeface="Times New Roman"/>
                <a:cs typeface="Times New Roman"/>
              </a:rPr>
              <a:t>(Building </a:t>
            </a:r>
            <a:r>
              <a:rPr dirty="0" sz="2300" spc="-70">
                <a:solidFill>
                  <a:srgbClr val="2F3131"/>
                </a:solidFill>
                <a:latin typeface="Times New Roman"/>
                <a:cs typeface="Times New Roman"/>
              </a:rPr>
              <a:t>confidence)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769204" y="2557459"/>
            <a:ext cx="4837430" cy="278701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835"/>
              </a:spcBef>
            </a:pPr>
            <a:r>
              <a:rPr dirty="0" sz="2550" b="1">
                <a:solidFill>
                  <a:srgbClr val="030505"/>
                </a:solidFill>
                <a:latin typeface="Arial"/>
                <a:cs typeface="Arial"/>
              </a:rPr>
              <a:t>Rolling</a:t>
            </a:r>
            <a:r>
              <a:rPr dirty="0" sz="2550" spc="215" b="1">
                <a:solidFill>
                  <a:srgbClr val="030505"/>
                </a:solidFill>
                <a:latin typeface="Arial"/>
                <a:cs typeface="Arial"/>
              </a:rPr>
              <a:t> </a:t>
            </a:r>
            <a:r>
              <a:rPr dirty="0" sz="2550" spc="95" b="1">
                <a:solidFill>
                  <a:srgbClr val="030505"/>
                </a:solidFill>
                <a:latin typeface="Arial"/>
                <a:cs typeface="Arial"/>
              </a:rPr>
              <a:t>with</a:t>
            </a:r>
            <a:r>
              <a:rPr dirty="0" sz="2550" spc="20" b="1">
                <a:solidFill>
                  <a:srgbClr val="030505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30505"/>
                </a:solidFill>
                <a:latin typeface="Arial"/>
                <a:cs typeface="Arial"/>
              </a:rPr>
              <a:t>Resistance</a:t>
            </a:r>
            <a:endParaRPr sz="2550">
              <a:latin typeface="Arial"/>
              <a:cs typeface="Arial"/>
            </a:endParaRPr>
          </a:p>
          <a:p>
            <a:pPr marL="12700" marR="5080" indent="8890">
              <a:lnSpc>
                <a:spcPct val="102499"/>
              </a:lnSpc>
              <a:spcBef>
                <a:spcPts val="725"/>
              </a:spcBef>
            </a:pPr>
            <a:r>
              <a:rPr dirty="0" sz="2800" spc="-130">
                <a:solidFill>
                  <a:srgbClr val="181A1A"/>
                </a:solidFill>
                <a:latin typeface="Times New Roman"/>
                <a:cs typeface="Times New Roman"/>
              </a:rPr>
              <a:t>Viewing</a:t>
            </a:r>
            <a:r>
              <a:rPr dirty="0" sz="2800" spc="-229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45">
                <a:solidFill>
                  <a:srgbClr val="2F3131"/>
                </a:solidFill>
                <a:latin typeface="Times New Roman"/>
                <a:cs typeface="Times New Roman"/>
              </a:rPr>
              <a:t>"susta</a:t>
            </a:r>
            <a:r>
              <a:rPr dirty="0" sz="2800" spc="-45">
                <a:solidFill>
                  <a:srgbClr val="030505"/>
                </a:solidFill>
                <a:latin typeface="Times New Roman"/>
                <a:cs typeface="Times New Roman"/>
              </a:rPr>
              <a:t>in</a:t>
            </a:r>
            <a:r>
              <a:rPr dirty="0" sz="2800" spc="-80">
                <a:solidFill>
                  <a:srgbClr val="030505"/>
                </a:solidFill>
                <a:latin typeface="Times New Roman"/>
                <a:cs typeface="Times New Roman"/>
              </a:rPr>
              <a:t> </a:t>
            </a:r>
            <a:r>
              <a:rPr dirty="0" sz="2800" spc="-55">
                <a:solidFill>
                  <a:srgbClr val="181A1A"/>
                </a:solidFill>
                <a:latin typeface="Times New Roman"/>
                <a:cs typeface="Times New Roman"/>
              </a:rPr>
              <a:t>talk"</a:t>
            </a:r>
            <a:r>
              <a:rPr dirty="0" sz="2800" spc="-210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181A1A"/>
                </a:solidFill>
                <a:latin typeface="Times New Roman"/>
                <a:cs typeface="Times New Roman"/>
              </a:rPr>
              <a:t>not</a:t>
            </a:r>
            <a:r>
              <a:rPr dirty="0" sz="2800" spc="-114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55">
                <a:solidFill>
                  <a:srgbClr val="2F3131"/>
                </a:solidFill>
                <a:latin typeface="Times New Roman"/>
                <a:cs typeface="Times New Roman"/>
              </a:rPr>
              <a:t>as</a:t>
            </a:r>
            <a:r>
              <a:rPr dirty="0" sz="2800" spc="-235">
                <a:solidFill>
                  <a:srgbClr val="2F3131"/>
                </a:solidFill>
                <a:latin typeface="Times New Roman"/>
                <a:cs typeface="Times New Roman"/>
              </a:rPr>
              <a:t> </a:t>
            </a:r>
            <a:r>
              <a:rPr dirty="0" sz="2800" spc="-50">
                <a:solidFill>
                  <a:srgbClr val="181A1A"/>
                </a:solidFill>
                <a:latin typeface="Times New Roman"/>
                <a:cs typeface="Times New Roman"/>
              </a:rPr>
              <a:t>a </a:t>
            </a:r>
            <a:r>
              <a:rPr dirty="0" sz="2800" spc="-80">
                <a:solidFill>
                  <a:srgbClr val="181A1A"/>
                </a:solidFill>
                <a:latin typeface="Times New Roman"/>
                <a:cs typeface="Times New Roman"/>
              </a:rPr>
              <a:t>challenge,</a:t>
            </a:r>
            <a:r>
              <a:rPr dirty="0" sz="2800" spc="-50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181A1A"/>
                </a:solidFill>
                <a:latin typeface="Times New Roman"/>
                <a:cs typeface="Times New Roman"/>
              </a:rPr>
              <a:t>but</a:t>
            </a:r>
            <a:r>
              <a:rPr dirty="0" sz="2800" spc="-120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55">
                <a:solidFill>
                  <a:srgbClr val="181A1A"/>
                </a:solidFill>
                <a:latin typeface="Times New Roman"/>
                <a:cs typeface="Times New Roman"/>
              </a:rPr>
              <a:t>as</a:t>
            </a:r>
            <a:r>
              <a:rPr dirty="0" sz="2800" spc="-240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181A1A"/>
                </a:solidFill>
                <a:latin typeface="Times New Roman"/>
                <a:cs typeface="Times New Roman"/>
              </a:rPr>
              <a:t>a</a:t>
            </a:r>
            <a:r>
              <a:rPr dirty="0" sz="2800" spc="-105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30">
                <a:solidFill>
                  <a:srgbClr val="181A1A"/>
                </a:solidFill>
                <a:latin typeface="Times New Roman"/>
                <a:cs typeface="Times New Roman"/>
              </a:rPr>
              <a:t>normal</a:t>
            </a:r>
            <a:r>
              <a:rPr dirty="0" sz="2800" spc="-65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181A1A"/>
                </a:solidFill>
                <a:latin typeface="Times New Roman"/>
                <a:cs typeface="Times New Roman"/>
              </a:rPr>
              <a:t>part</a:t>
            </a:r>
            <a:r>
              <a:rPr dirty="0" sz="2800" spc="-200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25">
                <a:solidFill>
                  <a:srgbClr val="181A1A"/>
                </a:solidFill>
                <a:latin typeface="Times New Roman"/>
                <a:cs typeface="Times New Roman"/>
              </a:rPr>
              <a:t>of </a:t>
            </a:r>
            <a:r>
              <a:rPr dirty="0" sz="2800">
                <a:solidFill>
                  <a:srgbClr val="181A1A"/>
                </a:solidFill>
                <a:latin typeface="Times New Roman"/>
                <a:cs typeface="Times New Roman"/>
              </a:rPr>
              <a:t>the</a:t>
            </a:r>
            <a:r>
              <a:rPr dirty="0" sz="2800" spc="-210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65">
                <a:solidFill>
                  <a:srgbClr val="181A1A"/>
                </a:solidFill>
                <a:latin typeface="Times New Roman"/>
                <a:cs typeface="Times New Roman"/>
              </a:rPr>
              <a:t>process.</a:t>
            </a:r>
            <a:r>
              <a:rPr dirty="0" sz="2800" spc="-335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114">
                <a:solidFill>
                  <a:srgbClr val="181A1A"/>
                </a:solidFill>
                <a:latin typeface="Times New Roman"/>
                <a:cs typeface="Times New Roman"/>
              </a:rPr>
              <a:t>"Agreement</a:t>
            </a:r>
            <a:r>
              <a:rPr dirty="0" sz="2800" spc="15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30">
                <a:solidFill>
                  <a:srgbClr val="181A1A"/>
                </a:solidFill>
                <a:latin typeface="Times New Roman"/>
                <a:cs typeface="Times New Roman"/>
              </a:rPr>
              <a:t>with</a:t>
            </a:r>
            <a:r>
              <a:rPr dirty="0" sz="2800" spc="-55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50">
                <a:solidFill>
                  <a:srgbClr val="181A1A"/>
                </a:solidFill>
                <a:latin typeface="Times New Roman"/>
                <a:cs typeface="Times New Roman"/>
              </a:rPr>
              <a:t>a </a:t>
            </a:r>
            <a:r>
              <a:rPr dirty="0" sz="2800" spc="-65">
                <a:solidFill>
                  <a:srgbClr val="181A1A"/>
                </a:solidFill>
                <a:latin typeface="Times New Roman"/>
                <a:cs typeface="Times New Roman"/>
              </a:rPr>
              <a:t>twist"</a:t>
            </a:r>
            <a:r>
              <a:rPr dirty="0" sz="2800" spc="-145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114">
                <a:solidFill>
                  <a:srgbClr val="181A1A"/>
                </a:solidFill>
                <a:latin typeface="Times New Roman"/>
                <a:cs typeface="Times New Roman"/>
              </a:rPr>
              <a:t>moves</a:t>
            </a:r>
            <a:r>
              <a:rPr dirty="0" sz="2800" spc="-65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70">
                <a:solidFill>
                  <a:srgbClr val="181A1A"/>
                </a:solidFill>
                <a:latin typeface="Times New Roman"/>
                <a:cs typeface="Times New Roman"/>
              </a:rPr>
              <a:t>with</a:t>
            </a:r>
            <a:r>
              <a:rPr dirty="0" sz="2800" spc="-120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181A1A"/>
                </a:solidFill>
                <a:latin typeface="Times New Roman"/>
                <a:cs typeface="Times New Roman"/>
              </a:rPr>
              <a:t>the</a:t>
            </a:r>
            <a:r>
              <a:rPr dirty="0" sz="2800" spc="-204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60">
                <a:solidFill>
                  <a:srgbClr val="181A1A"/>
                </a:solidFill>
                <a:latin typeface="Times New Roman"/>
                <a:cs typeface="Times New Roman"/>
              </a:rPr>
              <a:t>energy</a:t>
            </a:r>
            <a:r>
              <a:rPr dirty="0" sz="2800" spc="-25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030505"/>
                </a:solidFill>
                <a:latin typeface="Times New Roman"/>
                <a:cs typeface="Times New Roman"/>
              </a:rPr>
              <a:t>rather </a:t>
            </a:r>
            <a:r>
              <a:rPr dirty="0" sz="2800">
                <a:solidFill>
                  <a:srgbClr val="181A1A"/>
                </a:solidFill>
                <a:latin typeface="Times New Roman"/>
                <a:cs typeface="Times New Roman"/>
              </a:rPr>
              <a:t>than</a:t>
            </a:r>
            <a:r>
              <a:rPr dirty="0" sz="2800" spc="-65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55">
                <a:solidFill>
                  <a:srgbClr val="181A1A"/>
                </a:solidFill>
                <a:latin typeface="Times New Roman"/>
                <a:cs typeface="Times New Roman"/>
              </a:rPr>
              <a:t>opposing</a:t>
            </a:r>
            <a:r>
              <a:rPr dirty="0" sz="2800" spc="-145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25">
                <a:solidFill>
                  <a:srgbClr val="181A1A"/>
                </a:solidFill>
                <a:latin typeface="Times New Roman"/>
                <a:cs typeface="Times New Roman"/>
              </a:rPr>
              <a:t>it.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764212" y="6056522"/>
            <a:ext cx="4807585" cy="237744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algn="just" marL="12700" indent="9525">
              <a:lnSpc>
                <a:spcPct val="100000"/>
              </a:lnSpc>
              <a:spcBef>
                <a:spcPts val="925"/>
              </a:spcBef>
            </a:pPr>
            <a:r>
              <a:rPr dirty="0" sz="2550" b="1">
                <a:solidFill>
                  <a:srgbClr val="030505"/>
                </a:solidFill>
                <a:latin typeface="Arial"/>
                <a:cs typeface="Arial"/>
              </a:rPr>
              <a:t>Trauma</a:t>
            </a:r>
            <a:r>
              <a:rPr dirty="0" sz="2550" spc="240" b="1">
                <a:solidFill>
                  <a:srgbClr val="030505"/>
                </a:solidFill>
                <a:latin typeface="Arial"/>
                <a:cs typeface="Arial"/>
              </a:rPr>
              <a:t> </a:t>
            </a:r>
            <a:r>
              <a:rPr dirty="0" sz="2550" spc="65" b="1">
                <a:solidFill>
                  <a:srgbClr val="030505"/>
                </a:solidFill>
                <a:latin typeface="Arial"/>
                <a:cs typeface="Arial"/>
              </a:rPr>
              <a:t>Integration</a:t>
            </a:r>
            <a:r>
              <a:rPr dirty="0" sz="2550" spc="114" b="1">
                <a:solidFill>
                  <a:srgbClr val="030505"/>
                </a:solidFill>
                <a:latin typeface="Arial"/>
                <a:cs typeface="Arial"/>
              </a:rPr>
              <a:t> </a:t>
            </a:r>
            <a:r>
              <a:rPr dirty="0" sz="2550" spc="60" b="1">
                <a:solidFill>
                  <a:srgbClr val="030505"/>
                </a:solidFill>
                <a:latin typeface="Arial"/>
                <a:cs typeface="Arial"/>
              </a:rPr>
              <a:t>(IFS/DBTI</a:t>
            </a:r>
            <a:endParaRPr sz="2550">
              <a:latin typeface="Arial"/>
              <a:cs typeface="Arial"/>
            </a:endParaRPr>
          </a:p>
          <a:p>
            <a:pPr algn="just" marL="12700" marR="5080">
              <a:lnSpc>
                <a:spcPct val="102699"/>
              </a:lnSpc>
              <a:spcBef>
                <a:spcPts val="825"/>
              </a:spcBef>
            </a:pPr>
            <a:r>
              <a:rPr dirty="0" sz="2600" spc="60" b="1">
                <a:solidFill>
                  <a:srgbClr val="030505"/>
                </a:solidFill>
                <a:latin typeface="Times New Roman"/>
                <a:cs typeface="Times New Roman"/>
              </a:rPr>
              <a:t>Sequencing</a:t>
            </a:r>
            <a:r>
              <a:rPr dirty="0" sz="2600" spc="-25" b="1">
                <a:solidFill>
                  <a:srgbClr val="030505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181A1A"/>
                </a:solidFill>
                <a:latin typeface="Times New Roman"/>
                <a:cs typeface="Times New Roman"/>
              </a:rPr>
              <a:t>is</a:t>
            </a:r>
            <a:r>
              <a:rPr dirty="0" sz="2600" spc="55" b="1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181A1A"/>
                </a:solidFill>
                <a:latin typeface="Times New Roman"/>
                <a:cs typeface="Times New Roman"/>
              </a:rPr>
              <a:t>Critical:</a:t>
            </a:r>
            <a:r>
              <a:rPr dirty="0" sz="2600" spc="-160" b="1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105">
                <a:solidFill>
                  <a:srgbClr val="181A1A"/>
                </a:solidFill>
                <a:latin typeface="Times New Roman"/>
                <a:cs typeface="Times New Roman"/>
              </a:rPr>
              <a:t>Safety</a:t>
            </a:r>
            <a:r>
              <a:rPr dirty="0" sz="2800" spc="50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25">
                <a:solidFill>
                  <a:srgbClr val="181A1A"/>
                </a:solidFill>
                <a:latin typeface="Times New Roman"/>
                <a:cs typeface="Times New Roman"/>
              </a:rPr>
              <a:t>and </a:t>
            </a:r>
            <a:r>
              <a:rPr dirty="0" sz="2800" spc="-50">
                <a:solidFill>
                  <a:srgbClr val="181A1A"/>
                </a:solidFill>
                <a:latin typeface="Times New Roman"/>
                <a:cs typeface="Times New Roman"/>
              </a:rPr>
              <a:t>sobriety</a:t>
            </a:r>
            <a:r>
              <a:rPr dirty="0" sz="2800" spc="-125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20">
                <a:solidFill>
                  <a:srgbClr val="181A1A"/>
                </a:solidFill>
                <a:latin typeface="Times New Roman"/>
                <a:cs typeface="Times New Roman"/>
              </a:rPr>
              <a:t>must</a:t>
            </a:r>
            <a:r>
              <a:rPr dirty="0" sz="2800" spc="-155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90">
                <a:solidFill>
                  <a:srgbClr val="181A1A"/>
                </a:solidFill>
                <a:latin typeface="Times New Roman"/>
                <a:cs typeface="Times New Roman"/>
              </a:rPr>
              <a:t>be</a:t>
            </a:r>
            <a:r>
              <a:rPr dirty="0" sz="2800" spc="-85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60">
                <a:solidFill>
                  <a:srgbClr val="181A1A"/>
                </a:solidFill>
                <a:latin typeface="Times New Roman"/>
                <a:cs typeface="Times New Roman"/>
              </a:rPr>
              <a:t>established</a:t>
            </a:r>
            <a:r>
              <a:rPr dirty="0" sz="2800" spc="-35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25">
                <a:solidFill>
                  <a:srgbClr val="181A1A"/>
                </a:solidFill>
                <a:latin typeface="Times New Roman"/>
                <a:cs typeface="Times New Roman"/>
              </a:rPr>
              <a:t>before </a:t>
            </a:r>
            <a:r>
              <a:rPr dirty="0" sz="2800" spc="-20">
                <a:solidFill>
                  <a:srgbClr val="181A1A"/>
                </a:solidFill>
                <a:latin typeface="Times New Roman"/>
                <a:cs typeface="Times New Roman"/>
              </a:rPr>
              <a:t>deep</a:t>
            </a:r>
            <a:r>
              <a:rPr dirty="0" sz="2800" spc="-155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20">
                <a:solidFill>
                  <a:srgbClr val="181A1A"/>
                </a:solidFill>
                <a:latin typeface="Times New Roman"/>
                <a:cs typeface="Times New Roman"/>
              </a:rPr>
              <a:t>trauma</a:t>
            </a:r>
            <a:r>
              <a:rPr dirty="0" sz="2800" spc="-145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60">
                <a:solidFill>
                  <a:srgbClr val="181A1A"/>
                </a:solidFill>
                <a:latin typeface="Times New Roman"/>
                <a:cs typeface="Times New Roman"/>
              </a:rPr>
              <a:t>processing</a:t>
            </a:r>
            <a:r>
              <a:rPr dirty="0" sz="2800" spc="-50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181A1A"/>
                </a:solidFill>
                <a:latin typeface="Times New Roman"/>
                <a:cs typeface="Times New Roman"/>
              </a:rPr>
              <a:t>to</a:t>
            </a:r>
            <a:r>
              <a:rPr dirty="0" sz="2800" spc="-175">
                <a:solidFill>
                  <a:srgbClr val="181A1A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181A1A"/>
                </a:solidFill>
                <a:latin typeface="Times New Roman"/>
                <a:cs typeface="Times New Roman"/>
              </a:rPr>
              <a:t>prevent destabilization.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3593" y="4672674"/>
            <a:ext cx="585898" cy="9191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9732" y="4596076"/>
            <a:ext cx="1885063" cy="6638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59436" y="4596076"/>
            <a:ext cx="331159" cy="4085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69975" y="4315221"/>
            <a:ext cx="509476" cy="6383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69135" y="4468414"/>
            <a:ext cx="1961485" cy="817033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572857" y="6025883"/>
            <a:ext cx="0" cy="817244"/>
          </a:xfrm>
          <a:custGeom>
            <a:avLst/>
            <a:gdLst/>
            <a:ahLst/>
            <a:cxnLst/>
            <a:rect l="l" t="t" r="r" b="b"/>
            <a:pathLst>
              <a:path w="0" h="817245">
                <a:moveTo>
                  <a:pt x="0" y="81703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890369" y="6051415"/>
            <a:ext cx="0" cy="791845"/>
          </a:xfrm>
          <a:custGeom>
            <a:avLst/>
            <a:gdLst/>
            <a:ahLst/>
            <a:cxnLst/>
            <a:rect l="l" t="t" r="r" b="b"/>
            <a:pathLst>
              <a:path w="0" h="791845">
                <a:moveTo>
                  <a:pt x="0" y="791500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005002" y="4034365"/>
            <a:ext cx="0" cy="561975"/>
          </a:xfrm>
          <a:custGeom>
            <a:avLst/>
            <a:gdLst/>
            <a:ahLst/>
            <a:cxnLst/>
            <a:rect l="l" t="t" r="r" b="b"/>
            <a:pathLst>
              <a:path w="0" h="561975">
                <a:moveTo>
                  <a:pt x="0" y="561710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19634" y="5259915"/>
            <a:ext cx="0" cy="689610"/>
          </a:xfrm>
          <a:custGeom>
            <a:avLst/>
            <a:gdLst/>
            <a:ahLst/>
            <a:cxnLst/>
            <a:rect l="l" t="t" r="r" b="b"/>
            <a:pathLst>
              <a:path w="0" h="689610">
                <a:moveTo>
                  <a:pt x="0" y="689371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374372" y="6051415"/>
            <a:ext cx="0" cy="791845"/>
          </a:xfrm>
          <a:custGeom>
            <a:avLst/>
            <a:gdLst/>
            <a:ahLst/>
            <a:cxnLst/>
            <a:rect l="l" t="t" r="r" b="b"/>
            <a:pathLst>
              <a:path w="0" h="791845">
                <a:moveTo>
                  <a:pt x="0" y="791500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374372" y="3319461"/>
            <a:ext cx="0" cy="561975"/>
          </a:xfrm>
          <a:custGeom>
            <a:avLst/>
            <a:gdLst/>
            <a:ahLst/>
            <a:cxnLst/>
            <a:rect l="l" t="t" r="r" b="b"/>
            <a:pathLst>
              <a:path w="0" h="561975">
                <a:moveTo>
                  <a:pt x="0" y="561710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253219" y="4774801"/>
            <a:ext cx="0" cy="511175"/>
          </a:xfrm>
          <a:custGeom>
            <a:avLst/>
            <a:gdLst/>
            <a:ahLst/>
            <a:cxnLst/>
            <a:rect l="l" t="t" r="r" b="b"/>
            <a:pathLst>
              <a:path w="0"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603333" y="3727978"/>
            <a:ext cx="0" cy="1276985"/>
          </a:xfrm>
          <a:custGeom>
            <a:avLst/>
            <a:gdLst/>
            <a:ahLst/>
            <a:cxnLst/>
            <a:rect l="l" t="t" r="r" b="b"/>
            <a:pathLst>
              <a:path w="0" h="1276985">
                <a:moveTo>
                  <a:pt x="0" y="1276614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972704" y="4442882"/>
            <a:ext cx="0" cy="1353820"/>
          </a:xfrm>
          <a:custGeom>
            <a:avLst/>
            <a:gdLst/>
            <a:ahLst/>
            <a:cxnLst/>
            <a:rect l="l" t="t" r="r" b="b"/>
            <a:pathLst>
              <a:path w="0" h="1353820">
                <a:moveTo>
                  <a:pt x="0" y="1353211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3029868" y="4876930"/>
            <a:ext cx="0" cy="511175"/>
          </a:xfrm>
          <a:custGeom>
            <a:avLst/>
            <a:gdLst/>
            <a:ahLst/>
            <a:cxnLst/>
            <a:rect l="l" t="t" r="r" b="b"/>
            <a:pathLst>
              <a:path w="0"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157237" y="4851398"/>
            <a:ext cx="0" cy="536575"/>
          </a:xfrm>
          <a:custGeom>
            <a:avLst/>
            <a:gdLst/>
            <a:ahLst/>
            <a:cxnLst/>
            <a:rect l="l" t="t" r="r" b="b"/>
            <a:pathLst>
              <a:path w="0"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4137980" y="4238623"/>
            <a:ext cx="0" cy="1736725"/>
          </a:xfrm>
          <a:custGeom>
            <a:avLst/>
            <a:gdLst/>
            <a:ahLst/>
            <a:cxnLst/>
            <a:rect l="l" t="t" r="r" b="b"/>
            <a:pathLst>
              <a:path w="0" h="1736725">
                <a:moveTo>
                  <a:pt x="0" y="1736195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4430930" y="4187559"/>
            <a:ext cx="0" cy="536575"/>
          </a:xfrm>
          <a:custGeom>
            <a:avLst/>
            <a:gdLst/>
            <a:ahLst/>
            <a:cxnLst/>
            <a:rect l="l" t="t" r="r" b="b"/>
            <a:pathLst>
              <a:path w="0"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309777" y="5872689"/>
            <a:ext cx="0" cy="970280"/>
          </a:xfrm>
          <a:custGeom>
            <a:avLst/>
            <a:gdLst/>
            <a:ahLst/>
            <a:cxnLst/>
            <a:rect l="l" t="t" r="r" b="b"/>
            <a:pathLst>
              <a:path w="0" h="970279">
                <a:moveTo>
                  <a:pt x="0" y="97022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309777" y="3319461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39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437146" y="5285447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68005" y="1647096"/>
            <a:ext cx="1961514" cy="128270"/>
          </a:xfrm>
          <a:custGeom>
            <a:avLst/>
            <a:gdLst/>
            <a:ahLst/>
            <a:cxnLst/>
            <a:rect l="l" t="t" r="r" b="b"/>
            <a:pathLst>
              <a:path w="1961514" h="128269">
                <a:moveTo>
                  <a:pt x="0" y="0"/>
                </a:moveTo>
                <a:lnTo>
                  <a:pt x="1961485" y="0"/>
                </a:lnTo>
                <a:lnTo>
                  <a:pt x="1961485" y="127661"/>
                </a:lnTo>
                <a:lnTo>
                  <a:pt x="0" y="1276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0648064" y="3115203"/>
            <a:ext cx="3209925" cy="0"/>
          </a:xfrm>
          <a:custGeom>
            <a:avLst/>
            <a:gdLst/>
            <a:ahLst/>
            <a:cxnLst/>
            <a:rect l="l" t="t" r="r" b="b"/>
            <a:pathLst>
              <a:path w="3209925" h="0">
                <a:moveTo>
                  <a:pt x="0" y="0"/>
                </a:moveTo>
                <a:lnTo>
                  <a:pt x="320970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050340" y="3115203"/>
            <a:ext cx="1426845" cy="0"/>
          </a:xfrm>
          <a:custGeom>
            <a:avLst/>
            <a:gdLst/>
            <a:ahLst/>
            <a:cxnLst/>
            <a:rect l="l" t="t" r="r" b="b"/>
            <a:pathLst>
              <a:path w="1426845" h="0">
                <a:moveTo>
                  <a:pt x="0" y="0"/>
                </a:moveTo>
                <a:lnTo>
                  <a:pt x="142653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934797" y="4902463"/>
            <a:ext cx="3337560" cy="0"/>
          </a:xfrm>
          <a:custGeom>
            <a:avLst/>
            <a:gdLst/>
            <a:ahLst/>
            <a:cxnLst/>
            <a:rect l="l" t="t" r="r" b="b"/>
            <a:pathLst>
              <a:path w="3337559" h="0">
                <a:moveTo>
                  <a:pt x="0" y="0"/>
                </a:moveTo>
                <a:lnTo>
                  <a:pt x="3337072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929491" y="4902463"/>
            <a:ext cx="5120640" cy="0"/>
          </a:xfrm>
          <a:custGeom>
            <a:avLst/>
            <a:gdLst/>
            <a:ahLst/>
            <a:cxnLst/>
            <a:rect l="l" t="t" r="r" b="b"/>
            <a:pathLst>
              <a:path w="5120640" h="0">
                <a:moveTo>
                  <a:pt x="0" y="0"/>
                </a:moveTo>
                <a:lnTo>
                  <a:pt x="5120241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68005" y="4902463"/>
            <a:ext cx="1376045" cy="0"/>
          </a:xfrm>
          <a:custGeom>
            <a:avLst/>
            <a:gdLst/>
            <a:ahLst/>
            <a:cxnLst/>
            <a:rect l="l" t="t" r="r" b="b"/>
            <a:pathLst>
              <a:path w="1376045" h="0">
                <a:moveTo>
                  <a:pt x="0" y="0"/>
                </a:moveTo>
                <a:lnTo>
                  <a:pt x="1375587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9348899" y="6791852"/>
            <a:ext cx="5986780" cy="0"/>
          </a:xfrm>
          <a:custGeom>
            <a:avLst/>
            <a:gdLst/>
            <a:ahLst/>
            <a:cxnLst/>
            <a:rect l="l" t="t" r="r" b="b"/>
            <a:pathLst>
              <a:path w="5986780" h="0">
                <a:moveTo>
                  <a:pt x="0" y="0"/>
                </a:moveTo>
                <a:lnTo>
                  <a:pt x="5986352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547383" y="6804617"/>
            <a:ext cx="6369050" cy="0"/>
          </a:xfrm>
          <a:custGeom>
            <a:avLst/>
            <a:gdLst/>
            <a:ahLst/>
            <a:cxnLst/>
            <a:rect l="l" t="t" r="r" b="b"/>
            <a:pathLst>
              <a:path w="6369050" h="0">
                <a:moveTo>
                  <a:pt x="0" y="0"/>
                </a:moveTo>
                <a:lnTo>
                  <a:pt x="6368459" y="0"/>
                </a:lnTo>
              </a:path>
            </a:pathLst>
          </a:custGeom>
          <a:ln w="3175">
            <a:solidFill>
              <a:srgbClr val="CDD1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5886" rIns="0" bIns="0" rtlCol="0" vert="horz">
            <a:spAutoFit/>
          </a:bodyPr>
          <a:lstStyle/>
          <a:p>
            <a:pPr marL="342900">
              <a:lnSpc>
                <a:spcPct val="100000"/>
              </a:lnSpc>
              <a:spcBef>
                <a:spcPts val="120"/>
              </a:spcBef>
            </a:pPr>
            <a:r>
              <a:rPr dirty="0" sz="4300" spc="145">
                <a:solidFill>
                  <a:srgbClr val="010303"/>
                </a:solidFill>
              </a:rPr>
              <a:t>The</a:t>
            </a:r>
            <a:r>
              <a:rPr dirty="0" sz="4300" spc="-70">
                <a:solidFill>
                  <a:srgbClr val="010303"/>
                </a:solidFill>
              </a:rPr>
              <a:t> </a:t>
            </a:r>
            <a:r>
              <a:rPr dirty="0" sz="4300" spc="125">
                <a:solidFill>
                  <a:srgbClr val="010303"/>
                </a:solidFill>
              </a:rPr>
              <a:t>Measurement</a:t>
            </a:r>
            <a:r>
              <a:rPr dirty="0" sz="4300" spc="340">
                <a:solidFill>
                  <a:srgbClr val="010303"/>
                </a:solidFill>
              </a:rPr>
              <a:t> </a:t>
            </a:r>
            <a:r>
              <a:rPr dirty="0" sz="4300" spc="65">
                <a:solidFill>
                  <a:srgbClr val="010303"/>
                </a:solidFill>
              </a:rPr>
              <a:t>Problem:</a:t>
            </a:r>
            <a:r>
              <a:rPr dirty="0" sz="4300" spc="50">
                <a:solidFill>
                  <a:srgbClr val="010303"/>
                </a:solidFill>
              </a:rPr>
              <a:t> </a:t>
            </a:r>
            <a:r>
              <a:rPr dirty="0" sz="4300" spc="85">
                <a:solidFill>
                  <a:srgbClr val="010303"/>
                </a:solidFill>
              </a:rPr>
              <a:t>Why</a:t>
            </a:r>
            <a:r>
              <a:rPr dirty="0" sz="4300" spc="-90">
                <a:solidFill>
                  <a:srgbClr val="010303"/>
                </a:solidFill>
              </a:rPr>
              <a:t> </a:t>
            </a:r>
            <a:r>
              <a:rPr dirty="0" sz="4300">
                <a:solidFill>
                  <a:srgbClr val="010303"/>
                </a:solidFill>
              </a:rPr>
              <a:t>Traditional</a:t>
            </a:r>
            <a:r>
              <a:rPr dirty="0" sz="4300" spc="385">
                <a:solidFill>
                  <a:srgbClr val="010303"/>
                </a:solidFill>
              </a:rPr>
              <a:t> </a:t>
            </a:r>
            <a:r>
              <a:rPr dirty="0" sz="4300" spc="145">
                <a:solidFill>
                  <a:srgbClr val="010303"/>
                </a:solidFill>
              </a:rPr>
              <a:t>Methods</a:t>
            </a:r>
            <a:r>
              <a:rPr dirty="0" sz="4300" spc="110">
                <a:solidFill>
                  <a:srgbClr val="010303"/>
                </a:solidFill>
              </a:rPr>
              <a:t> </a:t>
            </a:r>
            <a:r>
              <a:rPr dirty="0" sz="4300" spc="30">
                <a:solidFill>
                  <a:srgbClr val="010303"/>
                </a:solidFill>
              </a:rPr>
              <a:t>Fail</a:t>
            </a:r>
            <a:endParaRPr sz="4300"/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33434"/>
                </a:solidFill>
              </a:rPr>
              <a:t>Isl\</a:t>
            </a:r>
            <a:r>
              <a:rPr dirty="0" sz="1300" spc="-45">
                <a:solidFill>
                  <a:srgbClr val="333434"/>
                </a:solidFill>
              </a:rPr>
              <a:t> </a:t>
            </a:r>
            <a:r>
              <a:rPr dirty="0" spc="-10">
                <a:solidFill>
                  <a:srgbClr val="1C1C1C"/>
                </a:solidFill>
              </a:rPr>
              <a:t>NotebookLM</a:t>
            </a:r>
            <a:endParaRPr sz="1300"/>
          </a:p>
        </p:txBody>
      </p:sp>
      <p:sp>
        <p:nvSpPr>
          <p:cNvPr id="32" name="object 32"/>
          <p:cNvSpPr txBox="1"/>
          <p:nvPr/>
        </p:nvSpPr>
        <p:spPr>
          <a:xfrm>
            <a:off x="1411490" y="2489729"/>
            <a:ext cx="2275840" cy="5156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200" spc="-100">
                <a:solidFill>
                  <a:srgbClr val="111311"/>
                </a:solidFill>
                <a:latin typeface="Times New Roman"/>
                <a:cs typeface="Times New Roman"/>
              </a:rPr>
              <a:t>Clinical</a:t>
            </a:r>
            <a:r>
              <a:rPr dirty="0" sz="3200" spc="-175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-110">
                <a:solidFill>
                  <a:srgbClr val="111311"/>
                </a:solidFill>
                <a:latin typeface="Times New Roman"/>
                <a:cs typeface="Times New Roman"/>
              </a:rPr>
              <a:t>Visit</a:t>
            </a:r>
            <a:r>
              <a:rPr dirty="0" sz="3200" spc="-195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050" spc="-50">
                <a:solidFill>
                  <a:srgbClr val="111311"/>
                </a:solidFill>
                <a:latin typeface="Times New Roman"/>
                <a:cs typeface="Times New Roman"/>
              </a:rPr>
              <a:t>1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87954" y="1979083"/>
            <a:ext cx="4192270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1670685" algn="l"/>
                <a:tab pos="1895475" algn="l"/>
              </a:tabLst>
            </a:pPr>
            <a:r>
              <a:rPr dirty="0" baseline="-16975" sz="10800" spc="-382">
                <a:solidFill>
                  <a:srgbClr val="D6312F"/>
                </a:solidFill>
                <a:latin typeface="Times New Roman"/>
                <a:cs typeface="Times New Roman"/>
              </a:rPr>
              <a:t>'</a:t>
            </a:r>
            <a:r>
              <a:rPr dirty="0" baseline="-16975" sz="10800" spc="-727">
                <a:solidFill>
                  <a:srgbClr val="D6312F"/>
                </a:solidFill>
                <a:latin typeface="Times New Roman"/>
                <a:cs typeface="Times New Roman"/>
              </a:rPr>
              <a:t> </a:t>
            </a:r>
            <a:r>
              <a:rPr dirty="0" baseline="-14705" sz="5100" spc="-547">
                <a:solidFill>
                  <a:srgbClr val="D6312F"/>
                </a:solidFill>
                <a:latin typeface="Arial"/>
                <a:cs typeface="Arial"/>
              </a:rPr>
              <a:t>■</a:t>
            </a:r>
            <a:r>
              <a:rPr dirty="0" u="heavy" baseline="-14705" sz="5100">
                <a:solidFill>
                  <a:srgbClr val="D6312F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none" baseline="-14705" sz="5100">
                <a:solidFill>
                  <a:srgbClr val="D6312F"/>
                </a:solidFill>
                <a:latin typeface="Arial"/>
                <a:cs typeface="Arial"/>
              </a:rPr>
              <a:t>	</a:t>
            </a:r>
            <a:r>
              <a:rPr dirty="0" u="none" sz="3200" spc="-100">
                <a:solidFill>
                  <a:srgbClr val="111311"/>
                </a:solidFill>
                <a:latin typeface="Times New Roman"/>
                <a:cs typeface="Times New Roman"/>
              </a:rPr>
              <a:t>Clinical</a:t>
            </a:r>
            <a:r>
              <a:rPr dirty="0" u="none" sz="3200" spc="-75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u="none" sz="3200" spc="-135">
                <a:solidFill>
                  <a:srgbClr val="111311"/>
                </a:solidFill>
                <a:latin typeface="Times New Roman"/>
                <a:cs typeface="Times New Roman"/>
              </a:rPr>
              <a:t>Visit</a:t>
            </a:r>
            <a:r>
              <a:rPr dirty="0" u="none" sz="3200" spc="-80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u="none" sz="3050" spc="-50">
                <a:solidFill>
                  <a:srgbClr val="111311"/>
                </a:solidFill>
                <a:latin typeface="Times New Roman"/>
                <a:cs typeface="Times New Roman"/>
              </a:rPr>
              <a:t>2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173885" y="2489729"/>
            <a:ext cx="2300605" cy="5156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200" spc="-100">
                <a:solidFill>
                  <a:srgbClr val="111311"/>
                </a:solidFill>
                <a:latin typeface="Times New Roman"/>
                <a:cs typeface="Times New Roman"/>
              </a:rPr>
              <a:t>Clinical</a:t>
            </a:r>
            <a:r>
              <a:rPr dirty="0" sz="3200" spc="-180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-110">
                <a:solidFill>
                  <a:srgbClr val="111311"/>
                </a:solidFill>
                <a:latin typeface="Times New Roman"/>
                <a:cs typeface="Times New Roman"/>
              </a:rPr>
              <a:t>Visit</a:t>
            </a:r>
            <a:r>
              <a:rPr dirty="0" sz="3200" spc="-70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-50">
                <a:solidFill>
                  <a:srgbClr val="111311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85594" y="5949354"/>
            <a:ext cx="6298565" cy="561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137160">
              <a:lnSpc>
                <a:spcPct val="100000"/>
              </a:lnSpc>
              <a:spcBef>
                <a:spcPts val="114"/>
              </a:spcBef>
            </a:pPr>
            <a:r>
              <a:rPr dirty="0" sz="3500" spc="-50" b="1">
                <a:solidFill>
                  <a:srgbClr val="010303"/>
                </a:solidFill>
                <a:latin typeface="Arial"/>
                <a:cs typeface="Arial"/>
              </a:rPr>
              <a:t>The</a:t>
            </a:r>
            <a:r>
              <a:rPr dirty="0" sz="3500" spc="-229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3500" spc="-114" b="1">
                <a:solidFill>
                  <a:srgbClr val="010303"/>
                </a:solidFill>
                <a:latin typeface="Arial"/>
                <a:cs typeface="Arial"/>
              </a:rPr>
              <a:t>Blind</a:t>
            </a:r>
            <a:r>
              <a:rPr dirty="0" sz="3500" spc="-225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3500" spc="-20" b="1">
                <a:solidFill>
                  <a:srgbClr val="010303"/>
                </a:solidFill>
                <a:latin typeface="Arial"/>
                <a:cs typeface="Arial"/>
              </a:rPr>
              <a:t>Spots</a:t>
            </a:r>
            <a:endParaRPr sz="35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727452" y="5949354"/>
            <a:ext cx="3233420" cy="561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0" spc="-30" b="1">
                <a:solidFill>
                  <a:srgbClr val="010303"/>
                </a:solidFill>
                <a:latin typeface="Arial"/>
                <a:cs typeface="Arial"/>
              </a:rPr>
              <a:t>The</a:t>
            </a:r>
            <a:r>
              <a:rPr dirty="0" sz="3500" spc="-190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3500" spc="-140" b="1">
                <a:solidFill>
                  <a:srgbClr val="010303"/>
                </a:solidFill>
                <a:latin typeface="Arial"/>
                <a:cs typeface="Arial"/>
              </a:rPr>
              <a:t>Blind</a:t>
            </a:r>
            <a:r>
              <a:rPr dirty="0" sz="3500" spc="-100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3500" spc="-60" b="1">
                <a:solidFill>
                  <a:srgbClr val="010303"/>
                </a:solidFill>
                <a:latin typeface="Arial"/>
                <a:cs typeface="Arial"/>
              </a:rPr>
              <a:t>Spots</a:t>
            </a:r>
            <a:endParaRPr sz="35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27447" y="7328098"/>
            <a:ext cx="7250430" cy="151193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5240" marR="5080" indent="-3175">
              <a:lnSpc>
                <a:spcPct val="102099"/>
              </a:lnSpc>
              <a:spcBef>
                <a:spcPts val="35"/>
              </a:spcBef>
            </a:pPr>
            <a:r>
              <a:rPr dirty="0" sz="3200" spc="-105" b="1">
                <a:solidFill>
                  <a:srgbClr val="010303"/>
                </a:solidFill>
                <a:latin typeface="Arial"/>
                <a:cs typeface="Arial"/>
              </a:rPr>
              <a:t>Recall</a:t>
            </a:r>
            <a:r>
              <a:rPr dirty="0" sz="3200" spc="-125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3200" spc="-150" b="1">
                <a:solidFill>
                  <a:srgbClr val="010303"/>
                </a:solidFill>
                <a:latin typeface="Arial"/>
                <a:cs typeface="Arial"/>
              </a:rPr>
              <a:t>Bias:</a:t>
            </a:r>
            <a:r>
              <a:rPr dirty="0" sz="3200" spc="-114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3200" spc="-45">
                <a:solidFill>
                  <a:srgbClr val="111311"/>
                </a:solidFill>
                <a:latin typeface="Times New Roman"/>
                <a:cs typeface="Times New Roman"/>
              </a:rPr>
              <a:t>Patients</a:t>
            </a:r>
            <a:r>
              <a:rPr dirty="0" sz="3200" spc="-155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95">
                <a:solidFill>
                  <a:srgbClr val="111311"/>
                </a:solidFill>
                <a:latin typeface="Times New Roman"/>
                <a:cs typeface="Times New Roman"/>
              </a:rPr>
              <a:t>in</a:t>
            </a:r>
            <a:r>
              <a:rPr dirty="0" sz="3200" spc="-195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55">
                <a:solidFill>
                  <a:srgbClr val="111311"/>
                </a:solidFill>
                <a:latin typeface="Times New Roman"/>
                <a:cs typeface="Times New Roman"/>
              </a:rPr>
              <a:t>a</a:t>
            </a:r>
            <a:r>
              <a:rPr dirty="0" sz="3200" spc="-325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-60">
                <a:solidFill>
                  <a:srgbClr val="111311"/>
                </a:solidFill>
                <a:latin typeface="Times New Roman"/>
                <a:cs typeface="Times New Roman"/>
              </a:rPr>
              <a:t>safe</a:t>
            </a:r>
            <a:r>
              <a:rPr dirty="0" sz="3200" spc="-180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-70">
                <a:solidFill>
                  <a:srgbClr val="111311"/>
                </a:solidFill>
                <a:latin typeface="Times New Roman"/>
                <a:cs typeface="Times New Roman"/>
              </a:rPr>
              <a:t>clinical</a:t>
            </a:r>
            <a:r>
              <a:rPr dirty="0" sz="3200" spc="-65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111311"/>
                </a:solidFill>
                <a:latin typeface="Times New Roman"/>
                <a:cs typeface="Times New Roman"/>
              </a:rPr>
              <a:t>setting </a:t>
            </a:r>
            <a:r>
              <a:rPr dirty="0" sz="3200">
                <a:solidFill>
                  <a:srgbClr val="111311"/>
                </a:solidFill>
                <a:latin typeface="Times New Roman"/>
                <a:cs typeface="Times New Roman"/>
              </a:rPr>
              <a:t>often</a:t>
            </a:r>
            <a:r>
              <a:rPr dirty="0" sz="3200" spc="-30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111311"/>
                </a:solidFill>
                <a:latin typeface="Times New Roman"/>
                <a:cs typeface="Times New Roman"/>
              </a:rPr>
              <a:t>underestimate</a:t>
            </a:r>
            <a:r>
              <a:rPr dirty="0" sz="3200" spc="15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11311"/>
                </a:solidFill>
                <a:latin typeface="Times New Roman"/>
                <a:cs typeface="Times New Roman"/>
              </a:rPr>
              <a:t>the</a:t>
            </a:r>
            <a:r>
              <a:rPr dirty="0" sz="3200" spc="-225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-20">
                <a:solidFill>
                  <a:srgbClr val="010303"/>
                </a:solidFill>
                <a:latin typeface="Times New Roman"/>
                <a:cs typeface="Times New Roman"/>
              </a:rPr>
              <a:t>intensity</a:t>
            </a:r>
            <a:r>
              <a:rPr dirty="0" sz="3200" spc="-229">
                <a:solidFill>
                  <a:srgbClr val="010303"/>
                </a:solidFill>
                <a:latin typeface="Times New Roman"/>
                <a:cs typeface="Times New Roman"/>
              </a:rPr>
              <a:t> </a:t>
            </a:r>
            <a:r>
              <a:rPr dirty="0" sz="3200" spc="-20">
                <a:solidFill>
                  <a:srgbClr val="111311"/>
                </a:solidFill>
                <a:latin typeface="Times New Roman"/>
                <a:cs typeface="Times New Roman"/>
              </a:rPr>
              <a:t>of</a:t>
            </a:r>
            <a:r>
              <a:rPr dirty="0" sz="3200" spc="-235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-20">
                <a:solidFill>
                  <a:srgbClr val="111311"/>
                </a:solidFill>
                <a:latin typeface="Times New Roman"/>
                <a:cs typeface="Times New Roman"/>
              </a:rPr>
              <a:t>"hot cognition"</a:t>
            </a:r>
            <a:r>
              <a:rPr dirty="0" sz="3200" spc="-150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-55">
                <a:solidFill>
                  <a:srgbClr val="111311"/>
                </a:solidFill>
                <a:latin typeface="Times New Roman"/>
                <a:cs typeface="Times New Roman"/>
              </a:rPr>
              <a:t>cravings</a:t>
            </a:r>
            <a:r>
              <a:rPr dirty="0" sz="3200" spc="-105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-40">
                <a:solidFill>
                  <a:srgbClr val="111311"/>
                </a:solidFill>
                <a:latin typeface="Times New Roman"/>
                <a:cs typeface="Times New Roman"/>
              </a:rPr>
              <a:t>experienced</a:t>
            </a:r>
            <a:r>
              <a:rPr dirty="0" sz="3200" spc="95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11311"/>
                </a:solidFill>
                <a:latin typeface="Times New Roman"/>
                <a:cs typeface="Times New Roman"/>
              </a:rPr>
              <a:t>in</a:t>
            </a:r>
            <a:r>
              <a:rPr dirty="0" sz="3200" spc="-95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11311"/>
                </a:solidFill>
                <a:latin typeface="Times New Roman"/>
                <a:cs typeface="Times New Roman"/>
              </a:rPr>
              <a:t>the</a:t>
            </a:r>
            <a:r>
              <a:rPr dirty="0" sz="3200" spc="-245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111311"/>
                </a:solidFill>
                <a:latin typeface="Times New Roman"/>
                <a:cs typeface="Times New Roman"/>
              </a:rPr>
              <a:t>wild</a:t>
            </a:r>
            <a:r>
              <a:rPr dirty="0" sz="3200" spc="-10">
                <a:solidFill>
                  <a:srgbClr val="2D2F2F"/>
                </a:solidFill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576671" y="7328098"/>
            <a:ext cx="6796405" cy="151193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35"/>
              </a:spcBef>
            </a:pPr>
            <a:r>
              <a:rPr dirty="0" sz="3200" spc="-70" b="1">
                <a:solidFill>
                  <a:srgbClr val="010303"/>
                </a:solidFill>
                <a:latin typeface="Arial"/>
                <a:cs typeface="Arial"/>
              </a:rPr>
              <a:t>Static</a:t>
            </a:r>
            <a:r>
              <a:rPr dirty="0" sz="3200" spc="-55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3200" spc="-114" b="1">
                <a:solidFill>
                  <a:srgbClr val="010303"/>
                </a:solidFill>
                <a:latin typeface="Arial"/>
                <a:cs typeface="Arial"/>
              </a:rPr>
              <a:t>vs.</a:t>
            </a:r>
            <a:r>
              <a:rPr dirty="0" sz="3200" spc="-225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3200" spc="-135" b="1">
                <a:solidFill>
                  <a:srgbClr val="010303"/>
                </a:solidFill>
                <a:latin typeface="Arial"/>
                <a:cs typeface="Arial"/>
              </a:rPr>
              <a:t>Dynamic:</a:t>
            </a:r>
            <a:r>
              <a:rPr dirty="0" sz="3200" spc="-340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111311"/>
                </a:solidFill>
                <a:latin typeface="Times New Roman"/>
                <a:cs typeface="Times New Roman"/>
              </a:rPr>
              <a:t>Standard</a:t>
            </a:r>
            <a:r>
              <a:rPr dirty="0" sz="3200" spc="-120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111311"/>
                </a:solidFill>
                <a:latin typeface="Times New Roman"/>
                <a:cs typeface="Times New Roman"/>
              </a:rPr>
              <a:t>surveys </a:t>
            </a:r>
            <a:r>
              <a:rPr dirty="0" sz="3200" spc="-40">
                <a:solidFill>
                  <a:srgbClr val="111311"/>
                </a:solidFill>
                <a:latin typeface="Times New Roman"/>
                <a:cs typeface="Times New Roman"/>
              </a:rPr>
              <a:t>miss</a:t>
            </a:r>
            <a:r>
              <a:rPr dirty="0" sz="3200" spc="-200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11311"/>
                </a:solidFill>
                <a:latin typeface="Times New Roman"/>
                <a:cs typeface="Times New Roman"/>
              </a:rPr>
              <a:t>the</a:t>
            </a:r>
            <a:r>
              <a:rPr dirty="0" sz="3200" spc="-290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-75">
                <a:solidFill>
                  <a:srgbClr val="111311"/>
                </a:solidFill>
                <a:latin typeface="Times New Roman"/>
                <a:cs typeface="Times New Roman"/>
              </a:rPr>
              <a:t>"critical</a:t>
            </a:r>
            <a:r>
              <a:rPr dirty="0" sz="3200" spc="10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-30">
                <a:solidFill>
                  <a:srgbClr val="010303"/>
                </a:solidFill>
                <a:latin typeface="Times New Roman"/>
                <a:cs typeface="Times New Roman"/>
              </a:rPr>
              <a:t>fluctuations"</a:t>
            </a:r>
            <a:r>
              <a:rPr dirty="0" sz="3200" spc="-20">
                <a:solidFill>
                  <a:srgbClr val="010303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11311"/>
                </a:solidFill>
                <a:latin typeface="Times New Roman"/>
                <a:cs typeface="Times New Roman"/>
              </a:rPr>
              <a:t>that</a:t>
            </a:r>
            <a:r>
              <a:rPr dirty="0" sz="3200" spc="-15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-30">
                <a:solidFill>
                  <a:srgbClr val="111311"/>
                </a:solidFill>
                <a:latin typeface="Times New Roman"/>
                <a:cs typeface="Times New Roman"/>
              </a:rPr>
              <a:t>precede </a:t>
            </a:r>
            <a:r>
              <a:rPr dirty="0" sz="3200" spc="55">
                <a:solidFill>
                  <a:srgbClr val="111311"/>
                </a:solidFill>
                <a:latin typeface="Times New Roman"/>
                <a:cs typeface="Times New Roman"/>
              </a:rPr>
              <a:t>a</a:t>
            </a:r>
            <a:r>
              <a:rPr dirty="0" sz="3200" spc="-200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111311"/>
                </a:solidFill>
                <a:latin typeface="Times New Roman"/>
                <a:cs typeface="Times New Roman"/>
              </a:rPr>
              <a:t>bifurcation</a:t>
            </a:r>
            <a:r>
              <a:rPr dirty="0" sz="3200" spc="-125">
                <a:solidFill>
                  <a:srgbClr val="111311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111311"/>
                </a:solidFill>
                <a:latin typeface="Times New Roman"/>
                <a:cs typeface="Times New Roman"/>
              </a:rPr>
              <a:t>event.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372" y="2068380"/>
            <a:ext cx="6623198" cy="480007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119634" y="2706687"/>
            <a:ext cx="7719059" cy="4034154"/>
            <a:chOff x="9119634" y="2706687"/>
            <a:chExt cx="7719059" cy="4034154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19634" y="2706687"/>
              <a:ext cx="7718573" cy="360005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692795" y="6255674"/>
              <a:ext cx="0" cy="485140"/>
            </a:xfrm>
            <a:custGeom>
              <a:avLst/>
              <a:gdLst/>
              <a:ahLst/>
              <a:cxnLst/>
              <a:rect l="l" t="t" r="r" b="b"/>
              <a:pathLst>
                <a:path w="0" h="485140">
                  <a:moveTo>
                    <a:pt x="0" y="485113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636845" y="1736460"/>
            <a:ext cx="1452245" cy="0"/>
          </a:xfrm>
          <a:custGeom>
            <a:avLst/>
            <a:gdLst/>
            <a:ahLst/>
            <a:cxnLst/>
            <a:rect l="l" t="t" r="r" b="b"/>
            <a:pathLst>
              <a:path w="1452245" h="0">
                <a:moveTo>
                  <a:pt x="0" y="0"/>
                </a:moveTo>
                <a:lnTo>
                  <a:pt x="1452008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680058" y="6740787"/>
            <a:ext cx="7158355" cy="0"/>
          </a:xfrm>
          <a:custGeom>
            <a:avLst/>
            <a:gdLst/>
            <a:ahLst/>
            <a:cxnLst/>
            <a:rect l="l" t="t" r="r" b="b"/>
            <a:pathLst>
              <a:path w="7158355" h="0">
                <a:moveTo>
                  <a:pt x="0" y="0"/>
                </a:moveTo>
                <a:lnTo>
                  <a:pt x="715814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4820"/>
              </a:lnSpc>
              <a:spcBef>
                <a:spcPts val="120"/>
              </a:spcBef>
            </a:pPr>
            <a:r>
              <a:rPr dirty="0" sz="4100" spc="165">
                <a:solidFill>
                  <a:srgbClr val="232424"/>
                </a:solidFill>
              </a:rPr>
              <a:t>The</a:t>
            </a:r>
            <a:r>
              <a:rPr dirty="0" sz="4100" spc="70">
                <a:solidFill>
                  <a:srgbClr val="232424"/>
                </a:solidFill>
              </a:rPr>
              <a:t> </a:t>
            </a:r>
            <a:r>
              <a:rPr dirty="0" sz="4100">
                <a:solidFill>
                  <a:srgbClr val="232424"/>
                </a:solidFill>
              </a:rPr>
              <a:t>Technological</a:t>
            </a:r>
            <a:r>
              <a:rPr dirty="0" sz="4100" spc="520">
                <a:solidFill>
                  <a:srgbClr val="232424"/>
                </a:solidFill>
              </a:rPr>
              <a:t> </a:t>
            </a:r>
            <a:r>
              <a:rPr dirty="0" sz="4100" spc="-10">
                <a:solidFill>
                  <a:srgbClr val="232424"/>
                </a:solidFill>
              </a:rPr>
              <a:t>Solution:</a:t>
            </a:r>
            <a:endParaRPr sz="4100"/>
          </a:p>
          <a:p>
            <a:pPr marL="24130">
              <a:lnSpc>
                <a:spcPts val="4820"/>
              </a:lnSpc>
            </a:pPr>
            <a:r>
              <a:rPr dirty="0" sz="4100" spc="55">
                <a:solidFill>
                  <a:srgbClr val="232424"/>
                </a:solidFill>
              </a:rPr>
              <a:t>Ecological</a:t>
            </a:r>
            <a:r>
              <a:rPr dirty="0" sz="4100" spc="229">
                <a:solidFill>
                  <a:srgbClr val="232424"/>
                </a:solidFill>
              </a:rPr>
              <a:t> </a:t>
            </a:r>
            <a:r>
              <a:rPr dirty="0" sz="4100" spc="140">
                <a:solidFill>
                  <a:srgbClr val="232424"/>
                </a:solidFill>
              </a:rPr>
              <a:t>Momentary</a:t>
            </a:r>
            <a:r>
              <a:rPr dirty="0" sz="4100" spc="229">
                <a:solidFill>
                  <a:srgbClr val="232424"/>
                </a:solidFill>
              </a:rPr>
              <a:t> </a:t>
            </a:r>
            <a:r>
              <a:rPr dirty="0" sz="4100">
                <a:solidFill>
                  <a:srgbClr val="232424"/>
                </a:solidFill>
              </a:rPr>
              <a:t>Assestment</a:t>
            </a:r>
            <a:r>
              <a:rPr dirty="0" sz="4100" spc="525">
                <a:solidFill>
                  <a:srgbClr val="232424"/>
                </a:solidFill>
              </a:rPr>
              <a:t> </a:t>
            </a:r>
            <a:r>
              <a:rPr dirty="0" sz="4100" spc="-10">
                <a:solidFill>
                  <a:srgbClr val="232424"/>
                </a:solidFill>
              </a:rPr>
              <a:t>(EMA)</a:t>
            </a:r>
            <a:endParaRPr sz="4100"/>
          </a:p>
        </p:txBody>
      </p:sp>
      <p:sp>
        <p:nvSpPr>
          <p:cNvPr id="9" name="object 9"/>
          <p:cNvSpPr txBox="1"/>
          <p:nvPr/>
        </p:nvSpPr>
        <p:spPr>
          <a:xfrm>
            <a:off x="9537045" y="3293996"/>
            <a:ext cx="9652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696B6D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19749" y="2030147"/>
            <a:ext cx="2277110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75">
                <a:solidFill>
                  <a:srgbClr val="232424"/>
                </a:solidFill>
                <a:latin typeface="Arial"/>
                <a:cs typeface="Arial"/>
              </a:rPr>
              <a:t>High</a:t>
            </a:r>
            <a:r>
              <a:rPr dirty="0" sz="1800" spc="-65">
                <a:solidFill>
                  <a:srgbClr val="23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83A3A"/>
                </a:solidFill>
                <a:latin typeface="Arial"/>
                <a:cs typeface="Arial"/>
              </a:rPr>
              <a:t>Frequency</a:t>
            </a:r>
            <a:r>
              <a:rPr dirty="0" sz="1800" spc="145">
                <a:solidFill>
                  <a:srgbClr val="383A3A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232424"/>
                </a:solidFill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76409" y="6498299"/>
            <a:ext cx="7163434" cy="638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000" spc="969">
                <a:solidFill>
                  <a:srgbClr val="7E8283"/>
                </a:solidFill>
                <a:latin typeface="Microsoft Sans Serif"/>
                <a:cs typeface="Microsoft Sans Serif"/>
              </a:rPr>
              <a:t>--</a:t>
            </a:r>
            <a:r>
              <a:rPr dirty="0" sz="4000" spc="1375">
                <a:solidFill>
                  <a:srgbClr val="7E8283"/>
                </a:solidFill>
                <a:latin typeface="Microsoft Sans Serif"/>
                <a:cs typeface="Microsoft Sans Serif"/>
              </a:rPr>
              <a:t>�-</a:t>
            </a:r>
            <a:r>
              <a:rPr dirty="0" sz="4000" spc="969">
                <a:solidFill>
                  <a:srgbClr val="7E8283"/>
                </a:solidFill>
                <a:latin typeface="Microsoft Sans Serif"/>
                <a:cs typeface="Microsoft Sans Serif"/>
              </a:rPr>
              <a:t>--------</a:t>
            </a:r>
            <a:r>
              <a:rPr dirty="0" sz="4000" spc="1295">
                <a:solidFill>
                  <a:srgbClr val="7E8283"/>
                </a:solidFill>
                <a:latin typeface="Microsoft Sans Serif"/>
                <a:cs typeface="Microsoft Sans Serif"/>
              </a:rPr>
              <a:t>1-</a:t>
            </a:r>
            <a:r>
              <a:rPr dirty="0" sz="4000" spc="969">
                <a:solidFill>
                  <a:srgbClr val="7E8283"/>
                </a:solidFill>
                <a:latin typeface="Microsoft Sans Serif"/>
                <a:cs typeface="Microsoft Sans Serif"/>
              </a:rPr>
              <a:t>---</a:t>
            </a:r>
            <a:r>
              <a:rPr dirty="0" sz="4000" spc="1295">
                <a:solidFill>
                  <a:srgbClr val="7E8283"/>
                </a:solidFill>
                <a:latin typeface="Microsoft Sans Serif"/>
                <a:cs typeface="Microsoft Sans Serif"/>
              </a:rPr>
              <a:t>1-</a:t>
            </a:r>
            <a:r>
              <a:rPr dirty="0" sz="4000" spc="969">
                <a:solidFill>
                  <a:srgbClr val="7E8283"/>
                </a:solidFill>
                <a:latin typeface="Microsoft Sans Serif"/>
                <a:cs typeface="Microsoft Sans Serif"/>
              </a:rPr>
              <a:t>--</a:t>
            </a:r>
            <a:r>
              <a:rPr dirty="0" sz="4000" spc="919">
                <a:solidFill>
                  <a:srgbClr val="7E8283"/>
                </a:solidFill>
                <a:latin typeface="Microsoft Sans Serif"/>
                <a:cs typeface="Microsoft Sans Serif"/>
              </a:rPr>
              <a:t>-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98669" y="5511293"/>
            <a:ext cx="4363085" cy="163703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2800" spc="-10" b="1">
                <a:solidFill>
                  <a:srgbClr val="0F0F0F"/>
                </a:solidFill>
                <a:latin typeface="Times New Roman"/>
                <a:cs typeface="Times New Roman"/>
              </a:rPr>
              <a:t>Methodology</a:t>
            </a:r>
            <a:endParaRPr sz="2800">
              <a:latin typeface="Times New Roman"/>
              <a:cs typeface="Times New Roman"/>
            </a:endParaRPr>
          </a:p>
          <a:p>
            <a:pPr marL="29209" marR="5080" indent="-1905">
              <a:lnSpc>
                <a:spcPct val="97400"/>
              </a:lnSpc>
              <a:spcBef>
                <a:spcPts val="385"/>
              </a:spcBef>
            </a:pPr>
            <a:r>
              <a:rPr dirty="0" sz="2450" spc="-35">
                <a:solidFill>
                  <a:srgbClr val="0F0F0F"/>
                </a:solidFill>
                <a:latin typeface="Times New Roman"/>
                <a:cs typeface="Times New Roman"/>
              </a:rPr>
              <a:t>Prompting</a:t>
            </a:r>
            <a:r>
              <a:rPr dirty="0" sz="2450" spc="-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2450" spc="-50">
                <a:solidFill>
                  <a:srgbClr val="232424"/>
                </a:solidFill>
                <a:latin typeface="Times New Roman"/>
                <a:cs typeface="Times New Roman"/>
              </a:rPr>
              <a:t>individuals</a:t>
            </a:r>
            <a:r>
              <a:rPr dirty="0" sz="2450" spc="15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>
                <a:solidFill>
                  <a:srgbClr val="232424"/>
                </a:solidFill>
                <a:latin typeface="Times New Roman"/>
                <a:cs typeface="Times New Roman"/>
              </a:rPr>
              <a:t>to</a:t>
            </a:r>
            <a:r>
              <a:rPr dirty="0" sz="2450" spc="-185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10">
                <a:solidFill>
                  <a:srgbClr val="232424"/>
                </a:solidFill>
                <a:latin typeface="Times New Roman"/>
                <a:cs typeface="Times New Roman"/>
              </a:rPr>
              <a:t>report </a:t>
            </a:r>
            <a:r>
              <a:rPr dirty="0" sz="2450" spc="-20">
                <a:solidFill>
                  <a:srgbClr val="232424"/>
                </a:solidFill>
                <a:latin typeface="Times New Roman"/>
                <a:cs typeface="Times New Roman"/>
              </a:rPr>
              <a:t>mood,</a:t>
            </a:r>
            <a:r>
              <a:rPr dirty="0" sz="2450" spc="-200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55">
                <a:solidFill>
                  <a:srgbClr val="232424"/>
                </a:solidFill>
                <a:latin typeface="Times New Roman"/>
                <a:cs typeface="Times New Roman"/>
              </a:rPr>
              <a:t>craving,</a:t>
            </a:r>
            <a:r>
              <a:rPr dirty="0" sz="2450" spc="-145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>
                <a:solidFill>
                  <a:srgbClr val="232424"/>
                </a:solidFill>
                <a:latin typeface="Times New Roman"/>
                <a:cs typeface="Times New Roman"/>
              </a:rPr>
              <a:t>and</a:t>
            </a:r>
            <a:r>
              <a:rPr dirty="0" sz="2450" spc="-90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40">
                <a:solidFill>
                  <a:srgbClr val="232424"/>
                </a:solidFill>
                <a:latin typeface="Times New Roman"/>
                <a:cs typeface="Times New Roman"/>
              </a:rPr>
              <a:t>context</a:t>
            </a:r>
            <a:r>
              <a:rPr dirty="0" sz="2450" spc="-25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35">
                <a:solidFill>
                  <a:srgbClr val="232424"/>
                </a:solidFill>
                <a:latin typeface="Times New Roman"/>
                <a:cs typeface="Times New Roman"/>
              </a:rPr>
              <a:t>multiple </a:t>
            </a:r>
            <a:r>
              <a:rPr dirty="0" sz="2450" spc="-55">
                <a:solidFill>
                  <a:srgbClr val="232424"/>
                </a:solidFill>
                <a:latin typeface="Times New Roman"/>
                <a:cs typeface="Times New Roman"/>
              </a:rPr>
              <a:t>times</a:t>
            </a:r>
            <a:r>
              <a:rPr dirty="0" sz="2450" spc="-150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85">
                <a:solidFill>
                  <a:srgbClr val="232424"/>
                </a:solidFill>
                <a:latin typeface="Times New Roman"/>
                <a:cs typeface="Times New Roman"/>
              </a:rPr>
              <a:t>a</a:t>
            </a:r>
            <a:r>
              <a:rPr dirty="0" sz="2450" spc="-160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45">
                <a:solidFill>
                  <a:srgbClr val="232424"/>
                </a:solidFill>
                <a:latin typeface="Times New Roman"/>
                <a:cs typeface="Times New Roman"/>
              </a:rPr>
              <a:t>day</a:t>
            </a:r>
            <a:r>
              <a:rPr dirty="0" sz="2450" spc="-160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90">
                <a:solidFill>
                  <a:srgbClr val="232424"/>
                </a:solidFill>
                <a:latin typeface="Times New Roman"/>
                <a:cs typeface="Times New Roman"/>
              </a:rPr>
              <a:t>via</a:t>
            </a:r>
            <a:r>
              <a:rPr dirty="0" sz="2450" spc="-135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10">
                <a:solidFill>
                  <a:srgbClr val="232424"/>
                </a:solidFill>
                <a:latin typeface="Times New Roman"/>
                <a:cs typeface="Times New Roman"/>
              </a:rPr>
              <a:t>smartphone.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688402" y="6945113"/>
            <a:ext cx="314007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40815" algn="l"/>
                <a:tab pos="2867660" algn="l"/>
              </a:tabLst>
            </a:pPr>
            <a:r>
              <a:rPr dirty="0" sz="900" spc="65">
                <a:solidFill>
                  <a:srgbClr val="7E8283"/>
                </a:solidFill>
                <a:latin typeface="Times New Roman"/>
                <a:cs typeface="Times New Roman"/>
              </a:rPr>
              <a:t>0oy2</a:t>
            </a:r>
            <a:r>
              <a:rPr dirty="0" sz="900">
                <a:solidFill>
                  <a:srgbClr val="7E8283"/>
                </a:solidFill>
                <a:latin typeface="Times New Roman"/>
                <a:cs typeface="Times New Roman"/>
              </a:rPr>
              <a:t>	</a:t>
            </a:r>
            <a:r>
              <a:rPr dirty="0" sz="900" spc="80">
                <a:solidFill>
                  <a:srgbClr val="7E8283"/>
                </a:solidFill>
                <a:latin typeface="Times New Roman"/>
                <a:cs typeface="Times New Roman"/>
              </a:rPr>
              <a:t>D,y3</a:t>
            </a:r>
            <a:r>
              <a:rPr dirty="0" sz="900">
                <a:solidFill>
                  <a:srgbClr val="7E8283"/>
                </a:solidFill>
                <a:latin typeface="Times New Roman"/>
                <a:cs typeface="Times New Roman"/>
              </a:rPr>
              <a:t>	</a:t>
            </a:r>
            <a:r>
              <a:rPr dirty="0" sz="900" spc="-20">
                <a:solidFill>
                  <a:srgbClr val="7E8283"/>
                </a:solidFill>
                <a:latin typeface="Times New Roman"/>
                <a:cs typeface="Times New Roman"/>
              </a:rPr>
              <a:t>Doy•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60867" y="6913198"/>
            <a:ext cx="601091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718175" algn="l"/>
              </a:tabLst>
            </a:pPr>
            <a:r>
              <a:rPr dirty="0" sz="1150" spc="70">
                <a:solidFill>
                  <a:srgbClr val="7E8283"/>
                </a:solidFill>
                <a:latin typeface="Times New Roman"/>
                <a:cs typeface="Times New Roman"/>
              </a:rPr>
              <a:t>o,y,</a:t>
            </a:r>
            <a:r>
              <a:rPr dirty="0" sz="1150">
                <a:solidFill>
                  <a:srgbClr val="7E8283"/>
                </a:solidFill>
                <a:latin typeface="Times New Roman"/>
                <a:cs typeface="Times New Roman"/>
              </a:rPr>
              <a:t>	</a:t>
            </a:r>
            <a:r>
              <a:rPr dirty="0" sz="1150" spc="60">
                <a:solidFill>
                  <a:srgbClr val="7E8283"/>
                </a:solidFill>
                <a:latin typeface="Times New Roman"/>
                <a:cs typeface="Times New Roman"/>
              </a:rPr>
              <a:t>o,y•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4928" y="7464515"/>
            <a:ext cx="9460865" cy="168783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2800" spc="-10" b="1">
                <a:solidFill>
                  <a:srgbClr val="0F0F0F"/>
                </a:solidFill>
                <a:latin typeface="Times New Roman"/>
                <a:cs typeface="Times New Roman"/>
              </a:rPr>
              <a:t>Benefits</a:t>
            </a:r>
            <a:endParaRPr sz="2800">
              <a:latin typeface="Times New Roman"/>
              <a:cs typeface="Times New Roman"/>
            </a:endParaRPr>
          </a:p>
          <a:p>
            <a:pPr marL="396875" indent="-266700">
              <a:lnSpc>
                <a:spcPct val="100000"/>
              </a:lnSpc>
              <a:spcBef>
                <a:spcPts val="309"/>
              </a:spcBef>
              <a:buClr>
                <a:srgbClr val="0F0F0F"/>
              </a:buClr>
              <a:buChar char="•"/>
              <a:tabLst>
                <a:tab pos="396875" algn="l"/>
              </a:tabLst>
            </a:pPr>
            <a:r>
              <a:rPr dirty="0" sz="2450" spc="-60">
                <a:solidFill>
                  <a:srgbClr val="232424"/>
                </a:solidFill>
                <a:latin typeface="Times New Roman"/>
                <a:cs typeface="Times New Roman"/>
              </a:rPr>
              <a:t>Minimizes</a:t>
            </a:r>
            <a:r>
              <a:rPr dirty="0" sz="2450" spc="-65">
                <a:solidFill>
                  <a:srgbClr val="232424"/>
                </a:solidFill>
                <a:latin typeface="Times New Roman"/>
                <a:cs typeface="Times New Roman"/>
              </a:rPr>
              <a:t> recall</a:t>
            </a:r>
            <a:r>
              <a:rPr dirty="0" sz="2450" spc="-60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10">
                <a:solidFill>
                  <a:srgbClr val="232424"/>
                </a:solidFill>
                <a:latin typeface="Times New Roman"/>
                <a:cs typeface="Times New Roman"/>
              </a:rPr>
              <a:t>bias.</a:t>
            </a:r>
            <a:endParaRPr sz="2450">
              <a:latin typeface="Times New Roman"/>
              <a:cs typeface="Times New Roman"/>
            </a:endParaRPr>
          </a:p>
          <a:p>
            <a:pPr marL="396875" indent="-266700">
              <a:lnSpc>
                <a:spcPct val="100000"/>
              </a:lnSpc>
              <a:spcBef>
                <a:spcPts val="175"/>
              </a:spcBef>
              <a:buClr>
                <a:srgbClr val="0F0F0F"/>
              </a:buClr>
              <a:buChar char="•"/>
              <a:tabLst>
                <a:tab pos="396875" algn="l"/>
              </a:tabLst>
            </a:pPr>
            <a:r>
              <a:rPr dirty="0" sz="2450" spc="-95">
                <a:solidFill>
                  <a:srgbClr val="232424"/>
                </a:solidFill>
                <a:latin typeface="Times New Roman"/>
                <a:cs typeface="Times New Roman"/>
              </a:rPr>
              <a:t>Maps</a:t>
            </a:r>
            <a:r>
              <a:rPr dirty="0" sz="2450" spc="-114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>
                <a:solidFill>
                  <a:srgbClr val="232424"/>
                </a:solidFill>
                <a:latin typeface="Times New Roman"/>
                <a:cs typeface="Times New Roman"/>
              </a:rPr>
              <a:t>the</a:t>
            </a:r>
            <a:r>
              <a:rPr dirty="0" sz="2450" spc="-295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55">
                <a:solidFill>
                  <a:srgbClr val="232424"/>
                </a:solidFill>
                <a:latin typeface="Times New Roman"/>
                <a:cs typeface="Times New Roman"/>
              </a:rPr>
              <a:t>"ebb</a:t>
            </a:r>
            <a:r>
              <a:rPr dirty="0" sz="2450" spc="-185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>
                <a:solidFill>
                  <a:srgbClr val="232424"/>
                </a:solidFill>
                <a:latin typeface="Times New Roman"/>
                <a:cs typeface="Times New Roman"/>
              </a:rPr>
              <a:t>and</a:t>
            </a:r>
            <a:r>
              <a:rPr dirty="0" sz="2450" spc="-15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100">
                <a:solidFill>
                  <a:srgbClr val="232424"/>
                </a:solidFill>
                <a:latin typeface="Times New Roman"/>
                <a:cs typeface="Times New Roman"/>
              </a:rPr>
              <a:t>flow"</a:t>
            </a:r>
            <a:r>
              <a:rPr dirty="0" sz="2450" spc="-180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45">
                <a:solidFill>
                  <a:srgbClr val="232424"/>
                </a:solidFill>
                <a:latin typeface="Times New Roman"/>
                <a:cs typeface="Times New Roman"/>
              </a:rPr>
              <a:t>with</a:t>
            </a:r>
            <a:r>
              <a:rPr dirty="0" sz="2450" spc="-40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50">
                <a:solidFill>
                  <a:srgbClr val="232424"/>
                </a:solidFill>
                <a:latin typeface="Times New Roman"/>
                <a:cs typeface="Times New Roman"/>
              </a:rPr>
              <a:t>high</a:t>
            </a:r>
            <a:r>
              <a:rPr dirty="0" sz="2450" spc="-55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25">
                <a:solidFill>
                  <a:srgbClr val="232424"/>
                </a:solidFill>
                <a:latin typeface="Times New Roman"/>
                <a:cs typeface="Times New Roman"/>
              </a:rPr>
              <a:t>temporal</a:t>
            </a:r>
            <a:r>
              <a:rPr dirty="0" sz="2450" spc="-90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10">
                <a:solidFill>
                  <a:srgbClr val="0F0F0F"/>
                </a:solidFill>
                <a:latin typeface="Times New Roman"/>
                <a:cs typeface="Times New Roman"/>
              </a:rPr>
              <a:t>precision.</a:t>
            </a:r>
            <a:endParaRPr sz="2450">
              <a:latin typeface="Times New Roman"/>
              <a:cs typeface="Times New Roman"/>
            </a:endParaRPr>
          </a:p>
          <a:p>
            <a:pPr marL="394335" indent="-264160">
              <a:lnSpc>
                <a:spcPct val="100000"/>
              </a:lnSpc>
              <a:spcBef>
                <a:spcPts val="75"/>
              </a:spcBef>
              <a:buChar char="•"/>
              <a:tabLst>
                <a:tab pos="394335" algn="l"/>
              </a:tabLst>
            </a:pPr>
            <a:r>
              <a:rPr dirty="0" sz="2450" spc="-55">
                <a:solidFill>
                  <a:srgbClr val="0F0F0F"/>
                </a:solidFill>
                <a:latin typeface="Times New Roman"/>
                <a:cs typeface="Times New Roman"/>
              </a:rPr>
              <a:t>Identifie</a:t>
            </a:r>
            <a:r>
              <a:rPr dirty="0" sz="2450" spc="-55">
                <a:solidFill>
                  <a:srgbClr val="383A3A"/>
                </a:solidFill>
                <a:latin typeface="Times New Roman"/>
                <a:cs typeface="Times New Roman"/>
              </a:rPr>
              <a:t>s</a:t>
            </a:r>
            <a:r>
              <a:rPr dirty="0" sz="2450" spc="-175">
                <a:solidFill>
                  <a:srgbClr val="383A3A"/>
                </a:solidFill>
                <a:latin typeface="Times New Roman"/>
                <a:cs typeface="Times New Roman"/>
              </a:rPr>
              <a:t> </a:t>
            </a:r>
            <a:r>
              <a:rPr dirty="0" sz="2450" spc="-20">
                <a:solidFill>
                  <a:srgbClr val="383A3A"/>
                </a:solidFill>
                <a:latin typeface="Times New Roman"/>
                <a:cs typeface="Times New Roman"/>
              </a:rPr>
              <a:t>"mome</a:t>
            </a:r>
            <a:r>
              <a:rPr dirty="0" sz="2450" spc="-20">
                <a:solidFill>
                  <a:srgbClr val="0F0F0F"/>
                </a:solidFill>
                <a:latin typeface="Times New Roman"/>
                <a:cs typeface="Times New Roman"/>
              </a:rPr>
              <a:t>nt</a:t>
            </a:r>
            <a:r>
              <a:rPr dirty="0" sz="2450" spc="-20">
                <a:solidFill>
                  <a:srgbClr val="383A3A"/>
                </a:solidFill>
                <a:latin typeface="Times New Roman"/>
                <a:cs typeface="Times New Roman"/>
              </a:rPr>
              <a:t>s</a:t>
            </a:r>
            <a:r>
              <a:rPr dirty="0" sz="2450" spc="-200">
                <a:solidFill>
                  <a:srgbClr val="383A3A"/>
                </a:solidFill>
                <a:latin typeface="Times New Roman"/>
                <a:cs typeface="Times New Roman"/>
              </a:rPr>
              <a:t> </a:t>
            </a:r>
            <a:r>
              <a:rPr dirty="0" sz="2450" spc="-75">
                <a:solidFill>
                  <a:srgbClr val="232424"/>
                </a:solidFill>
                <a:latin typeface="Times New Roman"/>
                <a:cs typeface="Times New Roman"/>
              </a:rPr>
              <a:t>of</a:t>
            </a:r>
            <a:r>
              <a:rPr dirty="0" sz="2450" spc="-110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40">
                <a:solidFill>
                  <a:srgbClr val="232424"/>
                </a:solidFill>
                <a:latin typeface="Times New Roman"/>
                <a:cs typeface="Times New Roman"/>
              </a:rPr>
              <a:t>vulnerability"</a:t>
            </a:r>
            <a:r>
              <a:rPr dirty="0" sz="2450" spc="-275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80">
                <a:solidFill>
                  <a:srgbClr val="232424"/>
                </a:solidFill>
                <a:latin typeface="Times New Roman"/>
                <a:cs typeface="Times New Roman"/>
              </a:rPr>
              <a:t>(e.g.,</a:t>
            </a:r>
            <a:r>
              <a:rPr dirty="0" sz="2450" spc="-225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60">
                <a:solidFill>
                  <a:srgbClr val="232424"/>
                </a:solidFill>
                <a:latin typeface="Times New Roman"/>
                <a:cs typeface="Times New Roman"/>
              </a:rPr>
              <a:t>specific</a:t>
            </a:r>
            <a:r>
              <a:rPr dirty="0" sz="2450" spc="-20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45">
                <a:solidFill>
                  <a:srgbClr val="232424"/>
                </a:solidFill>
                <a:latin typeface="Times New Roman"/>
                <a:cs typeface="Times New Roman"/>
              </a:rPr>
              <a:t>times</a:t>
            </a:r>
            <a:r>
              <a:rPr dirty="0" sz="2450" spc="-30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>
                <a:solidFill>
                  <a:srgbClr val="232424"/>
                </a:solidFill>
                <a:latin typeface="Times New Roman"/>
                <a:cs typeface="Times New Roman"/>
              </a:rPr>
              <a:t>or</a:t>
            </a:r>
            <a:r>
              <a:rPr dirty="0" sz="2450" spc="-160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60">
                <a:solidFill>
                  <a:srgbClr val="232424"/>
                </a:solidFill>
                <a:latin typeface="Times New Roman"/>
                <a:cs typeface="Times New Roman"/>
              </a:rPr>
              <a:t>social </a:t>
            </a:r>
            <a:r>
              <a:rPr dirty="0" sz="2450" spc="-10">
                <a:solidFill>
                  <a:srgbClr val="232424"/>
                </a:solidFill>
                <a:latin typeface="Times New Roman"/>
                <a:cs typeface="Times New Roman"/>
              </a:rPr>
              <a:t>contexts).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65103" y="7479104"/>
            <a:ext cx="4211320" cy="163512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330"/>
              </a:spcBef>
            </a:pPr>
            <a:r>
              <a:rPr dirty="0" sz="2800" spc="-75" b="1">
                <a:solidFill>
                  <a:srgbClr val="0F0F0F"/>
                </a:solidFill>
                <a:latin typeface="Times New Roman"/>
                <a:cs typeface="Times New Roman"/>
              </a:rPr>
              <a:t>Research</a:t>
            </a:r>
            <a:r>
              <a:rPr dirty="0" sz="2800" spc="-4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0F0F0F"/>
                </a:solidFill>
                <a:latin typeface="Times New Roman"/>
                <a:cs typeface="Times New Roman"/>
              </a:rPr>
              <a:t>Value</a:t>
            </a:r>
            <a:endParaRPr sz="2800">
              <a:latin typeface="Times New Roman"/>
              <a:cs typeface="Times New Roman"/>
            </a:endParaRPr>
          </a:p>
          <a:p>
            <a:pPr marL="15875" marR="5080" indent="-3810">
              <a:lnSpc>
                <a:spcPct val="100899"/>
              </a:lnSpc>
              <a:spcBef>
                <a:spcPts val="180"/>
              </a:spcBef>
            </a:pPr>
            <a:r>
              <a:rPr dirty="0" sz="2450" spc="-110">
                <a:solidFill>
                  <a:srgbClr val="232424"/>
                </a:solidFill>
                <a:latin typeface="Times New Roman"/>
                <a:cs typeface="Times New Roman"/>
              </a:rPr>
              <a:t>Allows</a:t>
            </a:r>
            <a:r>
              <a:rPr dirty="0" sz="2450" spc="-45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45">
                <a:solidFill>
                  <a:srgbClr val="0F0F0F"/>
                </a:solidFill>
                <a:latin typeface="Times New Roman"/>
                <a:cs typeface="Times New Roman"/>
              </a:rPr>
              <a:t>observation</a:t>
            </a:r>
            <a:r>
              <a:rPr dirty="0" sz="24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2450" spc="-30">
                <a:solidFill>
                  <a:srgbClr val="232424"/>
                </a:solidFill>
                <a:latin typeface="Times New Roman"/>
                <a:cs typeface="Times New Roman"/>
              </a:rPr>
              <a:t>of</a:t>
            </a:r>
            <a:r>
              <a:rPr dirty="0" sz="2450" spc="-185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10">
                <a:solidFill>
                  <a:srgbClr val="232424"/>
                </a:solidFill>
                <a:latin typeface="Times New Roman"/>
                <a:cs typeface="Times New Roman"/>
              </a:rPr>
              <a:t>"critical </a:t>
            </a:r>
            <a:r>
              <a:rPr dirty="0" sz="2450" spc="-50">
                <a:solidFill>
                  <a:srgbClr val="0F0F0F"/>
                </a:solidFill>
                <a:latin typeface="Times New Roman"/>
                <a:cs typeface="Times New Roman"/>
              </a:rPr>
              <a:t>fluctuations</a:t>
            </a:r>
            <a:r>
              <a:rPr dirty="0" sz="2450" spc="-50">
                <a:solidFill>
                  <a:srgbClr val="383A3A"/>
                </a:solidFill>
                <a:latin typeface="Times New Roman"/>
                <a:cs typeface="Times New Roman"/>
              </a:rPr>
              <a:t>"-</a:t>
            </a:r>
            <a:r>
              <a:rPr dirty="0" sz="2450" spc="90">
                <a:solidFill>
                  <a:srgbClr val="0F0F0F"/>
                </a:solidFill>
                <a:latin typeface="Times New Roman"/>
                <a:cs typeface="Times New Roman"/>
              </a:rPr>
              <a:t>increased</a:t>
            </a:r>
            <a:r>
              <a:rPr dirty="0" sz="2450" spc="-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2450" spc="-45">
                <a:solidFill>
                  <a:srgbClr val="232424"/>
                </a:solidFill>
                <a:latin typeface="Times New Roman"/>
                <a:cs typeface="Times New Roman"/>
              </a:rPr>
              <a:t>variability </a:t>
            </a:r>
            <a:r>
              <a:rPr dirty="0" sz="2450" spc="-40">
                <a:solidFill>
                  <a:srgbClr val="232424"/>
                </a:solidFill>
                <a:latin typeface="Times New Roman"/>
                <a:cs typeface="Times New Roman"/>
              </a:rPr>
              <a:t>predicting</a:t>
            </a:r>
            <a:r>
              <a:rPr dirty="0" sz="2450" spc="-100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65">
                <a:solidFill>
                  <a:srgbClr val="232424"/>
                </a:solidFill>
                <a:latin typeface="Times New Roman"/>
                <a:cs typeface="Times New Roman"/>
              </a:rPr>
              <a:t>system</a:t>
            </a:r>
            <a:r>
              <a:rPr dirty="0" sz="2450" spc="-25">
                <a:solidFill>
                  <a:srgbClr val="232424"/>
                </a:solidFill>
                <a:latin typeface="Times New Roman"/>
                <a:cs typeface="Times New Roman"/>
              </a:rPr>
              <a:t> </a:t>
            </a:r>
            <a:r>
              <a:rPr dirty="0" sz="2450" spc="-10">
                <a:solidFill>
                  <a:srgbClr val="0F0F0F"/>
                </a:solidFill>
                <a:latin typeface="Times New Roman"/>
                <a:cs typeface="Times New Roman"/>
              </a:rPr>
              <a:t>transition.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58729" y="9396214"/>
            <a:ext cx="12439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10">
                <a:solidFill>
                  <a:srgbClr val="383A3A"/>
                </a:solidFill>
                <a:latin typeface="Times New Roman"/>
                <a:cs typeface="Times New Roman"/>
              </a:rPr>
              <a:t>I'S\</a:t>
            </a:r>
            <a:r>
              <a:rPr dirty="0" sz="1400" spc="20">
                <a:solidFill>
                  <a:srgbClr val="383A3A"/>
                </a:solidFill>
                <a:latin typeface="Times New Roman"/>
                <a:cs typeface="Times New Roman"/>
              </a:rPr>
              <a:t> </a:t>
            </a:r>
            <a:r>
              <a:rPr dirty="0" sz="1350" spc="-10">
                <a:solidFill>
                  <a:srgbClr val="0F0F0F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1188" y="3447124"/>
            <a:ext cx="942532" cy="76596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50567" y="2425832"/>
            <a:ext cx="4177709" cy="13276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83014" y="3344994"/>
            <a:ext cx="840636" cy="5617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42985" y="5106723"/>
            <a:ext cx="4763607" cy="2808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05759" y="5106723"/>
            <a:ext cx="891584" cy="35745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781341" y="4634374"/>
            <a:ext cx="433055" cy="62554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25927" y="6076950"/>
            <a:ext cx="789688" cy="71490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59209" y="6536531"/>
            <a:ext cx="1171796" cy="74043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055646" y="6102482"/>
            <a:ext cx="1222744" cy="51064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775432" y="6970580"/>
            <a:ext cx="611372" cy="20425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3400757" y="4187559"/>
            <a:ext cx="0" cy="1940560"/>
          </a:xfrm>
          <a:custGeom>
            <a:avLst/>
            <a:gdLst/>
            <a:ahLst/>
            <a:cxnLst/>
            <a:rect l="l" t="t" r="r" b="b"/>
            <a:pathLst>
              <a:path w="0" h="1940560">
                <a:moveTo>
                  <a:pt x="0" y="194045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04548" y="4187559"/>
            <a:ext cx="0" cy="1940560"/>
          </a:xfrm>
          <a:custGeom>
            <a:avLst/>
            <a:gdLst/>
            <a:ahLst/>
            <a:cxnLst/>
            <a:rect l="l" t="t" r="r" b="b"/>
            <a:pathLst>
              <a:path w="0" h="1940560">
                <a:moveTo>
                  <a:pt x="0" y="194045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189535" y="3498187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908715" y="4187559"/>
            <a:ext cx="0" cy="434340"/>
          </a:xfrm>
          <a:custGeom>
            <a:avLst/>
            <a:gdLst/>
            <a:ahLst/>
            <a:cxnLst/>
            <a:rect l="l" t="t" r="r" b="b"/>
            <a:pathLst>
              <a:path w="0" h="434339">
                <a:moveTo>
                  <a:pt x="0" y="43404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42532" y="2234339"/>
            <a:ext cx="1503045" cy="0"/>
          </a:xfrm>
          <a:custGeom>
            <a:avLst/>
            <a:gdLst/>
            <a:ahLst/>
            <a:cxnLst/>
            <a:rect l="l" t="t" r="r" b="b"/>
            <a:pathLst>
              <a:path w="1503045" h="0">
                <a:moveTo>
                  <a:pt x="0" y="0"/>
                </a:moveTo>
                <a:lnTo>
                  <a:pt x="1502956" y="0"/>
                </a:lnTo>
              </a:path>
            </a:pathLst>
          </a:custGeom>
          <a:ln w="893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463835" y="2285404"/>
            <a:ext cx="2598420" cy="0"/>
          </a:xfrm>
          <a:custGeom>
            <a:avLst/>
            <a:gdLst/>
            <a:ahLst/>
            <a:cxnLst/>
            <a:rect l="l" t="t" r="r" b="b"/>
            <a:pathLst>
              <a:path w="2598420" h="0">
                <a:moveTo>
                  <a:pt x="0" y="0"/>
                </a:moveTo>
                <a:lnTo>
                  <a:pt x="259833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591811" y="4047131"/>
            <a:ext cx="1325245" cy="0"/>
          </a:xfrm>
          <a:custGeom>
            <a:avLst/>
            <a:gdLst/>
            <a:ahLst/>
            <a:cxnLst/>
            <a:rect l="l" t="t" r="r" b="b"/>
            <a:pathLst>
              <a:path w="1325245" h="0">
                <a:moveTo>
                  <a:pt x="0" y="0"/>
                </a:moveTo>
                <a:lnTo>
                  <a:pt x="132463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591811" y="4200325"/>
            <a:ext cx="1579880" cy="0"/>
          </a:xfrm>
          <a:custGeom>
            <a:avLst/>
            <a:gdLst/>
            <a:ahLst/>
            <a:cxnLst/>
            <a:rect l="l" t="t" r="r" b="b"/>
            <a:pathLst>
              <a:path w="1579879" h="0">
                <a:moveTo>
                  <a:pt x="0" y="0"/>
                </a:moveTo>
                <a:lnTo>
                  <a:pt x="157937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731006" y="6651424"/>
            <a:ext cx="1961514" cy="128270"/>
          </a:xfrm>
          <a:custGeom>
            <a:avLst/>
            <a:gdLst/>
            <a:ahLst/>
            <a:cxnLst/>
            <a:rect l="l" t="t" r="r" b="b"/>
            <a:pathLst>
              <a:path w="1961515" h="128270">
                <a:moveTo>
                  <a:pt x="0" y="0"/>
                </a:moveTo>
                <a:lnTo>
                  <a:pt x="1961485" y="0"/>
                </a:lnTo>
                <a:lnTo>
                  <a:pt x="1961485" y="127661"/>
                </a:lnTo>
                <a:lnTo>
                  <a:pt x="0" y="1276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215616" y="6715255"/>
            <a:ext cx="2343785" cy="128270"/>
          </a:xfrm>
          <a:custGeom>
            <a:avLst/>
            <a:gdLst/>
            <a:ahLst/>
            <a:cxnLst/>
            <a:rect l="l" t="t" r="r" b="b"/>
            <a:pathLst>
              <a:path w="2343784" h="128270">
                <a:moveTo>
                  <a:pt x="0" y="0"/>
                </a:moveTo>
                <a:lnTo>
                  <a:pt x="2343593" y="0"/>
                </a:lnTo>
                <a:lnTo>
                  <a:pt x="2343593" y="127661"/>
                </a:lnTo>
                <a:lnTo>
                  <a:pt x="0" y="1276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731006" y="7174836"/>
            <a:ext cx="1656080" cy="0"/>
          </a:xfrm>
          <a:custGeom>
            <a:avLst/>
            <a:gdLst/>
            <a:ahLst/>
            <a:cxnLst/>
            <a:rect l="l" t="t" r="r" b="b"/>
            <a:pathLst>
              <a:path w="1656079" h="0">
                <a:moveTo>
                  <a:pt x="0" y="0"/>
                </a:moveTo>
                <a:lnTo>
                  <a:pt x="165579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925673" y="555657"/>
            <a:ext cx="12413615" cy="7842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950">
                <a:solidFill>
                  <a:srgbClr val="1F1F21"/>
                </a:solidFill>
              </a:rPr>
              <a:t>Closing</a:t>
            </a:r>
            <a:r>
              <a:rPr dirty="0" sz="4950" spc="70">
                <a:solidFill>
                  <a:srgbClr val="1F1F21"/>
                </a:solidFill>
              </a:rPr>
              <a:t> </a:t>
            </a:r>
            <a:r>
              <a:rPr dirty="0" sz="4950" spc="190">
                <a:solidFill>
                  <a:srgbClr val="1F1F21"/>
                </a:solidFill>
              </a:rPr>
              <a:t>the</a:t>
            </a:r>
            <a:r>
              <a:rPr dirty="0" sz="4950" spc="-225">
                <a:solidFill>
                  <a:srgbClr val="1F1F21"/>
                </a:solidFill>
              </a:rPr>
              <a:t> </a:t>
            </a:r>
            <a:r>
              <a:rPr dirty="0" sz="4950">
                <a:solidFill>
                  <a:srgbClr val="1F1F21"/>
                </a:solidFill>
              </a:rPr>
              <a:t>Loop:</a:t>
            </a:r>
            <a:r>
              <a:rPr dirty="0" sz="4950" spc="-400">
                <a:solidFill>
                  <a:srgbClr val="1F1F21"/>
                </a:solidFill>
              </a:rPr>
              <a:t> </a:t>
            </a:r>
            <a:r>
              <a:rPr dirty="0" sz="4950" spc="85">
                <a:solidFill>
                  <a:srgbClr val="1F1F21"/>
                </a:solidFill>
              </a:rPr>
              <a:t>Just-</a:t>
            </a:r>
            <a:r>
              <a:rPr dirty="0" sz="4950" spc="75">
                <a:solidFill>
                  <a:srgbClr val="1F1F21"/>
                </a:solidFill>
              </a:rPr>
              <a:t>In-</a:t>
            </a:r>
            <a:r>
              <a:rPr dirty="0" sz="4950" spc="110">
                <a:solidFill>
                  <a:srgbClr val="1F1F21"/>
                </a:solidFill>
              </a:rPr>
              <a:t>Time</a:t>
            </a:r>
            <a:r>
              <a:rPr dirty="0" sz="4950" spc="325">
                <a:solidFill>
                  <a:srgbClr val="1F1F21"/>
                </a:solidFill>
              </a:rPr>
              <a:t> </a:t>
            </a:r>
            <a:r>
              <a:rPr dirty="0" sz="4950" spc="60">
                <a:solidFill>
                  <a:srgbClr val="1F1F21"/>
                </a:solidFill>
              </a:rPr>
              <a:t>Adaptive</a:t>
            </a:r>
            <a:endParaRPr sz="4950"/>
          </a:p>
        </p:txBody>
      </p:sp>
      <p:sp>
        <p:nvSpPr>
          <p:cNvPr id="24" name="object 24"/>
          <p:cNvSpPr txBox="1"/>
          <p:nvPr/>
        </p:nvSpPr>
        <p:spPr>
          <a:xfrm>
            <a:off x="937907" y="1283328"/>
            <a:ext cx="6268085" cy="7842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950" spc="65" b="1">
                <a:solidFill>
                  <a:srgbClr val="1F1F21"/>
                </a:solidFill>
                <a:latin typeface="Arial"/>
                <a:cs typeface="Arial"/>
              </a:rPr>
              <a:t>Interventions</a:t>
            </a:r>
            <a:r>
              <a:rPr dirty="0" sz="4950" spc="130" b="1">
                <a:solidFill>
                  <a:srgbClr val="1F1F21"/>
                </a:solidFill>
                <a:latin typeface="Arial"/>
                <a:cs typeface="Arial"/>
              </a:rPr>
              <a:t> </a:t>
            </a:r>
            <a:r>
              <a:rPr dirty="0" sz="4950" spc="-10" b="1">
                <a:solidFill>
                  <a:srgbClr val="1F1F21"/>
                </a:solidFill>
                <a:latin typeface="Arial"/>
                <a:cs typeface="Arial"/>
              </a:rPr>
              <a:t>(JITAI)</a:t>
            </a:r>
            <a:endParaRPr sz="49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00679" y="1532268"/>
            <a:ext cx="338455" cy="1052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700" spc="170">
                <a:solidFill>
                  <a:srgbClr val="AAB1B5"/>
                </a:solidFill>
                <a:latin typeface="Times New Roman"/>
                <a:cs typeface="Times New Roman"/>
              </a:rPr>
              <a:t>-</a:t>
            </a:r>
            <a:endParaRPr sz="67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42653" y="2974843"/>
            <a:ext cx="1348105" cy="577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600" spc="-70">
                <a:solidFill>
                  <a:srgbClr val="727C82"/>
                </a:solidFill>
                <a:latin typeface="Times New Roman"/>
                <a:cs typeface="Times New Roman"/>
              </a:rPr>
              <a:t>+</a:t>
            </a:r>
            <a:r>
              <a:rPr dirty="0" sz="3600" spc="-70">
                <a:solidFill>
                  <a:srgbClr val="9CA3A7"/>
                </a:solidFill>
                <a:latin typeface="Times New Roman"/>
                <a:cs typeface="Times New Roman"/>
              </a:rPr>
              <a:t>-</a:t>
            </a:r>
            <a:r>
              <a:rPr dirty="0" sz="3600" spc="-10">
                <a:solidFill>
                  <a:srgbClr val="9CA3A7"/>
                </a:solidFill>
                <a:latin typeface="Times New Roman"/>
                <a:cs typeface="Times New Roman"/>
              </a:rPr>
              <a:t>-</a:t>
            </a:r>
            <a:r>
              <a:rPr dirty="0" sz="3600" spc="-110">
                <a:solidFill>
                  <a:srgbClr val="9CA3A7"/>
                </a:solidFill>
                <a:latin typeface="Times New Roman"/>
                <a:cs typeface="Times New Roman"/>
              </a:rPr>
              <a:t>-</a:t>
            </a:r>
            <a:r>
              <a:rPr dirty="0" sz="3600" spc="-100">
                <a:solidFill>
                  <a:srgbClr val="9CA3A7"/>
                </a:solidFill>
                <a:latin typeface="Times New Roman"/>
                <a:cs typeface="Times New Roman"/>
              </a:rPr>
              <a:t>-</a:t>
            </a:r>
            <a:r>
              <a:rPr dirty="0" sz="3600" spc="-110">
                <a:solidFill>
                  <a:srgbClr val="AAB1B5"/>
                </a:solidFill>
                <a:latin typeface="Times New Roman"/>
                <a:cs typeface="Times New Roman"/>
              </a:rPr>
              <a:t>-</a:t>
            </a:r>
            <a:r>
              <a:rPr dirty="0" sz="3600" spc="-110">
                <a:solidFill>
                  <a:srgbClr val="9CA3A7"/>
                </a:solidFill>
                <a:latin typeface="Times New Roman"/>
                <a:cs typeface="Times New Roman"/>
              </a:rPr>
              <a:t>-</a:t>
            </a:r>
            <a:r>
              <a:rPr dirty="0" sz="3600" spc="-215">
                <a:solidFill>
                  <a:srgbClr val="9CA3A7"/>
                </a:solidFill>
                <a:latin typeface="Times New Roman"/>
                <a:cs typeface="Times New Roman"/>
              </a:rPr>
              <a:t>-</a:t>
            </a:r>
            <a:r>
              <a:rPr dirty="0" sz="3600" spc="-125">
                <a:solidFill>
                  <a:srgbClr val="AAB1B5"/>
                </a:solidFill>
                <a:latin typeface="Times New Roman"/>
                <a:cs typeface="Times New Roman"/>
              </a:rPr>
              <a:t>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152706" y="3664214"/>
            <a:ext cx="1079500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100" spc="10" i="1">
                <a:solidFill>
                  <a:srgbClr val="424B52"/>
                </a:solidFill>
                <a:latin typeface="Verdana"/>
                <a:cs typeface="Verdana"/>
              </a:rPr>
              <a:t>!</a:t>
            </a:r>
            <a:r>
              <a:rPr dirty="0" sz="1100" spc="-295" i="1">
                <a:solidFill>
                  <a:srgbClr val="424B52"/>
                </a:solidFill>
                <a:latin typeface="Verdana"/>
                <a:cs typeface="Verdana"/>
              </a:rPr>
              <a:t>;</a:t>
            </a:r>
            <a:r>
              <a:rPr dirty="0" baseline="21604" sz="2700" spc="-1267">
                <a:solidFill>
                  <a:srgbClr val="52606D"/>
                </a:solidFill>
                <a:latin typeface="Times New Roman"/>
                <a:cs typeface="Times New Roman"/>
              </a:rPr>
              <a:t>+</a:t>
            </a:r>
            <a:r>
              <a:rPr dirty="0" sz="1100" spc="20" i="1">
                <a:solidFill>
                  <a:srgbClr val="424B52"/>
                </a:solidFill>
                <a:latin typeface="Verdana"/>
                <a:cs typeface="Verdana"/>
              </a:rPr>
              <a:t>!</a:t>
            </a:r>
            <a:r>
              <a:rPr dirty="0" sz="1100" spc="20" i="1">
                <a:solidFill>
                  <a:srgbClr val="52606D"/>
                </a:solidFill>
                <a:latin typeface="Verdana"/>
                <a:cs typeface="Verdana"/>
              </a:rPr>
              <a:t>:</a:t>
            </a:r>
            <a:r>
              <a:rPr dirty="0" sz="1100" spc="135" i="1">
                <a:solidFill>
                  <a:srgbClr val="52606D"/>
                </a:solidFill>
                <a:latin typeface="Verdana"/>
                <a:cs typeface="Verdana"/>
              </a:rPr>
              <a:t> </a:t>
            </a:r>
            <a:r>
              <a:rPr dirty="0" baseline="21604" sz="2700" spc="675">
                <a:solidFill>
                  <a:srgbClr val="52606D"/>
                </a:solidFill>
                <a:latin typeface="Times New Roman"/>
                <a:cs typeface="Times New Roman"/>
              </a:rPr>
              <a:t>-</a:t>
            </a:r>
            <a:r>
              <a:rPr dirty="0" baseline="21604" sz="2700" spc="1297">
                <a:solidFill>
                  <a:srgbClr val="52606D"/>
                </a:solidFill>
                <a:latin typeface="Times New Roman"/>
                <a:cs typeface="Times New Roman"/>
              </a:rPr>
              <a:t>�-</a:t>
            </a:r>
            <a:r>
              <a:rPr dirty="0" sz="1800" spc="-775">
                <a:solidFill>
                  <a:srgbClr val="52606D"/>
                </a:solidFill>
                <a:latin typeface="Times New Roman"/>
                <a:cs typeface="Times New Roman"/>
              </a:rPr>
              <a:t>·</a:t>
            </a:r>
            <a:r>
              <a:rPr dirty="0" baseline="21604" sz="2700" spc="-1657">
                <a:solidFill>
                  <a:srgbClr val="52606D"/>
                </a:solidFill>
                <a:latin typeface="Times New Roman"/>
                <a:cs typeface="Times New Roman"/>
              </a:rPr>
              <a:t>�</a:t>
            </a:r>
            <a:r>
              <a:rPr dirty="0" sz="1800" spc="-204">
                <a:solidFill>
                  <a:srgbClr val="52606D"/>
                </a:solidFill>
                <a:latin typeface="Times New Roman"/>
                <a:cs typeface="Times New Roman"/>
              </a:rPr>
              <a:t>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087802" y="3664214"/>
            <a:ext cx="97790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-50">
                <a:solidFill>
                  <a:srgbClr val="9CA3A7"/>
                </a:solidFill>
                <a:latin typeface="Times New Roman"/>
                <a:cs typeface="Times New Roman"/>
              </a:rPr>
              <a:t>•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746920" y="4174793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73" y="0"/>
                </a:lnTo>
              </a:path>
            </a:pathLst>
          </a:custGeom>
          <a:ln w="12766">
            <a:solidFill>
              <a:srgbClr val="BCC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495547" y="3798259"/>
            <a:ext cx="2479675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596265" algn="l"/>
                <a:tab pos="1250950" algn="l"/>
                <a:tab pos="1746250" algn="l"/>
                <a:tab pos="2292350" algn="l"/>
              </a:tabLst>
            </a:pPr>
            <a:r>
              <a:rPr dirty="0" u="heavy" sz="2850" spc="-50">
                <a:solidFill>
                  <a:srgbClr val="BCC1C4"/>
                </a:solidFill>
                <a:uFill>
                  <a:solidFill>
                    <a:srgbClr val="BCC1C4"/>
                  </a:solidFill>
                </a:uFill>
                <a:latin typeface="Times New Roman"/>
                <a:cs typeface="Times New Roman"/>
              </a:rPr>
              <a:t>+</a:t>
            </a:r>
            <a:r>
              <a:rPr dirty="0" u="none" sz="2850">
                <a:solidFill>
                  <a:srgbClr val="BCC1C4"/>
                </a:solidFill>
                <a:latin typeface="Times New Roman"/>
                <a:cs typeface="Times New Roman"/>
              </a:rPr>
              <a:t>	</a:t>
            </a:r>
            <a:r>
              <a:rPr dirty="0" u="heavy" sz="1500" spc="-50">
                <a:solidFill>
                  <a:srgbClr val="BCC1C4"/>
                </a:solidFill>
                <a:uFill>
                  <a:solidFill>
                    <a:srgbClr val="BCC1C4"/>
                  </a:solidFill>
                </a:uFill>
                <a:latin typeface="Times New Roman"/>
                <a:cs typeface="Times New Roman"/>
              </a:rPr>
              <a:t>+</a:t>
            </a:r>
            <a:r>
              <a:rPr dirty="0" u="none" sz="1500">
                <a:solidFill>
                  <a:srgbClr val="BCC1C4"/>
                </a:solidFill>
                <a:latin typeface="Times New Roman"/>
                <a:cs typeface="Times New Roman"/>
              </a:rPr>
              <a:t>	</a:t>
            </a:r>
            <a:r>
              <a:rPr dirty="0" u="none" sz="1050" spc="-50">
                <a:solidFill>
                  <a:srgbClr val="BCC1C4"/>
                </a:solidFill>
                <a:latin typeface="Times New Roman"/>
                <a:cs typeface="Times New Roman"/>
              </a:rPr>
              <a:t>I</a:t>
            </a:r>
            <a:r>
              <a:rPr dirty="0" u="none" sz="1050">
                <a:solidFill>
                  <a:srgbClr val="BCC1C4"/>
                </a:solidFill>
                <a:latin typeface="Times New Roman"/>
                <a:cs typeface="Times New Roman"/>
              </a:rPr>
              <a:t>	</a:t>
            </a:r>
            <a:r>
              <a:rPr dirty="0" u="heavy" sz="1250" spc="-75">
                <a:solidFill>
                  <a:srgbClr val="BCC1C4"/>
                </a:solidFill>
                <a:uFill>
                  <a:solidFill>
                    <a:srgbClr val="BCC1C4"/>
                  </a:solidFill>
                </a:uFill>
                <a:latin typeface="Arial"/>
                <a:cs typeface="Arial"/>
              </a:rPr>
              <a:t>-</a:t>
            </a:r>
            <a:r>
              <a:rPr dirty="0" u="heavy" sz="1250" spc="-50">
                <a:solidFill>
                  <a:srgbClr val="BCC1C4"/>
                </a:solidFill>
                <a:uFill>
                  <a:solidFill>
                    <a:srgbClr val="BCC1C4"/>
                  </a:solidFill>
                </a:uFill>
                <a:latin typeface="Arial"/>
                <a:cs typeface="Arial"/>
              </a:rPr>
              <a:t>+</a:t>
            </a:r>
            <a:r>
              <a:rPr dirty="0" u="none" sz="1250">
                <a:solidFill>
                  <a:srgbClr val="BCC1C4"/>
                </a:solidFill>
                <a:latin typeface="Arial"/>
                <a:cs typeface="Arial"/>
              </a:rPr>
              <a:t>	</a:t>
            </a:r>
            <a:r>
              <a:rPr dirty="0" u="heavy" sz="2850" spc="-310">
                <a:solidFill>
                  <a:srgbClr val="BCC1C4"/>
                </a:solidFill>
                <a:uFill>
                  <a:solidFill>
                    <a:srgbClr val="BCC1C4"/>
                  </a:solidFill>
                </a:uFill>
                <a:latin typeface="Times New Roman"/>
                <a:cs typeface="Times New Roman"/>
              </a:rPr>
              <a:t>+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2596514" y="4174793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73" y="0"/>
                </a:lnTo>
              </a:path>
            </a:pathLst>
          </a:custGeom>
          <a:ln w="12766">
            <a:solidFill>
              <a:srgbClr val="9CA3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3283348" y="3791876"/>
            <a:ext cx="72136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29895" algn="l"/>
              </a:tabLst>
            </a:pPr>
            <a:r>
              <a:rPr dirty="0" u="heavy" sz="2900" spc="-380">
                <a:solidFill>
                  <a:srgbClr val="9CA3A7"/>
                </a:solidFill>
                <a:uFill>
                  <a:solidFill>
                    <a:srgbClr val="AAB1B5"/>
                  </a:solidFill>
                </a:uFill>
                <a:latin typeface="Times New Roman"/>
                <a:cs typeface="Times New Roman"/>
              </a:rPr>
              <a:t>f-</a:t>
            </a:r>
            <a:r>
              <a:rPr dirty="0" u="heavy" sz="2900" spc="-500">
                <a:solidFill>
                  <a:srgbClr val="AAB1B5"/>
                </a:solidFill>
                <a:uFill>
                  <a:solidFill>
                    <a:srgbClr val="AAB1B5"/>
                  </a:solidFill>
                </a:uFill>
                <a:latin typeface="Times New Roman"/>
                <a:cs typeface="Times New Roman"/>
              </a:rPr>
              <a:t>·-</a:t>
            </a:r>
            <a:r>
              <a:rPr dirty="0" u="heavy" sz="2900">
                <a:solidFill>
                  <a:srgbClr val="AAB1B5"/>
                </a:solidFill>
                <a:uFill>
                  <a:solidFill>
                    <a:srgbClr val="AAB1B5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2900" spc="-135">
                <a:solidFill>
                  <a:srgbClr val="AAB1B5"/>
                </a:solidFill>
                <a:latin typeface="Times New Roman"/>
                <a:cs typeface="Times New Roman"/>
              </a:rPr>
              <a:t> </a:t>
            </a:r>
            <a:r>
              <a:rPr dirty="0" u="heavy" sz="2400">
                <a:solidFill>
                  <a:srgbClr val="727C82"/>
                </a:solidFill>
                <a:uFill>
                  <a:solidFill>
                    <a:srgbClr val="AAB1B5"/>
                  </a:solidFill>
                </a:uFill>
                <a:latin typeface="Arial"/>
                <a:cs typeface="Arial"/>
              </a:rPr>
              <a:t>•</a:t>
            </a:r>
            <a:r>
              <a:rPr dirty="0" u="heavy" sz="2400">
                <a:solidFill>
                  <a:srgbClr val="AAB1B5"/>
                </a:solidFill>
                <a:uFill>
                  <a:solidFill>
                    <a:srgbClr val="AAB1B5"/>
                  </a:solidFill>
                </a:uFill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23524" y="4168477"/>
            <a:ext cx="2615565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706755" algn="l"/>
                <a:tab pos="2317750" algn="l"/>
              </a:tabLst>
            </a:pPr>
            <a:r>
              <a:rPr dirty="0" sz="2850" spc="-50">
                <a:solidFill>
                  <a:srgbClr val="9CA3A7"/>
                </a:solidFill>
                <a:latin typeface="Times New Roman"/>
                <a:cs typeface="Times New Roman"/>
              </a:rPr>
              <a:t>+</a:t>
            </a:r>
            <a:r>
              <a:rPr dirty="0" sz="2850">
                <a:solidFill>
                  <a:srgbClr val="9CA3A7"/>
                </a:solidFill>
                <a:latin typeface="Times New Roman"/>
                <a:cs typeface="Times New Roman"/>
              </a:rPr>
              <a:t>	</a:t>
            </a:r>
            <a:r>
              <a:rPr dirty="0" sz="1950" spc="345" b="1">
                <a:solidFill>
                  <a:srgbClr val="0F1111"/>
                </a:solidFill>
                <a:latin typeface="Times New Roman"/>
                <a:cs typeface="Times New Roman"/>
              </a:rPr>
              <a:t>Sensing</a:t>
            </a:r>
            <a:r>
              <a:rPr dirty="0" sz="1950" b="1">
                <a:solidFill>
                  <a:srgbClr val="0F1111"/>
                </a:solidFill>
                <a:latin typeface="Times New Roman"/>
                <a:cs typeface="Times New Roman"/>
              </a:rPr>
              <a:t>	</a:t>
            </a:r>
            <a:r>
              <a:rPr dirty="0" sz="2850" spc="560">
                <a:solidFill>
                  <a:srgbClr val="AAB1B5"/>
                </a:solidFill>
                <a:latin typeface="Times New Roman"/>
                <a:cs typeface="Times New Roman"/>
              </a:rPr>
              <a:t>+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893101" y="4302521"/>
            <a:ext cx="1753235" cy="53149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228600" marR="30480" indent="-191135">
              <a:lnSpc>
                <a:spcPct val="64200"/>
              </a:lnSpc>
              <a:spcBef>
                <a:spcPts val="880"/>
              </a:spcBef>
            </a:pPr>
            <a:r>
              <a:rPr dirty="0" sz="1800">
                <a:solidFill>
                  <a:srgbClr val="383838"/>
                </a:solidFill>
                <a:latin typeface="Times New Roman"/>
                <a:cs typeface="Times New Roman"/>
              </a:rPr>
              <a:t>Decision</a:t>
            </a:r>
            <a:r>
              <a:rPr dirty="0" sz="1800" spc="23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383838"/>
                </a:solidFill>
                <a:latin typeface="Times New Roman"/>
                <a:cs typeface="Times New Roman"/>
              </a:rPr>
              <a:t>Rules</a:t>
            </a:r>
            <a:r>
              <a:rPr dirty="0" sz="1800" spc="1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1800" spc="35">
                <a:solidFill>
                  <a:srgbClr val="383838"/>
                </a:solidFill>
                <a:latin typeface="Times New Roman"/>
                <a:cs typeface="Times New Roman"/>
              </a:rPr>
              <a:t>&amp; </a:t>
            </a:r>
            <a:r>
              <a:rPr dirty="0" sz="1800">
                <a:solidFill>
                  <a:srgbClr val="383838"/>
                </a:solidFill>
                <a:latin typeface="Times New Roman"/>
                <a:cs typeface="Times New Roman"/>
              </a:rPr>
              <a:t>R</a:t>
            </a:r>
            <a:r>
              <a:rPr dirty="0" sz="1800">
                <a:solidFill>
                  <a:srgbClr val="1F1F21"/>
                </a:solidFill>
                <a:latin typeface="Times New Roman"/>
                <a:cs typeface="Times New Roman"/>
              </a:rPr>
              <a:t>i</a:t>
            </a:r>
            <a:r>
              <a:rPr dirty="0" sz="1800">
                <a:solidFill>
                  <a:srgbClr val="383838"/>
                </a:solidFill>
                <a:latin typeface="Times New Roman"/>
                <a:cs typeface="Times New Roman"/>
              </a:rPr>
              <a:t>s</a:t>
            </a:r>
            <a:r>
              <a:rPr dirty="0" sz="1800">
                <a:solidFill>
                  <a:srgbClr val="1F1F21"/>
                </a:solidFill>
                <a:latin typeface="Times New Roman"/>
                <a:cs typeface="Times New Roman"/>
              </a:rPr>
              <a:t>k</a:t>
            </a:r>
            <a:r>
              <a:rPr dirty="0" sz="1800" spc="-45">
                <a:solidFill>
                  <a:srgbClr val="1F1F21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383838"/>
                </a:solidFill>
                <a:latin typeface="Times New Roman"/>
                <a:cs typeface="Times New Roman"/>
              </a:rPr>
              <a:t>A</a:t>
            </a:r>
            <a:r>
              <a:rPr dirty="0" baseline="-28985" sz="3450" spc="-15">
                <a:solidFill>
                  <a:srgbClr val="BCC1C4"/>
                </a:solidFill>
                <a:latin typeface="Times New Roman"/>
                <a:cs typeface="Times New Roman"/>
              </a:rPr>
              <a:t>.</a:t>
            </a:r>
            <a:r>
              <a:rPr dirty="0" sz="1800" spc="-10">
                <a:solidFill>
                  <a:srgbClr val="383838"/>
                </a:solidFill>
                <a:latin typeface="Times New Roman"/>
                <a:cs typeface="Times New Roman"/>
              </a:rPr>
              <a:t>nal</a:t>
            </a:r>
            <a:r>
              <a:rPr dirty="0" sz="1800" spc="-10">
                <a:solidFill>
                  <a:srgbClr val="424B52"/>
                </a:solidFill>
                <a:latin typeface="Times New Roman"/>
                <a:cs typeface="Times New Roman"/>
              </a:rPr>
              <a:t>y</a:t>
            </a:r>
            <a:r>
              <a:rPr dirty="0" sz="1800" spc="-10">
                <a:solidFill>
                  <a:srgbClr val="383838"/>
                </a:solidFill>
                <a:latin typeface="Times New Roman"/>
                <a:cs typeface="Times New Roman"/>
              </a:rPr>
              <a:t>s</a:t>
            </a:r>
            <a:r>
              <a:rPr dirty="0" sz="1800" spc="-10">
                <a:solidFill>
                  <a:srgbClr val="1F1F21"/>
                </a:solidFill>
                <a:latin typeface="Times New Roman"/>
                <a:cs typeface="Times New Roman"/>
              </a:rPr>
              <a:t>i</a:t>
            </a:r>
            <a:r>
              <a:rPr dirty="0" sz="1800" spc="-10">
                <a:solidFill>
                  <a:srgbClr val="383838"/>
                </a:solidFill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693566" y="4519545"/>
            <a:ext cx="146050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-120">
                <a:solidFill>
                  <a:srgbClr val="BCC1C4"/>
                </a:solidFill>
                <a:latin typeface="Times New Roman"/>
                <a:cs typeface="Times New Roman"/>
              </a:rPr>
              <a:t>•r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932838" y="4340819"/>
            <a:ext cx="580390" cy="5156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300" spc="-545">
                <a:solidFill>
                  <a:srgbClr val="BCC1C4"/>
                </a:solidFill>
                <a:latin typeface="Times New Roman"/>
                <a:cs typeface="Times New Roman"/>
              </a:rPr>
              <a:t>+</a:t>
            </a:r>
            <a:r>
              <a:rPr dirty="0" sz="3200" spc="-155">
                <a:solidFill>
                  <a:srgbClr val="52606D"/>
                </a:solidFill>
                <a:latin typeface="Times New Roman"/>
                <a:cs typeface="Times New Roman"/>
              </a:rPr>
              <a:t>=</a:t>
            </a:r>
            <a:r>
              <a:rPr dirty="0" baseline="-28985" sz="3450" spc="89">
                <a:solidFill>
                  <a:srgbClr val="52606D"/>
                </a:solidFill>
                <a:latin typeface="Times New Roman"/>
                <a:cs typeface="Times New Roman"/>
              </a:rPr>
              <a:t>�</a:t>
            </a:r>
            <a:endParaRPr baseline="-28985" sz="345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2534706" y="4755652"/>
            <a:ext cx="197485" cy="49530"/>
            <a:chOff x="12534706" y="4755652"/>
            <a:chExt cx="197485" cy="49530"/>
          </a:xfrm>
        </p:grpSpPr>
        <p:sp>
          <p:nvSpPr>
            <p:cNvPr id="38" name="object 38"/>
            <p:cNvSpPr/>
            <p:nvPr/>
          </p:nvSpPr>
          <p:spPr>
            <a:xfrm>
              <a:off x="12534708" y="4762035"/>
              <a:ext cx="191135" cy="0"/>
            </a:xfrm>
            <a:custGeom>
              <a:avLst/>
              <a:gdLst/>
              <a:ahLst/>
              <a:cxnLst/>
              <a:rect l="l" t="t" r="r" b="b"/>
              <a:pathLst>
                <a:path w="191134" h="0">
                  <a:moveTo>
                    <a:pt x="0" y="0"/>
                  </a:moveTo>
                  <a:lnTo>
                    <a:pt x="191053" y="0"/>
                  </a:lnTo>
                </a:path>
              </a:pathLst>
            </a:custGeom>
            <a:ln w="12766">
              <a:solidFill>
                <a:srgbClr val="424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2534706" y="4800731"/>
              <a:ext cx="197485" cy="0"/>
            </a:xfrm>
            <a:custGeom>
              <a:avLst/>
              <a:gdLst/>
              <a:ahLst/>
              <a:cxnLst/>
              <a:rect l="l" t="t" r="r" b="b"/>
              <a:pathLst>
                <a:path w="197484" h="0">
                  <a:moveTo>
                    <a:pt x="0" y="0"/>
                  </a:moveTo>
                  <a:lnTo>
                    <a:pt x="197422" y="0"/>
                  </a:lnTo>
                </a:path>
              </a:pathLst>
            </a:custGeom>
            <a:ln w="7896">
              <a:solidFill>
                <a:srgbClr val="414A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11329472" y="4168477"/>
            <a:ext cx="2692400" cy="9753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r" marR="68580">
              <a:lnSpc>
                <a:spcPts val="2840"/>
              </a:lnSpc>
              <a:spcBef>
                <a:spcPts val="115"/>
              </a:spcBef>
              <a:tabLst>
                <a:tab pos="551815" algn="l"/>
                <a:tab pos="2305050" algn="l"/>
              </a:tabLst>
            </a:pPr>
            <a:r>
              <a:rPr dirty="0" sz="2850" spc="45">
                <a:solidFill>
                  <a:srgbClr val="9CA3A7"/>
                </a:solidFill>
                <a:latin typeface="Times New Roman"/>
                <a:cs typeface="Times New Roman"/>
              </a:rPr>
              <a:t>+</a:t>
            </a:r>
            <a:r>
              <a:rPr dirty="0" sz="2850">
                <a:solidFill>
                  <a:srgbClr val="9CA3A7"/>
                </a:solidFill>
                <a:latin typeface="Times New Roman"/>
                <a:cs typeface="Times New Roman"/>
              </a:rPr>
              <a:t>	</a:t>
            </a:r>
            <a:r>
              <a:rPr dirty="0" sz="1950" spc="260" b="1">
                <a:solidFill>
                  <a:srgbClr val="1F1F21"/>
                </a:solidFill>
                <a:latin typeface="Times New Roman"/>
                <a:cs typeface="Times New Roman"/>
              </a:rPr>
              <a:t>Actu�tion</a:t>
            </a:r>
            <a:r>
              <a:rPr dirty="0" sz="1950" b="1">
                <a:solidFill>
                  <a:srgbClr val="1F1F21"/>
                </a:solidFill>
                <a:latin typeface="Times New Roman"/>
                <a:cs typeface="Times New Roman"/>
              </a:rPr>
              <a:t>	</a:t>
            </a:r>
            <a:r>
              <a:rPr dirty="0" sz="2850" spc="365">
                <a:solidFill>
                  <a:srgbClr val="AAB1B5"/>
                </a:solidFill>
                <a:latin typeface="Times New Roman"/>
                <a:cs typeface="Times New Roman"/>
              </a:rPr>
              <a:t>+</a:t>
            </a:r>
            <a:endParaRPr sz="2850">
              <a:latin typeface="Times New Roman"/>
              <a:cs typeface="Times New Roman"/>
            </a:endParaRPr>
          </a:p>
          <a:p>
            <a:pPr algn="r" marR="68580">
              <a:lnSpc>
                <a:spcPts val="2180"/>
              </a:lnSpc>
              <a:tabLst>
                <a:tab pos="961390" algn="l"/>
                <a:tab pos="1682750" algn="l"/>
              </a:tabLst>
            </a:pPr>
            <a:r>
              <a:rPr dirty="0" sz="1550" spc="-25">
                <a:solidFill>
                  <a:srgbClr val="BCC1C4"/>
                </a:solidFill>
                <a:latin typeface="Times New Roman"/>
                <a:cs typeface="Times New Roman"/>
              </a:rPr>
              <a:t>t</a:t>
            </a:r>
            <a:r>
              <a:rPr dirty="0" baseline="-28985" sz="3450" spc="-37">
                <a:solidFill>
                  <a:srgbClr val="BCC1C4"/>
                </a:solidFill>
                <a:latin typeface="Times New Roman"/>
                <a:cs typeface="Times New Roman"/>
              </a:rPr>
              <a:t>:</a:t>
            </a:r>
            <a:r>
              <a:rPr dirty="0" baseline="-28985" sz="3450">
                <a:solidFill>
                  <a:srgbClr val="BCC1C4"/>
                </a:solidFill>
                <a:latin typeface="Times New Roman"/>
                <a:cs typeface="Times New Roman"/>
              </a:rPr>
              <a:t>	</a:t>
            </a:r>
            <a:r>
              <a:rPr dirty="0" baseline="-28985" sz="3450" spc="-37">
                <a:solidFill>
                  <a:srgbClr val="AAB1B5"/>
                </a:solidFill>
                <a:latin typeface="Times New Roman"/>
                <a:cs typeface="Times New Roman"/>
              </a:rPr>
              <a:t>.</a:t>
            </a:r>
            <a:r>
              <a:rPr dirty="0" sz="1800" spc="-25">
                <a:solidFill>
                  <a:srgbClr val="BCC1C4"/>
                </a:solidFill>
                <a:latin typeface="Times New Roman"/>
                <a:cs typeface="Times New Roman"/>
              </a:rPr>
              <a:t>r</a:t>
            </a:r>
            <a:r>
              <a:rPr dirty="0" sz="1800">
                <a:solidFill>
                  <a:srgbClr val="BCC1C4"/>
                </a:solidFill>
                <a:latin typeface="Times New Roman"/>
                <a:cs typeface="Times New Roman"/>
              </a:rPr>
              <a:t>	</a:t>
            </a:r>
            <a:r>
              <a:rPr dirty="0" sz="1800" spc="-20">
                <a:solidFill>
                  <a:srgbClr val="BCC1C4"/>
                </a:solidFill>
                <a:latin typeface="Times New Roman"/>
                <a:cs typeface="Times New Roman"/>
              </a:rPr>
              <a:t>-</a:t>
            </a:r>
            <a:r>
              <a:rPr dirty="0" sz="1800" spc="-200">
                <a:solidFill>
                  <a:srgbClr val="BCC1C4"/>
                </a:solidFill>
                <a:latin typeface="Times New Roman"/>
                <a:cs typeface="Times New Roman"/>
              </a:rPr>
              <a:t> </a:t>
            </a:r>
            <a:r>
              <a:rPr dirty="0" baseline="-28985" sz="3450" spc="-697">
                <a:solidFill>
                  <a:srgbClr val="AAB1B5"/>
                </a:solidFill>
                <a:latin typeface="Times New Roman"/>
                <a:cs typeface="Times New Roman"/>
              </a:rPr>
              <a:t>I</a:t>
            </a:r>
            <a:endParaRPr baseline="-28985" sz="3450">
              <a:latin typeface="Times New Roman"/>
              <a:cs typeface="Times New Roman"/>
            </a:endParaRPr>
          </a:p>
          <a:p>
            <a:pPr marL="805180">
              <a:lnSpc>
                <a:spcPct val="100000"/>
              </a:lnSpc>
              <a:spcBef>
                <a:spcPts val="700"/>
              </a:spcBef>
            </a:pPr>
            <a:r>
              <a:rPr dirty="0" sz="1450" spc="65">
                <a:solidFill>
                  <a:srgbClr val="BCC1C4"/>
                </a:solidFill>
                <a:latin typeface="Times New Roman"/>
                <a:cs typeface="Times New Roman"/>
              </a:rPr>
              <a:t>: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106489" y="4896148"/>
            <a:ext cx="77025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78180" algn="l"/>
              </a:tabLst>
            </a:pPr>
            <a:r>
              <a:rPr dirty="0" u="heavy" sz="1450" spc="130">
                <a:solidFill>
                  <a:srgbClr val="52606D"/>
                </a:solidFill>
                <a:uFill>
                  <a:solidFill>
                    <a:srgbClr val="727C82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heavy" sz="1450" spc="130">
                <a:solidFill>
                  <a:srgbClr val="9CA3A7"/>
                </a:solidFill>
                <a:uFill>
                  <a:solidFill>
                    <a:srgbClr val="727C82"/>
                  </a:solidFill>
                </a:uFill>
                <a:latin typeface="Times New Roman"/>
                <a:cs typeface="Times New Roman"/>
              </a:rPr>
              <a:t>··</a:t>
            </a:r>
            <a:r>
              <a:rPr dirty="0" u="heavy" sz="1450" spc="130">
                <a:solidFill>
                  <a:srgbClr val="52606D"/>
                </a:solidFill>
                <a:uFill>
                  <a:solidFill>
                    <a:srgbClr val="727C82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heavy" sz="1450" spc="130">
                <a:solidFill>
                  <a:srgbClr val="727C82"/>
                </a:solidFill>
                <a:uFill>
                  <a:solidFill>
                    <a:srgbClr val="727C82"/>
                  </a:solidFill>
                </a:uFill>
                <a:latin typeface="Times New Roman"/>
                <a:cs typeface="Times New Roman"/>
              </a:rPr>
              <a:t>··</a:t>
            </a:r>
            <a:r>
              <a:rPr dirty="0" u="none" sz="1450">
                <a:solidFill>
                  <a:srgbClr val="727C82"/>
                </a:solidFill>
                <a:latin typeface="Times New Roman"/>
                <a:cs typeface="Times New Roman"/>
              </a:rPr>
              <a:t>	</a:t>
            </a:r>
            <a:r>
              <a:rPr dirty="0" u="heavy" sz="1450" spc="80">
                <a:solidFill>
                  <a:srgbClr val="52606D"/>
                </a:solidFill>
                <a:uFill>
                  <a:solidFill>
                    <a:srgbClr val="52606D"/>
                  </a:solidFill>
                </a:uFill>
                <a:latin typeface="Times New Roman"/>
                <a:cs typeface="Times New Roman"/>
              </a:rPr>
              <a:t>)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894957" y="4896148"/>
            <a:ext cx="104139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80">
                <a:solidFill>
                  <a:srgbClr val="213141"/>
                </a:solidFill>
                <a:latin typeface="Times New Roman"/>
                <a:cs typeface="Times New Roman"/>
              </a:rPr>
              <a:t>-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982027" y="4896148"/>
            <a:ext cx="15049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80">
                <a:solidFill>
                  <a:srgbClr val="9CA3A7"/>
                </a:solidFill>
                <a:latin typeface="Times New Roman"/>
                <a:cs typeface="Times New Roman"/>
              </a:rPr>
              <a:t>:.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936349" y="5291897"/>
            <a:ext cx="2392680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638935" algn="l"/>
                <a:tab pos="2265045" algn="l"/>
              </a:tabLst>
            </a:pPr>
            <a:r>
              <a:rPr dirty="0" u="heavy" sz="2750" spc="-425">
                <a:solidFill>
                  <a:srgbClr val="BCC1C4"/>
                </a:solidFill>
                <a:uFill>
                  <a:solidFill>
                    <a:srgbClr val="52606D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heavy" sz="2750" spc="-425">
                <a:solidFill>
                  <a:srgbClr val="9CA3A7"/>
                </a:solidFill>
                <a:uFill>
                  <a:solidFill>
                    <a:srgbClr val="52606D"/>
                  </a:solidFill>
                </a:uFill>
                <a:latin typeface="Times New Roman"/>
                <a:cs typeface="Times New Roman"/>
              </a:rPr>
              <a:t>····</a:t>
            </a:r>
            <a:r>
              <a:rPr dirty="0" u="heavy" sz="2750" spc="-425">
                <a:solidFill>
                  <a:srgbClr val="52606D"/>
                </a:solidFill>
                <a:uFill>
                  <a:solidFill>
                    <a:srgbClr val="52606D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heavy" sz="2750" spc="-425">
                <a:solidFill>
                  <a:srgbClr val="424B52"/>
                </a:solidFill>
                <a:uFill>
                  <a:solidFill>
                    <a:srgbClr val="52606D"/>
                  </a:solidFill>
                </a:uFill>
                <a:latin typeface="Times New Roman"/>
                <a:cs typeface="Times New Roman"/>
              </a:rPr>
              <a:t>+F-</a:t>
            </a:r>
            <a:r>
              <a:rPr dirty="0" u="heavy" sz="2750" spc="-570">
                <a:solidFill>
                  <a:srgbClr val="424B52"/>
                </a:solidFill>
                <a:uFill>
                  <a:solidFill>
                    <a:srgbClr val="52606D"/>
                  </a:solidFill>
                </a:uFill>
                <a:latin typeface="Times New Roman"/>
                <a:cs typeface="Times New Roman"/>
              </a:rPr>
              <a:t>&lt;&gt;-</a:t>
            </a:r>
            <a:r>
              <a:rPr dirty="0" u="heavy" sz="2750" spc="-390">
                <a:solidFill>
                  <a:srgbClr val="424B52"/>
                </a:solidFill>
                <a:uFill>
                  <a:solidFill>
                    <a:srgbClr val="52606D"/>
                  </a:solidFill>
                </a:uFill>
                <a:latin typeface="Times New Roman"/>
                <a:cs typeface="Times New Roman"/>
              </a:rPr>
              <a:t>-</a:t>
            </a:r>
            <a:r>
              <a:rPr dirty="0" u="heavy" sz="2750" spc="-360">
                <a:solidFill>
                  <a:srgbClr val="424B52"/>
                </a:solidFill>
                <a:uFill>
                  <a:solidFill>
                    <a:srgbClr val="52606D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heavy" sz="2750" spc="-360">
                <a:solidFill>
                  <a:srgbClr val="52606D"/>
                </a:solidFill>
                <a:uFill>
                  <a:solidFill>
                    <a:srgbClr val="52606D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sz="2750" spc="-360">
                <a:solidFill>
                  <a:srgbClr val="727C82"/>
                </a:solidFill>
                <a:uFill>
                  <a:solidFill>
                    <a:srgbClr val="52606D"/>
                  </a:solidFill>
                </a:uFill>
                <a:latin typeface="Times New Roman"/>
                <a:cs typeface="Times New Roman"/>
              </a:rPr>
              <a:t>·</a:t>
            </a:r>
            <a:r>
              <a:rPr dirty="0" u="heavy" sz="2750" spc="-360">
                <a:solidFill>
                  <a:srgbClr val="52606D"/>
                </a:solidFill>
                <a:uFill>
                  <a:solidFill>
                    <a:srgbClr val="52606D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none" sz="2750">
                <a:solidFill>
                  <a:srgbClr val="52606D"/>
                </a:solidFill>
                <a:latin typeface="Times New Roman"/>
                <a:cs typeface="Times New Roman"/>
              </a:rPr>
              <a:t>	</a:t>
            </a:r>
            <a:r>
              <a:rPr dirty="0" u="none" sz="2600" spc="-50">
                <a:solidFill>
                  <a:srgbClr val="52606D"/>
                </a:solidFill>
                <a:latin typeface="Arial"/>
                <a:cs typeface="Arial"/>
              </a:rPr>
              <a:t>➔</a:t>
            </a:r>
            <a:r>
              <a:rPr dirty="0" u="none" sz="2600">
                <a:solidFill>
                  <a:srgbClr val="52606D"/>
                </a:solidFill>
                <a:latin typeface="Arial"/>
                <a:cs typeface="Arial"/>
              </a:rPr>
              <a:t>	</a:t>
            </a:r>
            <a:r>
              <a:rPr dirty="0" u="none" sz="2750" spc="-50">
                <a:solidFill>
                  <a:srgbClr val="AAB1B5"/>
                </a:solidFill>
                <a:latin typeface="Times New Roman"/>
                <a:cs typeface="Times New Roman"/>
              </a:rPr>
              <a:t>!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707439" y="5291897"/>
            <a:ext cx="121285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-50">
                <a:solidFill>
                  <a:srgbClr val="BCC1C4"/>
                </a:solidFill>
                <a:latin typeface="Times New Roman"/>
                <a:cs typeface="Times New Roman"/>
              </a:rPr>
              <a:t>: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2102912" y="5291897"/>
            <a:ext cx="979805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487680" algn="l"/>
                <a:tab pos="930275" algn="l"/>
              </a:tabLst>
            </a:pPr>
            <a:r>
              <a:rPr dirty="0" sz="2750" spc="-869">
                <a:solidFill>
                  <a:srgbClr val="BCC1C4"/>
                </a:solidFill>
                <a:latin typeface="Times New Roman"/>
                <a:cs typeface="Times New Roman"/>
              </a:rPr>
              <a:t>_;_</a:t>
            </a:r>
            <a:r>
              <a:rPr dirty="0" sz="2750">
                <a:solidFill>
                  <a:srgbClr val="BCC1C4"/>
                </a:solidFill>
                <a:latin typeface="Times New Roman"/>
                <a:cs typeface="Times New Roman"/>
              </a:rPr>
              <a:t>	</a:t>
            </a:r>
            <a:r>
              <a:rPr dirty="0" u="heavy" sz="1350" spc="-540">
                <a:solidFill>
                  <a:srgbClr val="52606D"/>
                </a:solidFill>
                <a:uFill>
                  <a:solidFill>
                    <a:srgbClr val="52606D"/>
                  </a:solidFill>
                </a:uFill>
                <a:latin typeface="Arial"/>
                <a:cs typeface="Arial"/>
              </a:rPr>
              <a:t>o</a:t>
            </a:r>
            <a:r>
              <a:rPr dirty="0" u="heavy" sz="1350" spc="400">
                <a:solidFill>
                  <a:srgbClr val="52606D"/>
                </a:solidFill>
                <a:uFill>
                  <a:solidFill>
                    <a:srgbClr val="52606D"/>
                  </a:solidFill>
                </a:uFill>
                <a:latin typeface="Arial"/>
                <a:cs typeface="Arial"/>
              </a:rPr>
              <a:t> </a:t>
            </a:r>
            <a:r>
              <a:rPr dirty="0" u="none" sz="1350">
                <a:solidFill>
                  <a:srgbClr val="52606D"/>
                </a:solidFill>
                <a:latin typeface="Arial"/>
                <a:cs typeface="Arial"/>
              </a:rPr>
              <a:t>	</a:t>
            </a:r>
            <a:r>
              <a:rPr dirty="0" u="none" sz="1350" spc="-1025">
                <a:solidFill>
                  <a:srgbClr val="BCC1C4"/>
                </a:solidFill>
                <a:latin typeface="Arial"/>
                <a:cs typeface="Arial"/>
              </a:rPr>
              <a:t>�</a:t>
            </a:r>
            <a:endParaRPr sz="13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734538" y="5649350"/>
            <a:ext cx="6985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50">
                <a:solidFill>
                  <a:srgbClr val="BCC1C4"/>
                </a:solidFill>
                <a:latin typeface="Times New Roman"/>
                <a:cs typeface="Times New Roman"/>
              </a:rPr>
              <a:t>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1272414" y="5719563"/>
            <a:ext cx="2632075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heavy" sz="1800" spc="120">
                <a:solidFill>
                  <a:srgbClr val="AAB1B5"/>
                </a:solidFill>
                <a:uFill>
                  <a:solidFill>
                    <a:srgbClr val="AAB1B5"/>
                  </a:solidFill>
                </a:uFill>
                <a:latin typeface="Times New Roman"/>
                <a:cs typeface="Times New Roman"/>
              </a:rPr>
              <a:t>+</a:t>
            </a:r>
            <a:r>
              <a:rPr dirty="0" u="heavy" sz="1800" spc="120">
                <a:solidFill>
                  <a:srgbClr val="383838"/>
                </a:solidFill>
                <a:uFill>
                  <a:solidFill>
                    <a:srgbClr val="AAB1B5"/>
                  </a:solidFill>
                </a:uFill>
                <a:latin typeface="Times New Roman"/>
                <a:cs typeface="Times New Roman"/>
              </a:rPr>
              <a:t>lnter</a:t>
            </a:r>
            <a:r>
              <a:rPr dirty="0" u="heavy" sz="1800" spc="120">
                <a:solidFill>
                  <a:srgbClr val="424B52"/>
                </a:solidFill>
                <a:uFill>
                  <a:solidFill>
                    <a:srgbClr val="AAB1B5"/>
                  </a:solidFill>
                </a:uFill>
                <a:latin typeface="Times New Roman"/>
                <a:cs typeface="Times New Roman"/>
              </a:rPr>
              <a:t>v</a:t>
            </a:r>
            <a:r>
              <a:rPr dirty="0" u="heavy" sz="1800" spc="120">
                <a:solidFill>
                  <a:srgbClr val="383838"/>
                </a:solidFill>
                <a:uFill>
                  <a:solidFill>
                    <a:srgbClr val="AAB1B5"/>
                  </a:solidFill>
                </a:uFill>
                <a:latin typeface="Times New Roman"/>
                <a:cs typeface="Times New Roman"/>
              </a:rPr>
              <a:t>enti</a:t>
            </a:r>
            <a:r>
              <a:rPr dirty="0" u="heavy" sz="1800" spc="120">
                <a:solidFill>
                  <a:srgbClr val="424B52"/>
                </a:solidFill>
                <a:uFill>
                  <a:solidFill>
                    <a:srgbClr val="AAB1B5"/>
                  </a:solidFill>
                </a:uFill>
                <a:latin typeface="Times New Roman"/>
                <a:cs typeface="Times New Roman"/>
              </a:rPr>
              <a:t>�</a:t>
            </a:r>
            <a:r>
              <a:rPr dirty="0" u="heavy" sz="1800" spc="120">
                <a:solidFill>
                  <a:srgbClr val="383838"/>
                </a:solidFill>
                <a:uFill>
                  <a:solidFill>
                    <a:srgbClr val="AAB1B5"/>
                  </a:solidFill>
                </a:uFill>
                <a:latin typeface="Times New Roman"/>
                <a:cs typeface="Times New Roman"/>
              </a:rPr>
              <a:t>n</a:t>
            </a:r>
            <a:r>
              <a:rPr dirty="0" u="heavy" sz="1800" spc="170">
                <a:solidFill>
                  <a:srgbClr val="383838"/>
                </a:solidFill>
                <a:uFill>
                  <a:solidFill>
                    <a:srgbClr val="AAB1B5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800" spc="-10">
                <a:solidFill>
                  <a:srgbClr val="383838"/>
                </a:solidFill>
                <a:uFill>
                  <a:solidFill>
                    <a:srgbClr val="AAB1B5"/>
                  </a:solidFill>
                </a:uFill>
                <a:latin typeface="Times New Roman"/>
                <a:cs typeface="Times New Roman"/>
              </a:rPr>
              <a:t>Deliv</a:t>
            </a:r>
            <a:r>
              <a:rPr dirty="0" u="heavy" sz="1800" spc="-10">
                <a:solidFill>
                  <a:srgbClr val="424B52"/>
                </a:solidFill>
                <a:uFill>
                  <a:solidFill>
                    <a:srgbClr val="AAB1B5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heavy" sz="1800" spc="-10">
                <a:solidFill>
                  <a:srgbClr val="383838"/>
                </a:solidFill>
                <a:uFill>
                  <a:solidFill>
                    <a:srgbClr val="AAB1B5"/>
                  </a:solidFill>
                </a:uFill>
                <a:latin typeface="Times New Roman"/>
                <a:cs typeface="Times New Roman"/>
              </a:rPr>
              <a:t>ry</a:t>
            </a:r>
            <a:r>
              <a:rPr dirty="0" u="heavy" sz="1800" spc="-10">
                <a:solidFill>
                  <a:srgbClr val="AAB1B5"/>
                </a:solidFill>
                <a:uFill>
                  <a:solidFill>
                    <a:srgbClr val="AAB1B5"/>
                  </a:solidFill>
                </a:uFill>
                <a:latin typeface="Times New Roman"/>
                <a:cs typeface="Times New Roman"/>
              </a:rPr>
              <a:t>+ 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428899" y="2578218"/>
            <a:ext cx="1386205" cy="1682114"/>
          </a:xfrm>
          <a:prstGeom prst="rect">
            <a:avLst/>
          </a:prstGeom>
        </p:spPr>
        <p:txBody>
          <a:bodyPr wrap="square" lIns="0" tIns="367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90"/>
              </a:spcBef>
            </a:pPr>
            <a:r>
              <a:rPr dirty="0" sz="4050" spc="-330">
                <a:solidFill>
                  <a:srgbClr val="AAB1B5"/>
                </a:solidFill>
                <a:latin typeface="Arial"/>
                <a:cs typeface="Arial"/>
              </a:rPr>
              <a:t>·-</a:t>
            </a:r>
            <a:r>
              <a:rPr dirty="0" sz="4050" spc="-160">
                <a:solidFill>
                  <a:srgbClr val="9CA3A7"/>
                </a:solidFill>
                <a:latin typeface="Arial"/>
                <a:cs typeface="Arial"/>
              </a:rPr>
              <a:t>-</a:t>
            </a:r>
            <a:r>
              <a:rPr dirty="0" sz="4050" spc="-254">
                <a:solidFill>
                  <a:srgbClr val="9CA3A7"/>
                </a:solidFill>
                <a:latin typeface="Arial"/>
                <a:cs typeface="Arial"/>
              </a:rPr>
              <a:t>---</a:t>
            </a:r>
            <a:r>
              <a:rPr dirty="0" sz="4050" spc="-600">
                <a:solidFill>
                  <a:srgbClr val="9CA3A7"/>
                </a:solidFill>
                <a:latin typeface="Arial"/>
                <a:cs typeface="Arial"/>
              </a:rPr>
              <a:t>-</a:t>
            </a:r>
            <a:r>
              <a:rPr dirty="0" sz="4050" spc="-125">
                <a:solidFill>
                  <a:srgbClr val="AAB1B5"/>
                </a:solidFill>
                <a:latin typeface="Arial"/>
                <a:cs typeface="Arial"/>
              </a:rPr>
              <a:t>·</a:t>
            </a:r>
            <a:r>
              <a:rPr dirty="0" sz="4050" spc="-125">
                <a:solidFill>
                  <a:srgbClr val="727C82"/>
                </a:solidFill>
                <a:latin typeface="Arial"/>
                <a:cs typeface="Arial"/>
              </a:rPr>
              <a:t>+</a:t>
            </a:r>
            <a:endParaRPr sz="4050">
              <a:latin typeface="Arial"/>
              <a:cs typeface="Arial"/>
            </a:endParaRPr>
          </a:p>
          <a:p>
            <a:pPr algn="r" marR="124460">
              <a:lnSpc>
                <a:spcPct val="100000"/>
              </a:lnSpc>
              <a:spcBef>
                <a:spcPts val="1970"/>
              </a:spcBef>
            </a:pPr>
            <a:r>
              <a:rPr dirty="0" sz="2850" spc="-50">
                <a:solidFill>
                  <a:srgbClr val="9CA3A7"/>
                </a:solidFill>
                <a:latin typeface="Times New Roman"/>
                <a:cs typeface="Times New Roman"/>
              </a:rPr>
              <a:t>.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2562176" y="6408868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633" y="0"/>
                </a:lnTo>
              </a:path>
            </a:pathLst>
          </a:custGeom>
          <a:ln w="12766">
            <a:solidFill>
              <a:srgbClr val="9CA3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12524075" y="6236592"/>
            <a:ext cx="11239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250" spc="-415">
                <a:solidFill>
                  <a:srgbClr val="727C82"/>
                </a:solidFill>
                <a:latin typeface="Times New Roman"/>
                <a:cs typeface="Times New Roman"/>
              </a:rPr>
              <a:t>-</a:t>
            </a:r>
            <a:r>
              <a:rPr dirty="0" sz="1250" spc="-25">
                <a:solidFill>
                  <a:srgbClr val="9CA3A7"/>
                </a:solidFill>
                <a:latin typeface="Times New Roman"/>
                <a:cs typeface="Times New Roman"/>
              </a:rPr>
              <a:t>I</a:t>
            </a:r>
            <a:r>
              <a:rPr dirty="0" baseline="-35087" sz="1425" spc="-37">
                <a:solidFill>
                  <a:srgbClr val="9CA3A7"/>
                </a:solidFill>
                <a:latin typeface="Arial"/>
                <a:cs typeface="Arial"/>
              </a:rPr>
              <a:t>I</a:t>
            </a:r>
            <a:endParaRPr baseline="-35087" sz="1425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3738907" y="6408868"/>
            <a:ext cx="38735" cy="0"/>
          </a:xfrm>
          <a:custGeom>
            <a:avLst/>
            <a:gdLst/>
            <a:ahLst/>
            <a:cxnLst/>
            <a:rect l="l" t="t" r="r" b="b"/>
            <a:pathLst>
              <a:path w="38734" h="0">
                <a:moveTo>
                  <a:pt x="0" y="0"/>
                </a:moveTo>
                <a:lnTo>
                  <a:pt x="38210" y="0"/>
                </a:lnTo>
              </a:path>
            </a:pathLst>
          </a:custGeom>
          <a:ln w="12766">
            <a:solidFill>
              <a:srgbClr val="727C8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3879701" y="6408868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73" y="0"/>
                </a:lnTo>
              </a:path>
            </a:pathLst>
          </a:custGeom>
          <a:ln w="12766">
            <a:solidFill>
              <a:srgbClr val="AAB1B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3726210" y="6083399"/>
            <a:ext cx="197485" cy="4013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53035" indent="-140335">
              <a:lnSpc>
                <a:spcPct val="100000"/>
              </a:lnSpc>
              <a:spcBef>
                <a:spcPts val="110"/>
              </a:spcBef>
              <a:buClr>
                <a:srgbClr val="727C82"/>
              </a:buClr>
              <a:buSzPct val="51020"/>
              <a:buFont typeface="Times New Roman"/>
              <a:buChar char="•"/>
              <a:tabLst>
                <a:tab pos="153035" algn="l"/>
              </a:tabLst>
            </a:pPr>
            <a:r>
              <a:rPr dirty="0" sz="2450" spc="-484">
                <a:solidFill>
                  <a:srgbClr val="AAB1B5"/>
                </a:solidFill>
                <a:latin typeface="Arial"/>
                <a:cs typeface="Arial"/>
              </a:rPr>
              <a:t>I</a:t>
            </a:r>
            <a:endParaRPr sz="24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3068148" y="6351488"/>
            <a:ext cx="4318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30">
                <a:solidFill>
                  <a:srgbClr val="BCC1C4"/>
                </a:solidFill>
                <a:latin typeface="Arial"/>
                <a:cs typeface="Arial"/>
              </a:rPr>
              <a:t>-</a:t>
            </a:r>
            <a:endParaRPr sz="9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2606560" y="6453616"/>
            <a:ext cx="6985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50">
                <a:solidFill>
                  <a:srgbClr val="9CA3A7"/>
                </a:solidFill>
                <a:latin typeface="Times New Roman"/>
                <a:cs typeface="Times New Roman"/>
              </a:rPr>
              <a:t>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3541068" y="5962053"/>
            <a:ext cx="203835" cy="0"/>
          </a:xfrm>
          <a:custGeom>
            <a:avLst/>
            <a:gdLst/>
            <a:ahLst/>
            <a:cxnLst/>
            <a:rect l="l" t="t" r="r" b="b"/>
            <a:pathLst>
              <a:path w="203835" h="0">
                <a:moveTo>
                  <a:pt x="0" y="0"/>
                </a:moveTo>
                <a:lnTo>
                  <a:pt x="203790" y="0"/>
                </a:lnTo>
              </a:path>
            </a:pathLst>
          </a:custGeom>
          <a:ln w="12766">
            <a:solidFill>
              <a:srgbClr val="9CA3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3528368" y="5579136"/>
            <a:ext cx="2986405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20065" algn="l"/>
                <a:tab pos="2671445" algn="l"/>
              </a:tabLst>
            </a:pPr>
            <a:r>
              <a:rPr dirty="0" sz="1800" spc="-50">
                <a:solidFill>
                  <a:srgbClr val="9CA3A7"/>
                </a:solidFill>
                <a:latin typeface="Times New Roman"/>
                <a:cs typeface="Times New Roman"/>
              </a:rPr>
              <a:t>+</a:t>
            </a:r>
            <a:r>
              <a:rPr dirty="0" sz="1800">
                <a:solidFill>
                  <a:srgbClr val="9CA3A7"/>
                </a:solidFill>
                <a:latin typeface="Times New Roman"/>
                <a:cs typeface="Times New Roman"/>
              </a:rPr>
              <a:t>	</a:t>
            </a:r>
            <a:r>
              <a:rPr dirty="0" u="heavy" sz="1800">
                <a:solidFill>
                  <a:srgbClr val="383838"/>
                </a:solidFill>
                <a:uFill>
                  <a:solidFill>
                    <a:srgbClr val="383838"/>
                  </a:solidFill>
                </a:uFill>
                <a:latin typeface="Times New Roman"/>
                <a:cs typeface="Times New Roman"/>
              </a:rPr>
              <a:t>User</a:t>
            </a:r>
            <a:r>
              <a:rPr dirty="0" u="heavy" sz="1800" spc="-50">
                <a:solidFill>
                  <a:srgbClr val="383838"/>
                </a:solidFill>
                <a:uFill>
                  <a:solidFill>
                    <a:srgbClr val="383838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800" spc="-180">
                <a:solidFill>
                  <a:srgbClr val="383838"/>
                </a:solidFill>
                <a:uFill>
                  <a:solidFill>
                    <a:srgbClr val="383838"/>
                  </a:solidFill>
                </a:uFill>
                <a:latin typeface="Times New Roman"/>
                <a:cs typeface="Times New Roman"/>
              </a:rPr>
              <a:t>Da�a</a:t>
            </a:r>
            <a:r>
              <a:rPr dirty="0" u="heavy" sz="1800" spc="-20">
                <a:solidFill>
                  <a:srgbClr val="383838"/>
                </a:solidFill>
                <a:uFill>
                  <a:solidFill>
                    <a:srgbClr val="383838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800">
                <a:solidFill>
                  <a:srgbClr val="383838"/>
                </a:solidFill>
                <a:uFill>
                  <a:solidFill>
                    <a:srgbClr val="383838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heavy" sz="1800">
                <a:solidFill>
                  <a:srgbClr val="1F1F21"/>
                </a:solidFill>
                <a:uFill>
                  <a:solidFill>
                    <a:srgbClr val="383838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heavy" sz="1800">
                <a:solidFill>
                  <a:srgbClr val="383838"/>
                </a:solidFill>
                <a:uFill>
                  <a:solidFill>
                    <a:srgbClr val="383838"/>
                  </a:solidFill>
                </a:uFill>
                <a:latin typeface="Times New Roman"/>
                <a:cs typeface="Times New Roman"/>
              </a:rPr>
              <a:t>ream</a:t>
            </a:r>
            <a:r>
              <a:rPr dirty="0" u="none" sz="1800" spc="7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u="none" sz="2900" spc="95">
                <a:solidFill>
                  <a:srgbClr val="BCC1C4"/>
                </a:solidFill>
                <a:latin typeface="Times New Roman"/>
                <a:cs typeface="Times New Roman"/>
              </a:rPr>
              <a:t>+</a:t>
            </a:r>
            <a:r>
              <a:rPr dirty="0" u="none" sz="2900">
                <a:solidFill>
                  <a:srgbClr val="BCC1C4"/>
                </a:solidFill>
                <a:latin typeface="Times New Roman"/>
                <a:cs typeface="Times New Roman"/>
              </a:rPr>
              <a:t>	</a:t>
            </a:r>
            <a:r>
              <a:rPr dirty="0" u="none" sz="2900" spc="-40">
                <a:solidFill>
                  <a:srgbClr val="AAB1B5"/>
                </a:solidFill>
                <a:latin typeface="Times New Roman"/>
                <a:cs typeface="Times New Roman"/>
              </a:rPr>
              <a:t>-</a:t>
            </a:r>
            <a:r>
              <a:rPr dirty="0" u="none" sz="2900" spc="-25">
                <a:solidFill>
                  <a:srgbClr val="727C82"/>
                </a:solidFill>
                <a:latin typeface="Times New Roman"/>
                <a:cs typeface="Times New Roman"/>
              </a:rPr>
              <a:t>'-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3495">
              <a:lnSpc>
                <a:spcPts val="1635"/>
              </a:lnSpc>
            </a:pPr>
            <a:r>
              <a:rPr dirty="0" sz="1400" spc="-80">
                <a:solidFill>
                  <a:srgbClr val="383838"/>
                </a:solidFill>
                <a:latin typeface="Times New Roman"/>
                <a:cs typeface="Times New Roman"/>
              </a:rPr>
              <a:t>Isl\</a:t>
            </a:r>
            <a:r>
              <a:rPr dirty="0" sz="1400" spc="-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pc="-10">
                <a:solidFill>
                  <a:srgbClr val="0F1111"/>
                </a:solidFill>
              </a:rPr>
              <a:t>No</a:t>
            </a:r>
            <a:r>
              <a:rPr dirty="0" spc="-10">
                <a:solidFill>
                  <a:srgbClr val="383838"/>
                </a:solidFill>
              </a:rPr>
              <a:t>teboo</a:t>
            </a:r>
            <a:r>
              <a:rPr dirty="0" spc="-10">
                <a:solidFill>
                  <a:srgbClr val="1F1F21"/>
                </a:solidFill>
              </a:rPr>
              <a:t>k</a:t>
            </a:r>
            <a:r>
              <a:rPr dirty="0" spc="-10">
                <a:solidFill>
                  <a:srgbClr val="383838"/>
                </a:solidFill>
              </a:rPr>
              <a:t>L</a:t>
            </a:r>
            <a:r>
              <a:rPr dirty="0" spc="-10">
                <a:solidFill>
                  <a:srgbClr val="1F1F21"/>
                </a:solidFill>
              </a:rPr>
              <a:t>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789775" y="5955738"/>
            <a:ext cx="479425" cy="6464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050" spc="-630" i="1">
                <a:solidFill>
                  <a:srgbClr val="AAB1B5"/>
                </a:solidFill>
                <a:latin typeface="Times New Roman"/>
                <a:cs typeface="Times New Roman"/>
              </a:rPr>
              <a:t>1=</a:t>
            </a:r>
            <a:endParaRPr sz="40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583155" y="6440851"/>
            <a:ext cx="67564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BCC1C4"/>
                </a:solidFill>
                <a:latin typeface="Arial"/>
                <a:cs typeface="Arial"/>
              </a:rPr>
              <a:t>.....,.</a:t>
            </a:r>
            <a:r>
              <a:rPr dirty="0" sz="750" spc="30">
                <a:solidFill>
                  <a:srgbClr val="BCC1C4"/>
                </a:solidFill>
                <a:latin typeface="Arial"/>
                <a:cs typeface="Arial"/>
              </a:rPr>
              <a:t> </a:t>
            </a:r>
            <a:r>
              <a:rPr dirty="0" sz="750" spc="-30" b="1">
                <a:solidFill>
                  <a:srgbClr val="BCC1C4"/>
                </a:solidFill>
                <a:latin typeface="Arial"/>
                <a:cs typeface="Arial"/>
              </a:rPr>
              <a:t>JCIIO.'K�</a:t>
            </a:r>
            <a:endParaRPr sz="7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28490" y="6600427"/>
            <a:ext cx="15709265" cy="21424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R="92075">
              <a:lnSpc>
                <a:spcPct val="100000"/>
              </a:lnSpc>
              <a:spcBef>
                <a:spcPts val="114"/>
              </a:spcBef>
              <a:tabLst>
                <a:tab pos="6972934" algn="l"/>
              </a:tabLst>
            </a:pPr>
            <a:r>
              <a:rPr dirty="0" sz="3600" spc="80">
                <a:solidFill>
                  <a:srgbClr val="727C82"/>
                </a:solidFill>
                <a:latin typeface="Times New Roman"/>
                <a:cs typeface="Times New Roman"/>
              </a:rPr>
              <a:t>+</a:t>
            </a:r>
            <a:r>
              <a:rPr dirty="0" sz="3600" spc="80">
                <a:solidFill>
                  <a:srgbClr val="9CA3A7"/>
                </a:solidFill>
                <a:latin typeface="Times New Roman"/>
                <a:cs typeface="Times New Roman"/>
              </a:rPr>
              <a:t>-</a:t>
            </a:r>
            <a:r>
              <a:rPr dirty="0" sz="3600" spc="60">
                <a:solidFill>
                  <a:srgbClr val="9CA3A7"/>
                </a:solidFill>
                <a:latin typeface="Times New Roman"/>
                <a:cs typeface="Times New Roman"/>
              </a:rPr>
              <a:t>---</a:t>
            </a:r>
            <a:r>
              <a:rPr dirty="0" sz="3600" spc="10">
                <a:solidFill>
                  <a:srgbClr val="9CA3A7"/>
                </a:solidFill>
                <a:latin typeface="Times New Roman"/>
                <a:cs typeface="Times New Roman"/>
              </a:rPr>
              <a:t>·</a:t>
            </a:r>
            <a:r>
              <a:rPr dirty="0" sz="3600">
                <a:solidFill>
                  <a:srgbClr val="9CA3A7"/>
                </a:solidFill>
                <a:latin typeface="Times New Roman"/>
                <a:cs typeface="Times New Roman"/>
              </a:rPr>
              <a:t>	</a:t>
            </a:r>
            <a:r>
              <a:rPr dirty="0" sz="3600" spc="-55">
                <a:solidFill>
                  <a:srgbClr val="9CA3A7"/>
                </a:solidFill>
                <a:latin typeface="Times New Roman"/>
                <a:cs typeface="Times New Roman"/>
              </a:rPr>
              <a:t>·----</a:t>
            </a:r>
            <a:r>
              <a:rPr dirty="0" sz="3600" spc="-50">
                <a:solidFill>
                  <a:srgbClr val="727C82"/>
                </a:solidFill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15"/>
              </a:spcBef>
            </a:pPr>
            <a:r>
              <a:rPr dirty="0" sz="2700" spc="50" b="1">
                <a:solidFill>
                  <a:srgbClr val="0F1111"/>
                </a:solidFill>
                <a:latin typeface="Times New Roman"/>
                <a:cs typeface="Times New Roman"/>
              </a:rPr>
              <a:t>Concept:</a:t>
            </a:r>
            <a:r>
              <a:rPr dirty="0" sz="2700" spc="-170" b="1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2900" spc="-90">
                <a:solidFill>
                  <a:srgbClr val="0F1111"/>
                </a:solidFill>
                <a:latin typeface="Times New Roman"/>
                <a:cs typeface="Times New Roman"/>
              </a:rPr>
              <a:t>Leveraging</a:t>
            </a:r>
            <a:r>
              <a:rPr dirty="0" sz="2900" spc="-4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2900" spc="-185">
                <a:solidFill>
                  <a:srgbClr val="1F1F21"/>
                </a:solidFill>
                <a:latin typeface="Times New Roman"/>
                <a:cs typeface="Times New Roman"/>
              </a:rPr>
              <a:t>EMA</a:t>
            </a:r>
            <a:r>
              <a:rPr dirty="0" sz="2900" spc="-90">
                <a:solidFill>
                  <a:srgbClr val="1F1F21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0F1111"/>
                </a:solidFill>
                <a:latin typeface="Times New Roman"/>
                <a:cs typeface="Times New Roman"/>
              </a:rPr>
              <a:t>data</a:t>
            </a:r>
            <a:r>
              <a:rPr dirty="0" sz="2900" spc="-15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2900" spc="65">
                <a:solidFill>
                  <a:srgbClr val="0F1111"/>
                </a:solidFill>
                <a:latin typeface="Times New Roman"/>
                <a:cs typeface="Times New Roman"/>
              </a:rPr>
              <a:t>to</a:t>
            </a:r>
            <a:r>
              <a:rPr dirty="0" sz="2900" spc="-285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2900" spc="-40">
                <a:solidFill>
                  <a:srgbClr val="0F1111"/>
                </a:solidFill>
                <a:latin typeface="Times New Roman"/>
                <a:cs typeface="Times New Roman"/>
              </a:rPr>
              <a:t>deliver </a:t>
            </a:r>
            <a:r>
              <a:rPr dirty="0" sz="2900" spc="-25">
                <a:solidFill>
                  <a:srgbClr val="0F1111"/>
                </a:solidFill>
                <a:latin typeface="Times New Roman"/>
                <a:cs typeface="Times New Roman"/>
              </a:rPr>
              <a:t>therapeutic</a:t>
            </a:r>
            <a:r>
              <a:rPr dirty="0" sz="2900" spc="-7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1F1F21"/>
                </a:solidFill>
                <a:latin typeface="Times New Roman"/>
                <a:cs typeface="Times New Roman"/>
              </a:rPr>
              <a:t>support </a:t>
            </a:r>
            <a:r>
              <a:rPr dirty="0" sz="2900" spc="-85">
                <a:solidFill>
                  <a:srgbClr val="1F1F21"/>
                </a:solidFill>
                <a:latin typeface="Times New Roman"/>
                <a:cs typeface="Times New Roman"/>
              </a:rPr>
              <a:t>exactly</a:t>
            </a:r>
            <a:r>
              <a:rPr dirty="0" sz="2900" spc="-125">
                <a:solidFill>
                  <a:srgbClr val="1F1F21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1F1F21"/>
                </a:solidFill>
                <a:latin typeface="Times New Roman"/>
                <a:cs typeface="Times New Roman"/>
              </a:rPr>
              <a:t>when</a:t>
            </a:r>
            <a:r>
              <a:rPr dirty="0" sz="2900" spc="-20">
                <a:solidFill>
                  <a:srgbClr val="1F1F21"/>
                </a:solidFill>
                <a:latin typeface="Times New Roman"/>
                <a:cs typeface="Times New Roman"/>
              </a:rPr>
              <a:t> </a:t>
            </a:r>
            <a:r>
              <a:rPr dirty="0" sz="2900" spc="75">
                <a:solidFill>
                  <a:srgbClr val="0F1111"/>
                </a:solidFill>
                <a:latin typeface="Times New Roman"/>
                <a:cs typeface="Times New Roman"/>
              </a:rPr>
              <a:t>it</a:t>
            </a:r>
            <a:r>
              <a:rPr dirty="0" sz="2900" spc="-28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1F1F21"/>
                </a:solidFill>
                <a:latin typeface="Times New Roman"/>
                <a:cs typeface="Times New Roman"/>
              </a:rPr>
              <a:t>is</a:t>
            </a:r>
            <a:r>
              <a:rPr dirty="0" sz="2900" spc="-140">
                <a:solidFill>
                  <a:srgbClr val="1F1F21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0F1111"/>
                </a:solidFill>
                <a:latin typeface="Times New Roman"/>
                <a:cs typeface="Times New Roman"/>
              </a:rPr>
              <a:t>needed</a:t>
            </a:r>
            <a:r>
              <a:rPr dirty="0" sz="2900" spc="75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2900" spc="-25">
                <a:solidFill>
                  <a:srgbClr val="0F1111"/>
                </a:solidFill>
                <a:latin typeface="Times New Roman"/>
                <a:cs typeface="Times New Roman"/>
              </a:rPr>
              <a:t>(Person-in-</a:t>
            </a:r>
            <a:r>
              <a:rPr dirty="0" sz="2900" spc="-10">
                <a:solidFill>
                  <a:srgbClr val="0F1111"/>
                </a:solidFill>
                <a:latin typeface="Times New Roman"/>
                <a:cs typeface="Times New Roman"/>
              </a:rPr>
              <a:t>Context).</a:t>
            </a: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0"/>
              </a:spcBef>
            </a:pPr>
            <a:r>
              <a:rPr dirty="0" sz="2700" spc="50" b="1">
                <a:solidFill>
                  <a:srgbClr val="0F1111"/>
                </a:solidFill>
                <a:latin typeface="Times New Roman"/>
                <a:cs typeface="Times New Roman"/>
              </a:rPr>
              <a:t>Goal:</a:t>
            </a:r>
            <a:r>
              <a:rPr dirty="0" sz="2700" spc="-254" b="1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2900" spc="-50">
                <a:solidFill>
                  <a:srgbClr val="1F1F21"/>
                </a:solidFill>
                <a:latin typeface="Times New Roman"/>
                <a:cs typeface="Times New Roman"/>
              </a:rPr>
              <a:t>Stabilizing</a:t>
            </a:r>
            <a:r>
              <a:rPr dirty="0" sz="2900" spc="-135">
                <a:solidFill>
                  <a:srgbClr val="1F1F21"/>
                </a:solidFill>
                <a:latin typeface="Times New Roman"/>
                <a:cs typeface="Times New Roman"/>
              </a:rPr>
              <a:t> </a:t>
            </a:r>
            <a:r>
              <a:rPr dirty="0" sz="2900" spc="-10">
                <a:solidFill>
                  <a:srgbClr val="0F1111"/>
                </a:solidFill>
                <a:latin typeface="Times New Roman"/>
                <a:cs typeface="Times New Roman"/>
              </a:rPr>
              <a:t>motivation</a:t>
            </a:r>
            <a:r>
              <a:rPr dirty="0" sz="2900" spc="5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2900" spc="55">
                <a:solidFill>
                  <a:srgbClr val="0F1111"/>
                </a:solidFill>
                <a:latin typeface="Times New Roman"/>
                <a:cs typeface="Times New Roman"/>
              </a:rPr>
              <a:t>in</a:t>
            </a:r>
            <a:r>
              <a:rPr dirty="0" sz="2900" spc="-175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1F1F21"/>
                </a:solidFill>
                <a:latin typeface="Times New Roman"/>
                <a:cs typeface="Times New Roman"/>
              </a:rPr>
              <a:t>the</a:t>
            </a:r>
            <a:r>
              <a:rPr dirty="0" sz="2900" spc="-185">
                <a:solidFill>
                  <a:srgbClr val="1F1F21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1F1F21"/>
                </a:solidFill>
                <a:latin typeface="Times New Roman"/>
                <a:cs typeface="Times New Roman"/>
              </a:rPr>
              <a:t>short</a:t>
            </a:r>
            <a:r>
              <a:rPr dirty="0" sz="2900" spc="30">
                <a:solidFill>
                  <a:srgbClr val="1F1F21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1F1F21"/>
                </a:solidFill>
                <a:latin typeface="Times New Roman"/>
                <a:cs typeface="Times New Roman"/>
              </a:rPr>
              <a:t>term</a:t>
            </a:r>
            <a:r>
              <a:rPr dirty="0" sz="2900" spc="-30">
                <a:solidFill>
                  <a:srgbClr val="1F1F21"/>
                </a:solidFill>
                <a:latin typeface="Times New Roman"/>
                <a:cs typeface="Times New Roman"/>
              </a:rPr>
              <a:t> </a:t>
            </a:r>
            <a:r>
              <a:rPr dirty="0" sz="2900" spc="65">
                <a:solidFill>
                  <a:srgbClr val="0F1111"/>
                </a:solidFill>
                <a:latin typeface="Times New Roman"/>
                <a:cs typeface="Times New Roman"/>
              </a:rPr>
              <a:t>to</a:t>
            </a:r>
            <a:r>
              <a:rPr dirty="0" sz="2900" spc="-114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2900" spc="-30">
                <a:solidFill>
                  <a:srgbClr val="1F1F21"/>
                </a:solidFill>
                <a:latin typeface="Times New Roman"/>
                <a:cs typeface="Times New Roman"/>
              </a:rPr>
              <a:t>prevent</a:t>
            </a:r>
            <a:r>
              <a:rPr dirty="0" sz="2900" spc="-20">
                <a:solidFill>
                  <a:srgbClr val="1F1F21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1F1F21"/>
                </a:solidFill>
                <a:latin typeface="Times New Roman"/>
                <a:cs typeface="Times New Roman"/>
              </a:rPr>
              <a:t>a</a:t>
            </a:r>
            <a:r>
              <a:rPr dirty="0" sz="2900" spc="-140">
                <a:solidFill>
                  <a:srgbClr val="1F1F21"/>
                </a:solidFill>
                <a:latin typeface="Times New Roman"/>
                <a:cs typeface="Times New Roman"/>
              </a:rPr>
              <a:t> </a:t>
            </a:r>
            <a:r>
              <a:rPr dirty="0" sz="2900" spc="-60">
                <a:solidFill>
                  <a:srgbClr val="1F1F21"/>
                </a:solidFill>
                <a:latin typeface="Times New Roman"/>
                <a:cs typeface="Times New Roman"/>
              </a:rPr>
              <a:t>«catastrophic</a:t>
            </a:r>
            <a:r>
              <a:rPr dirty="0" sz="2900" spc="65">
                <a:solidFill>
                  <a:srgbClr val="1F1F21"/>
                </a:solidFill>
                <a:latin typeface="Times New Roman"/>
                <a:cs typeface="Times New Roman"/>
              </a:rPr>
              <a:t> </a:t>
            </a:r>
            <a:r>
              <a:rPr dirty="0" sz="2900" spc="-35">
                <a:solidFill>
                  <a:srgbClr val="1F1F21"/>
                </a:solidFill>
                <a:latin typeface="Times New Roman"/>
                <a:cs typeface="Times New Roman"/>
              </a:rPr>
              <a:t>shift"</a:t>
            </a:r>
            <a:r>
              <a:rPr dirty="0" sz="2900" spc="-190">
                <a:solidFill>
                  <a:srgbClr val="1F1F21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0F1111"/>
                </a:solidFill>
                <a:latin typeface="Times New Roman"/>
                <a:cs typeface="Times New Roman"/>
              </a:rPr>
              <a:t>during</a:t>
            </a:r>
            <a:r>
              <a:rPr dirty="0" sz="2900" spc="-65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2900" spc="-45">
                <a:solidFill>
                  <a:srgbClr val="0F1111"/>
                </a:solidFill>
                <a:latin typeface="Times New Roman"/>
                <a:cs typeface="Times New Roman"/>
              </a:rPr>
              <a:t>high-</a:t>
            </a:r>
            <a:r>
              <a:rPr dirty="0" sz="2900">
                <a:solidFill>
                  <a:srgbClr val="0F1111"/>
                </a:solidFill>
                <a:latin typeface="Times New Roman"/>
                <a:cs typeface="Times New Roman"/>
              </a:rPr>
              <a:t>risk</a:t>
            </a:r>
            <a:r>
              <a:rPr dirty="0" sz="2900" spc="-30">
                <a:solidFill>
                  <a:srgbClr val="0F1111"/>
                </a:solidFill>
                <a:latin typeface="Times New Roman"/>
                <a:cs typeface="Times New Roman"/>
              </a:rPr>
              <a:t> </a:t>
            </a:r>
            <a:r>
              <a:rPr dirty="0" sz="2900" spc="-10">
                <a:solidFill>
                  <a:srgbClr val="1F1F21"/>
                </a:solidFill>
                <a:latin typeface="Times New Roman"/>
                <a:cs typeface="Times New Roman"/>
              </a:rPr>
              <a:t>windows.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8982" y="4059899"/>
            <a:ext cx="305686" cy="53617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42151" y="3830108"/>
            <a:ext cx="560424" cy="6638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84682" y="2910945"/>
            <a:ext cx="1248217" cy="12766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34343" y="5387577"/>
            <a:ext cx="636845" cy="1021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08260" y="4366286"/>
            <a:ext cx="1018953" cy="4340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37753" y="4059899"/>
            <a:ext cx="305686" cy="53617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558601" y="4315221"/>
            <a:ext cx="636845" cy="2297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69521" y="5132255"/>
            <a:ext cx="687793" cy="2297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170581" y="5081189"/>
            <a:ext cx="687793" cy="10212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240482" y="5055658"/>
            <a:ext cx="229264" cy="48511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635023" y="5106723"/>
            <a:ext cx="229264" cy="43404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7285518" y="4545011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39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386805" y="5489705"/>
            <a:ext cx="0" cy="587375"/>
          </a:xfrm>
          <a:custGeom>
            <a:avLst/>
            <a:gdLst/>
            <a:ahLst/>
            <a:cxnLst/>
            <a:rect l="l" t="t" r="r" b="b"/>
            <a:pathLst>
              <a:path w="0" h="587375">
                <a:moveTo>
                  <a:pt x="0" y="58724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692491" y="5489705"/>
            <a:ext cx="0" cy="511175"/>
          </a:xfrm>
          <a:custGeom>
            <a:avLst/>
            <a:gdLst/>
            <a:ahLst/>
            <a:cxnLst/>
            <a:rect l="l" t="t" r="r" b="b"/>
            <a:pathLst>
              <a:path w="0"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056253" y="2157742"/>
            <a:ext cx="3413760" cy="0"/>
          </a:xfrm>
          <a:custGeom>
            <a:avLst/>
            <a:gdLst/>
            <a:ahLst/>
            <a:cxnLst/>
            <a:rect l="l" t="t" r="r" b="b"/>
            <a:pathLst>
              <a:path w="3413759" h="0">
                <a:moveTo>
                  <a:pt x="0" y="0"/>
                </a:moveTo>
                <a:lnTo>
                  <a:pt x="341349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42532" y="2234339"/>
            <a:ext cx="1503045" cy="0"/>
          </a:xfrm>
          <a:custGeom>
            <a:avLst/>
            <a:gdLst/>
            <a:ahLst/>
            <a:cxnLst/>
            <a:rect l="l" t="t" r="r" b="b"/>
            <a:pathLst>
              <a:path w="1503045" h="0">
                <a:moveTo>
                  <a:pt x="0" y="0"/>
                </a:moveTo>
                <a:lnTo>
                  <a:pt x="1502956" y="0"/>
                </a:lnTo>
              </a:path>
            </a:pathLst>
          </a:custGeom>
          <a:ln w="893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088247" y="4110962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79" h="0">
                <a:moveTo>
                  <a:pt x="0" y="0"/>
                </a:moveTo>
                <a:lnTo>
                  <a:pt x="1553904" y="0"/>
                </a:lnTo>
              </a:path>
            </a:pathLst>
          </a:custGeom>
          <a:ln w="1021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781954" y="4110962"/>
            <a:ext cx="1732280" cy="0"/>
          </a:xfrm>
          <a:custGeom>
            <a:avLst/>
            <a:gdLst/>
            <a:ahLst/>
            <a:cxnLst/>
            <a:rect l="l" t="t" r="r" b="b"/>
            <a:pathLst>
              <a:path w="1732279" h="0">
                <a:moveTo>
                  <a:pt x="0" y="0"/>
                </a:moveTo>
                <a:lnTo>
                  <a:pt x="1732221" y="0"/>
                </a:lnTo>
              </a:path>
            </a:pathLst>
          </a:custGeom>
          <a:ln w="893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712660" y="4557777"/>
            <a:ext cx="2598420" cy="0"/>
          </a:xfrm>
          <a:custGeom>
            <a:avLst/>
            <a:gdLst/>
            <a:ahLst/>
            <a:cxnLst/>
            <a:rect l="l" t="t" r="r" b="b"/>
            <a:pathLst>
              <a:path w="2598420" h="0">
                <a:moveTo>
                  <a:pt x="0" y="0"/>
                </a:moveTo>
                <a:lnTo>
                  <a:pt x="259833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985744" y="4557777"/>
            <a:ext cx="3209925" cy="0"/>
          </a:xfrm>
          <a:custGeom>
            <a:avLst/>
            <a:gdLst/>
            <a:ahLst/>
            <a:cxnLst/>
            <a:rect l="l" t="t" r="r" b="b"/>
            <a:pathLst>
              <a:path w="3209925" h="0">
                <a:moveTo>
                  <a:pt x="0" y="0"/>
                </a:moveTo>
                <a:lnTo>
                  <a:pt x="320970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0469747" y="5183318"/>
            <a:ext cx="2165350" cy="0"/>
          </a:xfrm>
          <a:custGeom>
            <a:avLst/>
            <a:gdLst/>
            <a:ahLst/>
            <a:cxnLst/>
            <a:rect l="l" t="t" r="r" b="b"/>
            <a:pathLst>
              <a:path w="2165350" h="0">
                <a:moveTo>
                  <a:pt x="0" y="0"/>
                </a:moveTo>
                <a:lnTo>
                  <a:pt x="2165276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1667018" y="5489705"/>
            <a:ext cx="2139950" cy="0"/>
          </a:xfrm>
          <a:custGeom>
            <a:avLst/>
            <a:gdLst/>
            <a:ahLst/>
            <a:cxnLst/>
            <a:rect l="l" t="t" r="r" b="b"/>
            <a:pathLst>
              <a:path w="2139950" h="0">
                <a:moveTo>
                  <a:pt x="0" y="0"/>
                </a:moveTo>
                <a:lnTo>
                  <a:pt x="213980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272477" y="5489705"/>
            <a:ext cx="2165350" cy="0"/>
          </a:xfrm>
          <a:custGeom>
            <a:avLst/>
            <a:gdLst/>
            <a:ahLst/>
            <a:cxnLst/>
            <a:rect l="l" t="t" r="r" b="b"/>
            <a:pathLst>
              <a:path w="2165350" h="0">
                <a:moveTo>
                  <a:pt x="0" y="0"/>
                </a:moveTo>
                <a:lnTo>
                  <a:pt x="2165276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654585" y="7213134"/>
            <a:ext cx="3821429" cy="0"/>
          </a:xfrm>
          <a:custGeom>
            <a:avLst/>
            <a:gdLst/>
            <a:ahLst/>
            <a:cxnLst/>
            <a:rect l="l" t="t" r="r" b="b"/>
            <a:pathLst>
              <a:path w="3821430" h="0">
                <a:moveTo>
                  <a:pt x="0" y="0"/>
                </a:moveTo>
                <a:lnTo>
                  <a:pt x="382107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xfrm>
            <a:off x="927857" y="517359"/>
            <a:ext cx="13522960" cy="1557655"/>
          </a:xfrm>
          <a:prstGeom prst="rect"/>
        </p:spPr>
        <p:txBody>
          <a:bodyPr wrap="square" lIns="0" tIns="100330" rIns="0" bIns="0" rtlCol="0" vert="horz">
            <a:spAutoFit/>
          </a:bodyPr>
          <a:lstStyle/>
          <a:p>
            <a:pPr marL="12700" marR="5080" indent="14604">
              <a:lnSpc>
                <a:spcPts val="5730"/>
              </a:lnSpc>
              <a:spcBef>
                <a:spcPts val="790"/>
              </a:spcBef>
            </a:pPr>
            <a:r>
              <a:rPr dirty="0" sz="5250" spc="-145">
                <a:solidFill>
                  <a:srgbClr val="1C1C1C"/>
                </a:solidFill>
              </a:rPr>
              <a:t>Algorithmic</a:t>
            </a:r>
            <a:r>
              <a:rPr dirty="0" sz="5250" spc="-15">
                <a:solidFill>
                  <a:srgbClr val="1C1C1C"/>
                </a:solidFill>
              </a:rPr>
              <a:t> </a:t>
            </a:r>
            <a:r>
              <a:rPr dirty="0" sz="5250" spc="-160">
                <a:solidFill>
                  <a:srgbClr val="1C1C1C"/>
                </a:solidFill>
              </a:rPr>
              <a:t>Architecture:</a:t>
            </a:r>
            <a:r>
              <a:rPr dirty="0" sz="5250" spc="-254">
                <a:solidFill>
                  <a:srgbClr val="1C1C1C"/>
                </a:solidFill>
              </a:rPr>
              <a:t> </a:t>
            </a:r>
            <a:r>
              <a:rPr dirty="0" sz="5250" spc="-170">
                <a:solidFill>
                  <a:srgbClr val="1C1C1C"/>
                </a:solidFill>
              </a:rPr>
              <a:t>Decision</a:t>
            </a:r>
            <a:r>
              <a:rPr dirty="0" sz="5250" spc="-300">
                <a:solidFill>
                  <a:srgbClr val="1C1C1C"/>
                </a:solidFill>
              </a:rPr>
              <a:t> </a:t>
            </a:r>
            <a:r>
              <a:rPr dirty="0" sz="5250" spc="-210">
                <a:solidFill>
                  <a:srgbClr val="1C1C1C"/>
                </a:solidFill>
              </a:rPr>
              <a:t>Rules</a:t>
            </a:r>
            <a:r>
              <a:rPr dirty="0" sz="5250" spc="-455">
                <a:solidFill>
                  <a:srgbClr val="1C1C1C"/>
                </a:solidFill>
              </a:rPr>
              <a:t> </a:t>
            </a:r>
            <a:r>
              <a:rPr dirty="0" sz="5250" spc="-35">
                <a:solidFill>
                  <a:srgbClr val="1C1C1C"/>
                </a:solidFill>
              </a:rPr>
              <a:t>and </a:t>
            </a:r>
            <a:r>
              <a:rPr dirty="0" sz="5250" spc="-210">
                <a:solidFill>
                  <a:srgbClr val="1C1C1C"/>
                </a:solidFill>
              </a:rPr>
              <a:t>Tailoring</a:t>
            </a:r>
            <a:r>
              <a:rPr dirty="0" sz="5250" spc="-135">
                <a:solidFill>
                  <a:srgbClr val="1C1C1C"/>
                </a:solidFill>
              </a:rPr>
              <a:t> </a:t>
            </a:r>
            <a:r>
              <a:rPr dirty="0" sz="5250" spc="-55">
                <a:solidFill>
                  <a:srgbClr val="1C1C1C"/>
                </a:solidFill>
              </a:rPr>
              <a:t>Variables</a:t>
            </a:r>
            <a:endParaRPr sz="5250"/>
          </a:p>
        </p:txBody>
      </p:sp>
      <p:sp>
        <p:nvSpPr>
          <p:cNvPr id="27" name="object 27"/>
          <p:cNvSpPr txBox="1"/>
          <p:nvPr/>
        </p:nvSpPr>
        <p:spPr>
          <a:xfrm>
            <a:off x="7043553" y="1972699"/>
            <a:ext cx="343916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560195" algn="l"/>
                <a:tab pos="3425825" algn="l"/>
              </a:tabLst>
            </a:pPr>
            <a:r>
              <a:rPr dirty="0" u="heavy" sz="2250">
                <a:solidFill>
                  <a:srgbClr val="AEB3B5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2250" spc="-335">
                <a:solidFill>
                  <a:srgbClr val="AEB3B5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""""</a:t>
            </a:r>
            <a:r>
              <a:rPr dirty="0" u="heavy" sz="2250">
                <a:solidFill>
                  <a:srgbClr val="AEB3B5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77665" y="2228022"/>
            <a:ext cx="3447415" cy="4927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2882265" algn="l"/>
              </a:tabLst>
            </a:pPr>
            <a:r>
              <a:rPr dirty="0" sz="2150" spc="-65" b="1">
                <a:solidFill>
                  <a:srgbClr val="1C1C1C"/>
                </a:solidFill>
                <a:latin typeface="Times New Roman"/>
                <a:cs typeface="Times New Roman"/>
              </a:rPr>
              <a:t>Tailoring</a:t>
            </a:r>
            <a:r>
              <a:rPr dirty="0" sz="2150" spc="-114" b="1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2150" spc="-100" b="1">
                <a:solidFill>
                  <a:srgbClr val="1C1C1C"/>
                </a:solidFill>
                <a:latin typeface="Times New Roman"/>
                <a:cs typeface="Times New Roman"/>
              </a:rPr>
              <a:t>Variable</a:t>
            </a:r>
            <a:r>
              <a:rPr dirty="0" sz="2150" spc="-75" b="1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2150" spc="-10" b="1">
                <a:solidFill>
                  <a:srgbClr val="0E0E0C"/>
                </a:solidFill>
                <a:latin typeface="Times New Roman"/>
                <a:cs typeface="Times New Roman"/>
              </a:rPr>
              <a:t>Input</a:t>
            </a:r>
            <a:r>
              <a:rPr dirty="0" sz="2150" b="1">
                <a:solidFill>
                  <a:srgbClr val="0E0E0C"/>
                </a:solidFill>
                <a:latin typeface="Times New Roman"/>
                <a:cs typeface="Times New Roman"/>
              </a:rPr>
              <a:t>	</a:t>
            </a:r>
            <a:r>
              <a:rPr dirty="0" sz="1100" spc="-170">
                <a:solidFill>
                  <a:srgbClr val="AEB3B5"/>
                </a:solidFill>
                <a:latin typeface="Times New Roman"/>
                <a:cs typeface="Times New Roman"/>
              </a:rPr>
              <a:t>-</a:t>
            </a:r>
            <a:r>
              <a:rPr dirty="0" sz="1100" spc="120">
                <a:solidFill>
                  <a:srgbClr val="AEB3B5"/>
                </a:solidFill>
                <a:latin typeface="Times New Roman"/>
                <a:cs typeface="Times New Roman"/>
              </a:rPr>
              <a:t>1</a:t>
            </a:r>
            <a:r>
              <a:rPr dirty="0" baseline="53333" sz="1875" spc="-705">
                <a:solidFill>
                  <a:srgbClr val="AEB3B5"/>
                </a:solidFill>
                <a:latin typeface="Times New Roman"/>
                <a:cs typeface="Times New Roman"/>
              </a:rPr>
              <a:t>1</a:t>
            </a:r>
            <a:r>
              <a:rPr dirty="0" sz="3050" spc="130">
                <a:solidFill>
                  <a:srgbClr val="939C9E"/>
                </a:solidFill>
                <a:latin typeface="Times New Roman"/>
                <a:cs typeface="Times New Roman"/>
              </a:rPr>
              <a:t>7</a:t>
            </a:r>
            <a:r>
              <a:rPr dirty="0" sz="3050" spc="140">
                <a:solidFill>
                  <a:srgbClr val="AEB3B5"/>
                </a:solidFill>
                <a:latin typeface="Times New Roman"/>
                <a:cs typeface="Times New Roman"/>
              </a:rPr>
              <a:t>1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52868" y="2387600"/>
            <a:ext cx="3392170" cy="531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652145" algn="l"/>
              </a:tabLst>
            </a:pPr>
            <a:r>
              <a:rPr dirty="0" sz="3300" spc="-915">
                <a:solidFill>
                  <a:srgbClr val="AEB3B5"/>
                </a:solidFill>
                <a:latin typeface="Arial"/>
                <a:cs typeface="Arial"/>
              </a:rPr>
              <a:t>·</a:t>
            </a:r>
            <a:r>
              <a:rPr dirty="0" baseline="27322" sz="4575" spc="-960">
                <a:solidFill>
                  <a:srgbClr val="AEB3B5"/>
                </a:solidFill>
                <a:latin typeface="Times New Roman"/>
                <a:cs typeface="Times New Roman"/>
              </a:rPr>
              <a:t>i</a:t>
            </a:r>
            <a:r>
              <a:rPr dirty="0" sz="3300" spc="-715">
                <a:solidFill>
                  <a:srgbClr val="AEB3B5"/>
                </a:solidFill>
                <a:latin typeface="Arial"/>
                <a:cs typeface="Arial"/>
              </a:rPr>
              <a:t>'</a:t>
            </a:r>
            <a:r>
              <a:rPr dirty="0" baseline="27322" sz="4575" spc="-2790">
                <a:solidFill>
                  <a:srgbClr val="AEB3B5"/>
                </a:solidFill>
                <a:latin typeface="Times New Roman"/>
                <a:cs typeface="Times New Roman"/>
              </a:rPr>
              <a:t>T</a:t>
            </a:r>
            <a:r>
              <a:rPr dirty="0" sz="3300" spc="-350">
                <a:solidFill>
                  <a:srgbClr val="AEB3B5"/>
                </a:solidFill>
                <a:latin typeface="Arial"/>
                <a:cs typeface="Arial"/>
              </a:rPr>
              <a:t>L</a:t>
            </a:r>
            <a:r>
              <a:rPr dirty="0" sz="3300" spc="160">
                <a:solidFill>
                  <a:srgbClr val="AEB3B5"/>
                </a:solidFill>
                <a:latin typeface="Arial"/>
                <a:cs typeface="Arial"/>
              </a:rPr>
              <a:t> </a:t>
            </a:r>
            <a:r>
              <a:rPr dirty="0" u="heavy" sz="1200" spc="-350">
                <a:solidFill>
                  <a:srgbClr val="AEB3B5"/>
                </a:solidFill>
                <a:uFill>
                  <a:solidFill>
                    <a:srgbClr val="AEB3B5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heavy" sz="1200" spc="480">
                <a:solidFill>
                  <a:srgbClr val="AEB3B5"/>
                </a:solidFill>
                <a:uFill>
                  <a:solidFill>
                    <a:srgbClr val="AEB3B5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none" sz="1200">
                <a:solidFill>
                  <a:srgbClr val="AEB3B5"/>
                </a:solidFill>
                <a:latin typeface="Times New Roman"/>
                <a:cs typeface="Times New Roman"/>
              </a:rPr>
              <a:t>	</a:t>
            </a:r>
            <a:r>
              <a:rPr dirty="0" u="heavy" sz="1450" spc="-10">
                <a:solidFill>
                  <a:srgbClr val="424442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(e.g</a:t>
            </a:r>
            <a:r>
              <a:rPr dirty="0" u="heavy" sz="1450" spc="-10">
                <a:solidFill>
                  <a:srgbClr val="313333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..</a:t>
            </a:r>
            <a:r>
              <a:rPr dirty="0" u="heavy" sz="1450" spc="-50">
                <a:solidFill>
                  <a:srgbClr val="313333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50">
                <a:solidFill>
                  <a:srgbClr val="424442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Craving</a:t>
            </a:r>
            <a:r>
              <a:rPr dirty="0" u="heavy" sz="1450" spc="-145">
                <a:solidFill>
                  <a:srgbClr val="424442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50">
                <a:solidFill>
                  <a:srgbClr val="313333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Score+</a:t>
            </a:r>
            <a:r>
              <a:rPr dirty="0" u="heavy" sz="1450" spc="35">
                <a:solidFill>
                  <a:srgbClr val="313333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50" spc="-10">
                <a:solidFill>
                  <a:srgbClr val="424442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GPS</a:t>
            </a:r>
            <a:r>
              <a:rPr dirty="0" u="heavy" sz="1450" spc="-25">
                <a:solidFill>
                  <a:srgbClr val="424442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50" spc="-10">
                <a:solidFill>
                  <a:srgbClr val="424442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Location)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79197" y="3811025"/>
            <a:ext cx="347980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70" b="1">
                <a:solidFill>
                  <a:srgbClr val="794D46"/>
                </a:solidFill>
                <a:latin typeface="Times New Roman"/>
                <a:cs typeface="Times New Roman"/>
              </a:rPr>
              <a:t>NO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666058" y="3364210"/>
            <a:ext cx="86296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950" spc="-70">
                <a:solidFill>
                  <a:srgbClr val="AEB3B5"/>
                </a:solidFill>
                <a:uFill>
                  <a:solidFill>
                    <a:srgbClr val="939C9E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heavy" sz="950" spc="-70">
                <a:solidFill>
                  <a:srgbClr val="939C9E"/>
                </a:solidFill>
                <a:uFill>
                  <a:solidFill>
                    <a:srgbClr val="939C9E"/>
                  </a:solidFill>
                </a:uFill>
                <a:latin typeface="Times New Roman"/>
                <a:cs typeface="Times New Roman"/>
              </a:rPr>
              <a:t>h</a:t>
            </a:r>
            <a:r>
              <a:rPr dirty="0" u="heavy" sz="950" spc="-70">
                <a:solidFill>
                  <a:srgbClr val="AEB3B5"/>
                </a:solidFill>
                <a:uFill>
                  <a:solidFill>
                    <a:srgbClr val="939C9E"/>
                  </a:solidFill>
                </a:uFill>
                <a:latin typeface="Times New Roman"/>
                <a:cs typeface="Times New Roman"/>
              </a:rPr>
              <a:t>11:�</a:t>
            </a:r>
            <a:r>
              <a:rPr dirty="0" u="heavy" sz="950" spc="-70">
                <a:solidFill>
                  <a:srgbClr val="939C9E"/>
                </a:solidFill>
                <a:uFill>
                  <a:solidFill>
                    <a:srgbClr val="939C9E"/>
                  </a:solidFill>
                </a:uFill>
                <a:latin typeface="Times New Roman"/>
                <a:cs typeface="Times New Roman"/>
              </a:rPr>
              <a:t>h</a:t>
            </a:r>
            <a:r>
              <a:rPr dirty="0" u="heavy" sz="950" spc="-70">
                <a:solidFill>
                  <a:srgbClr val="AEB3B5"/>
                </a:solidFill>
                <a:uFill>
                  <a:solidFill>
                    <a:srgbClr val="939C9E"/>
                  </a:solidFill>
                </a:uFill>
                <a:latin typeface="Times New Roman"/>
                <a:cs typeface="Times New Roman"/>
              </a:rPr>
              <a:t>old</a:t>
            </a:r>
            <a:r>
              <a:rPr dirty="0" u="heavy" sz="950" spc="-5">
                <a:solidFill>
                  <a:srgbClr val="AEB3B5"/>
                </a:solidFill>
                <a:uFill>
                  <a:solidFill>
                    <a:srgbClr val="939C9E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950" spc="-10">
                <a:solidFill>
                  <a:srgbClr val="AEB3B5"/>
                </a:solidFill>
                <a:uFill>
                  <a:solidFill>
                    <a:srgbClr val="939C9E"/>
                  </a:solidFill>
                </a:uFill>
                <a:latin typeface="Times New Roman"/>
                <a:cs typeface="Times New Roman"/>
              </a:rPr>
              <a:t>C</a:t>
            </a:r>
            <a:r>
              <a:rPr dirty="0" u="heavy" sz="950" spc="-10">
                <a:solidFill>
                  <a:srgbClr val="80878A"/>
                </a:solidFill>
                <a:uFill>
                  <a:solidFill>
                    <a:srgbClr val="939C9E"/>
                  </a:solidFill>
                </a:uFill>
                <a:latin typeface="Times New Roman"/>
                <a:cs typeface="Times New Roman"/>
              </a:rPr>
              <a:t>he</a:t>
            </a:r>
            <a:r>
              <a:rPr dirty="0" u="heavy" sz="950" spc="-10">
                <a:solidFill>
                  <a:srgbClr val="AEB3B5"/>
                </a:solidFill>
                <a:uFill>
                  <a:solidFill>
                    <a:srgbClr val="939C9E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heavy" sz="950" spc="-10">
                <a:solidFill>
                  <a:srgbClr val="939C9E"/>
                </a:solidFill>
                <a:uFill>
                  <a:solidFill>
                    <a:srgbClr val="939C9E"/>
                  </a:solidFill>
                </a:uFill>
                <a:latin typeface="Times New Roman"/>
                <a:cs typeface="Times New Roman"/>
              </a:rPr>
              <a:t>k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16332" y="3772727"/>
            <a:ext cx="1302385" cy="622935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 marR="5080" indent="156845">
              <a:lnSpc>
                <a:spcPts val="2110"/>
              </a:lnSpc>
              <a:spcBef>
                <a:spcPts val="570"/>
              </a:spcBef>
            </a:pPr>
            <a:r>
              <a:rPr dirty="0" sz="2150" b="1">
                <a:solidFill>
                  <a:srgbClr val="0E0E0C"/>
                </a:solidFill>
                <a:latin typeface="Times New Roman"/>
                <a:cs typeface="Times New Roman"/>
              </a:rPr>
              <a:t>Is</a:t>
            </a:r>
            <a:r>
              <a:rPr dirty="0" sz="2150" spc="-215" b="1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150" spc="-10" b="1">
                <a:solidFill>
                  <a:srgbClr val="0E0E0C"/>
                </a:solidFill>
                <a:latin typeface="Times New Roman"/>
                <a:cs typeface="Times New Roman"/>
              </a:rPr>
              <a:t>Risk&gt; </a:t>
            </a:r>
            <a:r>
              <a:rPr dirty="0" sz="2150" spc="-60" b="1">
                <a:solidFill>
                  <a:srgbClr val="0E0E0C"/>
                </a:solidFill>
                <a:latin typeface="Times New Roman"/>
                <a:cs typeface="Times New Roman"/>
              </a:rPr>
              <a:t>Thre</a:t>
            </a:r>
            <a:r>
              <a:rPr dirty="0" sz="2150" spc="-60" b="1">
                <a:solidFill>
                  <a:srgbClr val="313333"/>
                </a:solidFill>
                <a:latin typeface="Times New Roman"/>
                <a:cs typeface="Times New Roman"/>
              </a:rPr>
              <a:t>s</a:t>
            </a:r>
            <a:r>
              <a:rPr dirty="0" sz="2150" spc="-60" b="1">
                <a:solidFill>
                  <a:srgbClr val="0E0E0C"/>
                </a:solidFill>
                <a:latin typeface="Times New Roman"/>
                <a:cs typeface="Times New Roman"/>
              </a:rPr>
              <a:t>hold?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100719" y="3804642"/>
            <a:ext cx="40830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50" b="1">
                <a:solidFill>
                  <a:srgbClr val="794D46"/>
                </a:solidFill>
                <a:latin typeface="Arial"/>
                <a:cs typeface="Arial"/>
              </a:rPr>
              <a:t>YES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745521" y="4876930"/>
            <a:ext cx="89535" cy="0"/>
          </a:xfrm>
          <a:custGeom>
            <a:avLst/>
            <a:gdLst/>
            <a:ahLst/>
            <a:cxnLst/>
            <a:rect l="l" t="t" r="r" b="b"/>
            <a:pathLst>
              <a:path w="89535" h="0">
                <a:moveTo>
                  <a:pt x="0" y="0"/>
                </a:moveTo>
                <a:lnTo>
                  <a:pt x="89158" y="0"/>
                </a:lnTo>
              </a:path>
            </a:pathLst>
          </a:custGeom>
          <a:ln w="12766">
            <a:solidFill>
              <a:srgbClr val="AEB3B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906554" y="4876930"/>
            <a:ext cx="2327275" cy="0"/>
          </a:xfrm>
          <a:custGeom>
            <a:avLst/>
            <a:gdLst/>
            <a:ahLst/>
            <a:cxnLst/>
            <a:rect l="l" t="t" r="r" b="b"/>
            <a:pathLst>
              <a:path w="2327275" h="0">
                <a:moveTo>
                  <a:pt x="0" y="0"/>
                </a:moveTo>
                <a:lnTo>
                  <a:pt x="2326836" y="0"/>
                </a:lnTo>
              </a:path>
            </a:pathLst>
          </a:custGeom>
          <a:ln w="12766">
            <a:solidFill>
              <a:srgbClr val="AEB3B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441808" y="4379118"/>
            <a:ext cx="2788920" cy="607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800" spc="-229">
                <a:solidFill>
                  <a:srgbClr val="AEB3B5"/>
                </a:solidFill>
                <a:latin typeface="Arial"/>
                <a:cs typeface="Arial"/>
              </a:rPr>
              <a:t>![</a:t>
            </a:r>
            <a:r>
              <a:rPr dirty="0" sz="3800" spc="-409">
                <a:solidFill>
                  <a:srgbClr val="AEB3B5"/>
                </a:solidFill>
                <a:latin typeface="Arial"/>
                <a:cs typeface="Arial"/>
              </a:rPr>
              <a:t> </a:t>
            </a:r>
            <a:r>
              <a:rPr dirty="0" sz="3800" spc="-229">
                <a:solidFill>
                  <a:srgbClr val="AEB3B5"/>
                </a:solidFill>
                <a:latin typeface="Arial"/>
                <a:cs typeface="Arial"/>
              </a:rPr>
              <a:t>:</a:t>
            </a:r>
            <a:r>
              <a:rPr dirty="0" sz="3800" spc="-600">
                <a:solidFill>
                  <a:srgbClr val="AEB3B5"/>
                </a:solidFill>
                <a:latin typeface="Arial"/>
                <a:cs typeface="Arial"/>
              </a:rPr>
              <a:t> </a:t>
            </a:r>
            <a:r>
              <a:rPr dirty="0" sz="2100" spc="-20">
                <a:solidFill>
                  <a:srgbClr val="313333"/>
                </a:solidFill>
                <a:latin typeface="Times New Roman"/>
                <a:cs typeface="Times New Roman"/>
              </a:rPr>
              <a:t>Continue</a:t>
            </a:r>
            <a:r>
              <a:rPr dirty="0" sz="2100" spc="-70">
                <a:solidFill>
                  <a:srgbClr val="313333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313333"/>
                </a:solidFill>
                <a:latin typeface="Times New Roman"/>
                <a:cs typeface="Times New Roman"/>
              </a:rPr>
              <a:t>Monitoring</a:t>
            </a:r>
            <a:r>
              <a:rPr dirty="0" sz="2100" spc="-10">
                <a:solidFill>
                  <a:srgbClr val="AEB3B5"/>
                </a:solidFill>
                <a:latin typeface="Times New Roman"/>
                <a:cs typeface="Times New Roman"/>
              </a:rPr>
              <a:t>: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26198" y="5068490"/>
            <a:ext cx="32004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225">
                <a:solidFill>
                  <a:srgbClr val="BDC3C3"/>
                </a:solidFill>
                <a:latin typeface="Times New Roman"/>
                <a:cs typeface="Times New Roman"/>
              </a:rPr>
              <a:t>�-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794112" y="4966361"/>
            <a:ext cx="46355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690">
                <a:solidFill>
                  <a:srgbClr val="AEB3B5"/>
                </a:solidFill>
                <a:latin typeface="Arial"/>
                <a:cs typeface="Arial"/>
              </a:rPr>
              <a:t>:</a:t>
            </a:r>
            <a:endParaRPr sz="29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058044" y="4902463"/>
            <a:ext cx="76835" cy="0"/>
          </a:xfrm>
          <a:custGeom>
            <a:avLst/>
            <a:gdLst/>
            <a:ahLst/>
            <a:cxnLst/>
            <a:rect l="l" t="t" r="r" b="b"/>
            <a:pathLst>
              <a:path w="76834" h="0">
                <a:moveTo>
                  <a:pt x="0" y="0"/>
                </a:moveTo>
                <a:lnTo>
                  <a:pt x="76421" y="0"/>
                </a:lnTo>
              </a:path>
            </a:pathLst>
          </a:custGeom>
          <a:ln w="12766">
            <a:solidFill>
              <a:srgbClr val="AEB3B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9389203" y="4902463"/>
            <a:ext cx="3732529" cy="0"/>
          </a:xfrm>
          <a:custGeom>
            <a:avLst/>
            <a:gdLst/>
            <a:ahLst/>
            <a:cxnLst/>
            <a:rect l="l" t="t" r="r" b="b"/>
            <a:pathLst>
              <a:path w="3732530" h="0">
                <a:moveTo>
                  <a:pt x="0" y="0"/>
                </a:moveTo>
                <a:lnTo>
                  <a:pt x="3732052" y="0"/>
                </a:lnTo>
              </a:path>
            </a:pathLst>
          </a:custGeom>
          <a:ln w="12766">
            <a:solidFill>
              <a:srgbClr val="BDC3C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9045344" y="4513163"/>
            <a:ext cx="4380865" cy="4775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43535" algn="l"/>
              </a:tabLst>
            </a:pPr>
            <a:r>
              <a:rPr dirty="0" sz="2100" spc="-470">
                <a:solidFill>
                  <a:srgbClr val="AEB3B5"/>
                </a:solidFill>
                <a:latin typeface="Times New Roman"/>
                <a:cs typeface="Times New Roman"/>
              </a:rPr>
              <a:t>.</a:t>
            </a:r>
            <a:r>
              <a:rPr dirty="0" sz="2100">
                <a:solidFill>
                  <a:srgbClr val="AEB3B5"/>
                </a:solidFill>
                <a:latin typeface="Times New Roman"/>
                <a:cs typeface="Times New Roman"/>
              </a:rPr>
              <a:t>	</a:t>
            </a:r>
            <a:r>
              <a:rPr dirty="0" sz="2100" spc="420">
                <a:solidFill>
                  <a:srgbClr val="939C9E"/>
                </a:solidFill>
                <a:latin typeface="Times New Roman"/>
                <a:cs typeface="Times New Roman"/>
              </a:rPr>
              <a:t>.</a:t>
            </a:r>
            <a:r>
              <a:rPr dirty="0" sz="2100" spc="-310">
                <a:solidFill>
                  <a:srgbClr val="AEB3B5"/>
                </a:solidFill>
                <a:latin typeface="Times New Roman"/>
                <a:cs typeface="Times New Roman"/>
              </a:rPr>
              <a:t>..</a:t>
            </a:r>
            <a:r>
              <a:rPr dirty="0" sz="2100" spc="160">
                <a:solidFill>
                  <a:srgbClr val="AEB3B5"/>
                </a:solidFill>
                <a:latin typeface="Times New Roman"/>
                <a:cs typeface="Times New Roman"/>
              </a:rPr>
              <a:t> </a:t>
            </a:r>
            <a:r>
              <a:rPr dirty="0" sz="2100" spc="185">
                <a:solidFill>
                  <a:srgbClr val="AEB3B5"/>
                </a:solidFill>
                <a:latin typeface="Times New Roman"/>
                <a:cs typeface="Times New Roman"/>
              </a:rPr>
              <a:t>.;</a:t>
            </a:r>
            <a:r>
              <a:rPr dirty="0" sz="2100" spc="25">
                <a:solidFill>
                  <a:srgbClr val="AEB3B5"/>
                </a:solidFill>
                <a:latin typeface="Times New Roman"/>
                <a:cs typeface="Times New Roman"/>
              </a:rPr>
              <a:t>;</a:t>
            </a:r>
            <a:r>
              <a:rPr dirty="0" sz="2100" spc="-844">
                <a:solidFill>
                  <a:srgbClr val="AEB3B5"/>
                </a:solidFill>
                <a:latin typeface="Times New Roman"/>
                <a:cs typeface="Times New Roman"/>
              </a:rPr>
              <a:t>=</a:t>
            </a:r>
            <a:r>
              <a:rPr dirty="0" sz="2100" spc="190">
                <a:solidFill>
                  <a:srgbClr val="AEB3B5"/>
                </a:solidFill>
                <a:latin typeface="Times New Roman"/>
                <a:cs typeface="Times New Roman"/>
              </a:rPr>
              <a:t>;</a:t>
            </a:r>
            <a:r>
              <a:rPr dirty="0" sz="2100" spc="330">
                <a:solidFill>
                  <a:srgbClr val="AEB3B5"/>
                </a:solidFill>
                <a:latin typeface="Times New Roman"/>
                <a:cs typeface="Times New Roman"/>
              </a:rPr>
              <a:t> </a:t>
            </a:r>
            <a:r>
              <a:rPr dirty="0" sz="2100" spc="-70">
                <a:solidFill>
                  <a:srgbClr val="313333"/>
                </a:solidFill>
                <a:latin typeface="Times New Roman"/>
                <a:cs typeface="Times New Roman"/>
              </a:rPr>
              <a:t>Select</a:t>
            </a:r>
            <a:r>
              <a:rPr dirty="0" sz="2100" spc="-65">
                <a:solidFill>
                  <a:srgbClr val="313333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1C1C1C"/>
                </a:solidFill>
                <a:latin typeface="Times New Roman"/>
                <a:cs typeface="Times New Roman"/>
              </a:rPr>
              <a:t>Interv</a:t>
            </a:r>
            <a:r>
              <a:rPr dirty="0" sz="2100" spc="-20">
                <a:solidFill>
                  <a:srgbClr val="424442"/>
                </a:solidFill>
                <a:latin typeface="Times New Roman"/>
                <a:cs typeface="Times New Roman"/>
              </a:rPr>
              <a:t>ention</a:t>
            </a:r>
            <a:r>
              <a:rPr dirty="0" sz="2100" spc="-185">
                <a:solidFill>
                  <a:srgbClr val="424442"/>
                </a:solidFill>
                <a:latin typeface="Times New Roman"/>
                <a:cs typeface="Times New Roman"/>
              </a:rPr>
              <a:t> </a:t>
            </a:r>
            <a:r>
              <a:rPr dirty="0" sz="2100" spc="-45">
                <a:solidFill>
                  <a:srgbClr val="313333"/>
                </a:solidFill>
                <a:latin typeface="Times New Roman"/>
                <a:cs typeface="Times New Roman"/>
              </a:rPr>
              <a:t>Strategy</a:t>
            </a:r>
            <a:r>
              <a:rPr dirty="0" sz="2100" spc="-45">
                <a:solidFill>
                  <a:srgbClr val="BDC3C3"/>
                </a:solidFill>
                <a:latin typeface="Times New Roman"/>
                <a:cs typeface="Times New Roman"/>
              </a:rPr>
              <a:t>=</a:t>
            </a:r>
            <a:r>
              <a:rPr dirty="0" sz="2100" spc="-145">
                <a:solidFill>
                  <a:srgbClr val="BDC3C3"/>
                </a:solidFill>
                <a:latin typeface="Times New Roman"/>
                <a:cs typeface="Times New Roman"/>
              </a:rPr>
              <a:t> </a:t>
            </a:r>
            <a:r>
              <a:rPr dirty="0" sz="2950" spc="-65">
                <a:solidFill>
                  <a:srgbClr val="AEB3B5"/>
                </a:solidFill>
                <a:latin typeface="Times New Roman"/>
                <a:cs typeface="Times New Roman"/>
              </a:rPr>
              <a:t>Ji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3495">
              <a:lnSpc>
                <a:spcPts val="1635"/>
              </a:lnSpc>
            </a:pPr>
            <a:r>
              <a:rPr dirty="0" sz="1400" spc="-80">
                <a:solidFill>
                  <a:srgbClr val="383838"/>
                </a:solidFill>
                <a:latin typeface="Times New Roman"/>
                <a:cs typeface="Times New Roman"/>
              </a:rPr>
              <a:t>Isl\</a:t>
            </a:r>
            <a:r>
              <a:rPr dirty="0" sz="1400" spc="-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pc="-10">
                <a:solidFill>
                  <a:srgbClr val="0F1111"/>
                </a:solidFill>
              </a:rPr>
              <a:t>No</a:t>
            </a:r>
            <a:r>
              <a:rPr dirty="0" spc="-10">
                <a:solidFill>
                  <a:srgbClr val="383838"/>
                </a:solidFill>
              </a:rPr>
              <a:t>teboo</a:t>
            </a:r>
            <a:r>
              <a:rPr dirty="0" spc="-10">
                <a:solidFill>
                  <a:srgbClr val="1F1F21"/>
                </a:solidFill>
              </a:rPr>
              <a:t>k</a:t>
            </a:r>
            <a:r>
              <a:rPr dirty="0" spc="-10">
                <a:solidFill>
                  <a:srgbClr val="383838"/>
                </a:solidFill>
              </a:rPr>
              <a:t>L</a:t>
            </a:r>
            <a:r>
              <a:rPr dirty="0" spc="-10">
                <a:solidFill>
                  <a:srgbClr val="1F1F21"/>
                </a:solidFill>
              </a:rPr>
              <a:t>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045288" y="5374878"/>
            <a:ext cx="2432685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-15">
                <a:solidFill>
                  <a:srgbClr val="AEB3B5"/>
                </a:solidFill>
                <a:latin typeface="Times New Roman"/>
                <a:cs typeface="Times New Roman"/>
              </a:rPr>
              <a:t>i</a:t>
            </a:r>
            <a:r>
              <a:rPr dirty="0" sz="2800" spc="-640">
                <a:solidFill>
                  <a:srgbClr val="939C9E"/>
                </a:solidFill>
                <a:latin typeface="Times New Roman"/>
                <a:cs typeface="Times New Roman"/>
              </a:rPr>
              <a:t>f</a:t>
            </a:r>
            <a:r>
              <a:rPr dirty="0" sz="1750" spc="-15">
                <a:solidFill>
                  <a:srgbClr val="BDC3C3"/>
                </a:solidFill>
                <a:latin typeface="Times New Roman"/>
                <a:cs typeface="Times New Roman"/>
              </a:rPr>
              <a:t>-</a:t>
            </a:r>
            <a:r>
              <a:rPr dirty="0" sz="1750" spc="80">
                <a:solidFill>
                  <a:srgbClr val="424442"/>
                </a:solidFill>
                <a:latin typeface="Times New Roman"/>
                <a:cs typeface="Times New Roman"/>
              </a:rPr>
              <a:t>Cognitive</a:t>
            </a:r>
            <a:r>
              <a:rPr dirty="0" sz="1750" spc="15">
                <a:solidFill>
                  <a:srgbClr val="424442"/>
                </a:solidFill>
                <a:latin typeface="Times New Roman"/>
                <a:cs typeface="Times New Roman"/>
              </a:rPr>
              <a:t> </a:t>
            </a:r>
            <a:r>
              <a:rPr dirty="0" sz="1750" spc="-25">
                <a:solidFill>
                  <a:srgbClr val="313333"/>
                </a:solidFill>
                <a:latin typeface="Times New Roman"/>
                <a:cs typeface="Times New Roman"/>
              </a:rPr>
              <a:t>Reappraisa</a:t>
            </a:r>
            <a:r>
              <a:rPr dirty="0" sz="1750" spc="-25">
                <a:solidFill>
                  <a:srgbClr val="5D6669"/>
                </a:solidFill>
                <a:latin typeface="Times New Roman"/>
                <a:cs typeface="Times New Roman"/>
              </a:rPr>
              <a:t>17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017571" y="5655732"/>
            <a:ext cx="443230" cy="424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spc="-409">
                <a:solidFill>
                  <a:srgbClr val="AEB3B5"/>
                </a:solidFill>
                <a:latin typeface="Arial"/>
                <a:cs typeface="Arial"/>
              </a:rPr>
              <a:t>·'J</a:t>
            </a:r>
            <a:r>
              <a:rPr dirty="0" sz="2600" spc="325">
                <a:solidFill>
                  <a:srgbClr val="AEB3B5"/>
                </a:solidFill>
                <a:latin typeface="Arial"/>
                <a:cs typeface="Arial"/>
              </a:rPr>
              <a:t> </a:t>
            </a:r>
            <a:r>
              <a:rPr dirty="0" u="heavy" sz="1200" spc="-400">
                <a:solidFill>
                  <a:srgbClr val="AEB3B5"/>
                </a:solidFill>
                <a:uFill>
                  <a:solidFill>
                    <a:srgbClr val="AEB3B5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heavy" sz="1200" spc="500">
                <a:solidFill>
                  <a:srgbClr val="AEB3B5"/>
                </a:solidFill>
                <a:uFill>
                  <a:solidFill>
                    <a:srgbClr val="AEB3B5"/>
                  </a:solidFill>
                </a:uFill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020425" y="5764245"/>
            <a:ext cx="67437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heavy" sz="1750" spc="-10">
                <a:solidFill>
                  <a:srgbClr val="424442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Prompt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228255" y="5847224"/>
            <a:ext cx="14097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1100" spc="-10">
                <a:solidFill>
                  <a:srgbClr val="AEB3B5"/>
                </a:solidFill>
                <a:uFill>
                  <a:solidFill>
                    <a:srgbClr val="AEB3B5"/>
                  </a:solidFill>
                </a:uFill>
                <a:latin typeface="Times New Roman"/>
                <a:cs typeface="Times New Roman"/>
              </a:rPr>
              <a:t>-</a:t>
            </a:r>
            <a:r>
              <a:rPr dirty="0" u="heavy" sz="1100" spc="-50">
                <a:solidFill>
                  <a:srgbClr val="AEB3B5"/>
                </a:solidFill>
                <a:uFill>
                  <a:solidFill>
                    <a:srgbClr val="AEB3B5"/>
                  </a:solidFill>
                </a:uFill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902726" y="6089782"/>
            <a:ext cx="3837304" cy="6845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3345">
              <a:lnSpc>
                <a:spcPts val="1019"/>
              </a:lnSpc>
              <a:spcBef>
                <a:spcPts val="105"/>
              </a:spcBef>
            </a:pPr>
            <a:r>
              <a:rPr dirty="0" sz="900" spc="-50">
                <a:solidFill>
                  <a:srgbClr val="AEB3B5"/>
                </a:solidFill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  <a:p>
            <a:pPr marL="92710">
              <a:lnSpc>
                <a:spcPts val="1080"/>
              </a:lnSpc>
              <a:tabLst>
                <a:tab pos="2844165" algn="l"/>
              </a:tabLst>
            </a:pPr>
            <a:r>
              <a:rPr dirty="0" sz="950" spc="-50">
                <a:solidFill>
                  <a:srgbClr val="AEB3B5"/>
                </a:solidFill>
                <a:latin typeface="Times New Roman"/>
                <a:cs typeface="Times New Roman"/>
              </a:rPr>
              <a:t>I</a:t>
            </a:r>
            <a:r>
              <a:rPr dirty="0" sz="950">
                <a:solidFill>
                  <a:srgbClr val="AEB3B5"/>
                </a:solidFill>
                <a:latin typeface="Times New Roman"/>
                <a:cs typeface="Times New Roman"/>
              </a:rPr>
              <a:t>	</a:t>
            </a:r>
            <a:r>
              <a:rPr dirty="0" sz="950" spc="-50">
                <a:solidFill>
                  <a:srgbClr val="BDC3C3"/>
                </a:solidFill>
                <a:latin typeface="Times New Roman"/>
                <a:cs typeface="Times New Roman"/>
              </a:rPr>
              <a:t>I</a:t>
            </a:r>
            <a:endParaRPr sz="9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925"/>
              </a:spcBef>
              <a:tabLst>
                <a:tab pos="2747645" algn="l"/>
                <a:tab pos="3617595" algn="l"/>
              </a:tabLst>
            </a:pPr>
            <a:r>
              <a:rPr dirty="0" baseline="11695" sz="1425">
                <a:solidFill>
                  <a:srgbClr val="AEB3B5"/>
                </a:solidFill>
                <a:latin typeface="Times New Roman"/>
                <a:cs typeface="Times New Roman"/>
              </a:rPr>
              <a:t>I</a:t>
            </a:r>
            <a:r>
              <a:rPr dirty="0" sz="1300">
                <a:solidFill>
                  <a:srgbClr val="AEB3B5"/>
                </a:solidFill>
                <a:latin typeface="Arial"/>
                <a:cs typeface="Arial"/>
              </a:rPr>
              <a:t>:</a:t>
            </a:r>
            <a:r>
              <a:rPr dirty="0" sz="1300" spc="370">
                <a:solidFill>
                  <a:srgbClr val="AEB3B5"/>
                </a:solidFill>
                <a:latin typeface="Arial"/>
                <a:cs typeface="Arial"/>
              </a:rPr>
              <a:t> </a:t>
            </a:r>
            <a:r>
              <a:rPr dirty="0" u="sng" sz="1300">
                <a:solidFill>
                  <a:srgbClr val="AEB3B5"/>
                </a:solidFill>
                <a:uFill>
                  <a:solidFill>
                    <a:srgbClr val="BCC2C2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1300">
                <a:solidFill>
                  <a:srgbClr val="BDC3C3"/>
                </a:solidFill>
                <a:latin typeface="Arial"/>
                <a:cs typeface="Arial"/>
              </a:rPr>
              <a:t>_</a:t>
            </a:r>
            <a:r>
              <a:rPr dirty="0" u="none" baseline="11695" sz="1425">
                <a:solidFill>
                  <a:srgbClr val="BDC3C3"/>
                </a:solidFill>
                <a:latin typeface="Times New Roman"/>
                <a:cs typeface="Times New Roman"/>
              </a:rPr>
              <a:t>I</a:t>
            </a:r>
            <a:r>
              <a:rPr dirty="0" u="none" sz="1300">
                <a:solidFill>
                  <a:srgbClr val="BDC3C3"/>
                </a:solidFill>
                <a:latin typeface="Arial"/>
                <a:cs typeface="Arial"/>
              </a:rPr>
              <a:t>:_</a:t>
            </a:r>
            <a:r>
              <a:rPr dirty="0" u="none" sz="1300" spc="-200">
                <a:solidFill>
                  <a:srgbClr val="BDC3C3"/>
                </a:solidFill>
                <a:latin typeface="Arial"/>
                <a:cs typeface="Arial"/>
              </a:rPr>
              <a:t> </a:t>
            </a:r>
            <a:r>
              <a:rPr dirty="0" u="sng" sz="1300">
                <a:solidFill>
                  <a:srgbClr val="939C9E"/>
                </a:solidFill>
                <a:uFill>
                  <a:solidFill>
                    <a:srgbClr val="ADB2B4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1300" spc="-310">
                <a:solidFill>
                  <a:srgbClr val="939C9E"/>
                </a:solidFill>
                <a:latin typeface="Arial"/>
                <a:cs typeface="Arial"/>
              </a:rPr>
              <a:t>►</a:t>
            </a:r>
            <a:r>
              <a:rPr dirty="0" u="none" sz="1800" spc="-310">
                <a:solidFill>
                  <a:srgbClr val="BDC3C3"/>
                </a:solidFill>
                <a:latin typeface="Times New Roman"/>
                <a:cs typeface="Times New Roman"/>
              </a:rPr>
              <a:t>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683829" y="6281274"/>
            <a:ext cx="4014470" cy="739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815975">
              <a:lnSpc>
                <a:spcPts val="3910"/>
              </a:lnSpc>
              <a:spcBef>
                <a:spcPts val="114"/>
              </a:spcBef>
              <a:tabLst>
                <a:tab pos="3315970" algn="l"/>
                <a:tab pos="3752215" algn="l"/>
              </a:tabLst>
            </a:pPr>
            <a:r>
              <a:rPr dirty="0" sz="2150" spc="-85" b="1">
                <a:solidFill>
                  <a:srgbClr val="0E0E0C"/>
                </a:solidFill>
                <a:latin typeface="Times New Roman"/>
                <a:cs typeface="Times New Roman"/>
              </a:rPr>
              <a:t>Proximal</a:t>
            </a:r>
            <a:r>
              <a:rPr dirty="0" sz="2150" spc="10" b="1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150" spc="-10" b="1">
                <a:solidFill>
                  <a:srgbClr val="0E0E0C"/>
                </a:solidFill>
                <a:latin typeface="Times New Roman"/>
                <a:cs typeface="Times New Roman"/>
              </a:rPr>
              <a:t>Outcome</a:t>
            </a:r>
            <a:r>
              <a:rPr dirty="0" sz="2150" b="1">
                <a:solidFill>
                  <a:srgbClr val="0E0E0C"/>
                </a:solidFill>
                <a:latin typeface="Times New Roman"/>
                <a:cs typeface="Times New Roman"/>
              </a:rPr>
              <a:t>	</a:t>
            </a:r>
            <a:r>
              <a:rPr dirty="0" sz="2150" spc="-50">
                <a:solidFill>
                  <a:srgbClr val="BDC3C3"/>
                </a:solidFill>
                <a:latin typeface="Times New Roman"/>
                <a:cs typeface="Times New Roman"/>
              </a:rPr>
              <a:t>,</a:t>
            </a:r>
            <a:r>
              <a:rPr dirty="0" sz="2150">
                <a:solidFill>
                  <a:srgbClr val="BDC3C3"/>
                </a:solidFill>
                <a:latin typeface="Times New Roman"/>
                <a:cs typeface="Times New Roman"/>
              </a:rPr>
              <a:t>	</a:t>
            </a:r>
            <a:r>
              <a:rPr dirty="0" baseline="3367" sz="4950" spc="-1387">
                <a:solidFill>
                  <a:srgbClr val="BDC3C3"/>
                </a:solidFill>
                <a:latin typeface="Arial"/>
                <a:cs typeface="Arial"/>
              </a:rPr>
              <a:t>-</a:t>
            </a:r>
            <a:r>
              <a:rPr dirty="0" sz="2400" spc="-620">
                <a:solidFill>
                  <a:srgbClr val="AEB3B5"/>
                </a:solidFill>
                <a:latin typeface="Arial"/>
                <a:cs typeface="Arial"/>
              </a:rPr>
              <a:t>r</a:t>
            </a:r>
            <a:r>
              <a:rPr dirty="0" baseline="3367" sz="4950" spc="-930">
                <a:solidFill>
                  <a:srgbClr val="BDC3C3"/>
                </a:solidFill>
                <a:latin typeface="Arial"/>
                <a:cs typeface="Arial"/>
              </a:rPr>
              <a:t>1</a:t>
            </a:r>
            <a:endParaRPr baseline="3367" sz="4950">
              <a:latin typeface="Arial"/>
              <a:cs typeface="Arial"/>
            </a:endParaRPr>
          </a:p>
          <a:p>
            <a:pPr marL="12700">
              <a:lnSpc>
                <a:spcPts val="1689"/>
              </a:lnSpc>
              <a:tabLst>
                <a:tab pos="3916679" algn="l"/>
              </a:tabLst>
            </a:pPr>
            <a:r>
              <a:rPr dirty="0" u="heavy" sz="1250" spc="-470">
                <a:solidFill>
                  <a:srgbClr val="BDC3C3"/>
                </a:solidFill>
                <a:uFill>
                  <a:solidFill>
                    <a:srgbClr val="BDC3C3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heavy" sz="1250" spc="350">
                <a:solidFill>
                  <a:srgbClr val="BDC3C3"/>
                </a:solidFill>
                <a:uFill>
                  <a:solidFill>
                    <a:srgbClr val="BDC3C3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none" sz="1250" spc="195">
                <a:solidFill>
                  <a:srgbClr val="BDC3C3"/>
                </a:solidFill>
                <a:latin typeface="Times New Roman"/>
                <a:cs typeface="Times New Roman"/>
              </a:rPr>
              <a:t>  </a:t>
            </a:r>
            <a:r>
              <a:rPr dirty="0" u="heavy" sz="1450" spc="-20">
                <a:solidFill>
                  <a:srgbClr val="424442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(e.g.,</a:t>
            </a:r>
            <a:r>
              <a:rPr dirty="0" u="heavy" sz="1450" spc="-75">
                <a:solidFill>
                  <a:srgbClr val="424442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50">
                <a:solidFill>
                  <a:srgbClr val="313333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Reduce</a:t>
            </a:r>
            <a:r>
              <a:rPr dirty="0" u="heavy" sz="1450" spc="-155">
                <a:solidFill>
                  <a:srgbClr val="313333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50">
                <a:solidFill>
                  <a:srgbClr val="424442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craving</a:t>
            </a:r>
            <a:r>
              <a:rPr dirty="0" u="heavy" sz="1450" spc="-50">
                <a:solidFill>
                  <a:srgbClr val="424442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50">
                <a:solidFill>
                  <a:srgbClr val="313333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by</a:t>
            </a:r>
            <a:r>
              <a:rPr dirty="0" u="heavy" sz="1450" spc="-160">
                <a:solidFill>
                  <a:srgbClr val="313333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50">
                <a:solidFill>
                  <a:srgbClr val="424442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heavy" sz="1450" spc="80">
                <a:solidFill>
                  <a:srgbClr val="424442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50">
                <a:solidFill>
                  <a:srgbClr val="424442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poin</a:t>
            </a:r>
            <a:r>
              <a:rPr dirty="0" u="heavy" sz="1450">
                <a:solidFill>
                  <a:srgbClr val="1C1C1C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heavy" sz="1450">
                <a:solidFill>
                  <a:srgbClr val="424442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heavy" sz="1450" spc="85">
                <a:solidFill>
                  <a:srgbClr val="424442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50" spc="55">
                <a:solidFill>
                  <a:srgbClr val="424442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heavy" sz="1450" spc="50">
                <a:solidFill>
                  <a:srgbClr val="424442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50">
                <a:solidFill>
                  <a:srgbClr val="313333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IS</a:t>
            </a:r>
            <a:r>
              <a:rPr dirty="0" u="heavy" sz="1450" spc="-120">
                <a:solidFill>
                  <a:srgbClr val="313333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50">
                <a:solidFill>
                  <a:srgbClr val="424442"/>
                </a:solidFill>
                <a:uFill>
                  <a:solidFill>
                    <a:srgbClr val="424442"/>
                  </a:solidFill>
                </a:uFill>
                <a:latin typeface="Times New Roman"/>
                <a:cs typeface="Times New Roman"/>
              </a:rPr>
              <a:t>mins)</a:t>
            </a:r>
            <a:r>
              <a:rPr dirty="0" u="heavy" sz="1250">
                <a:solidFill>
                  <a:srgbClr val="BDC3C3"/>
                </a:solidFill>
                <a:uFill>
                  <a:solidFill>
                    <a:srgbClr val="BDC3C3"/>
                  </a:solidFill>
                </a:uFill>
                <a:latin typeface="Times New Roman"/>
                <a:cs typeface="Times New Roman"/>
              </a:rPr>
              <a:t>J</a:t>
            </a:r>
            <a:r>
              <a:rPr dirty="0" u="none" sz="1250" spc="225">
                <a:solidFill>
                  <a:srgbClr val="BDC3C3"/>
                </a:solidFill>
                <a:latin typeface="Times New Roman"/>
                <a:cs typeface="Times New Roman"/>
              </a:rPr>
              <a:t> </a:t>
            </a:r>
            <a:r>
              <a:rPr dirty="0" u="none" sz="1250" spc="-50">
                <a:solidFill>
                  <a:srgbClr val="BDC3C3"/>
                </a:solidFill>
                <a:latin typeface="Times New Roman"/>
                <a:cs typeface="Times New Roman"/>
              </a:rPr>
              <a:t>.</a:t>
            </a:r>
            <a:r>
              <a:rPr dirty="0" u="none" sz="1250">
                <a:solidFill>
                  <a:srgbClr val="BDC3C3"/>
                </a:solidFill>
                <a:latin typeface="Times New Roman"/>
                <a:cs typeface="Times New Roman"/>
              </a:rPr>
              <a:t>	</a:t>
            </a:r>
            <a:r>
              <a:rPr dirty="0" u="none" sz="1050" spc="-25">
                <a:solidFill>
                  <a:srgbClr val="BDC3C3"/>
                </a:solidFill>
                <a:latin typeface="Times New Roman"/>
                <a:cs typeface="Times New Roman"/>
              </a:rPr>
              <a:t>!;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1614519" y="5508923"/>
            <a:ext cx="193357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28295" algn="l"/>
              </a:tabLst>
            </a:pPr>
            <a:r>
              <a:rPr dirty="0" sz="1750" spc="-50">
                <a:solidFill>
                  <a:srgbClr val="BDC3C3"/>
                </a:solidFill>
                <a:latin typeface="Times New Roman"/>
                <a:cs typeface="Times New Roman"/>
              </a:rPr>
              <a:t>r</a:t>
            </a:r>
            <a:r>
              <a:rPr dirty="0" sz="1750">
                <a:solidFill>
                  <a:srgbClr val="BDC3C3"/>
                </a:solidFill>
                <a:latin typeface="Times New Roman"/>
                <a:cs typeface="Times New Roman"/>
              </a:rPr>
              <a:t>	</a:t>
            </a:r>
            <a:r>
              <a:rPr dirty="0" sz="1750" spc="-35">
                <a:solidFill>
                  <a:srgbClr val="424442"/>
                </a:solidFill>
                <a:latin typeface="Times New Roman"/>
                <a:cs typeface="Times New Roman"/>
              </a:rPr>
              <a:t>Distress</a:t>
            </a:r>
            <a:r>
              <a:rPr dirty="0" sz="1750" spc="-55">
                <a:solidFill>
                  <a:srgbClr val="424442"/>
                </a:solidFill>
                <a:latin typeface="Times New Roman"/>
                <a:cs typeface="Times New Roman"/>
              </a:rPr>
              <a:t> </a:t>
            </a:r>
            <a:r>
              <a:rPr dirty="0" sz="1750" spc="-120">
                <a:solidFill>
                  <a:srgbClr val="313333"/>
                </a:solidFill>
                <a:latin typeface="Times New Roman"/>
                <a:cs typeface="Times New Roman"/>
              </a:rPr>
              <a:t>T�leranc</a:t>
            </a:r>
            <a:r>
              <a:rPr dirty="0" sz="1750" spc="-120">
                <a:solidFill>
                  <a:srgbClr val="313333"/>
                </a:solidFill>
                <a:latin typeface="Times New Roman"/>
                <a:cs typeface="Times New Roman"/>
              </a:rPr>
              <a:t>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3596849" y="5489773"/>
            <a:ext cx="46672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37037" sz="1575" spc="217">
                <a:solidFill>
                  <a:srgbClr val="AEB3B5"/>
                </a:solidFill>
                <a:latin typeface="Arial"/>
                <a:cs typeface="Arial"/>
              </a:rPr>
              <a:t>7</a:t>
            </a:r>
            <a:r>
              <a:rPr dirty="0" sz="1900" spc="145">
                <a:solidFill>
                  <a:srgbClr val="939C9E"/>
                </a:solidFill>
                <a:latin typeface="Times New Roman"/>
                <a:cs typeface="Times New Roman"/>
              </a:rPr>
              <a:t>·</a:t>
            </a:r>
            <a:r>
              <a:rPr dirty="0" sz="1900" spc="145">
                <a:solidFill>
                  <a:srgbClr val="AEB3B5"/>
                </a:solidFill>
                <a:latin typeface="Times New Roman"/>
                <a:cs typeface="Times New Roman"/>
              </a:rPr>
              <a:t>ri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1727681" y="5808926"/>
            <a:ext cx="16764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325">
                <a:solidFill>
                  <a:srgbClr val="BDC3C3"/>
                </a:solidFill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2363125" y="5738713"/>
            <a:ext cx="76073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30">
                <a:solidFill>
                  <a:srgbClr val="424442"/>
                </a:solidFill>
                <a:latin typeface="Times New Roman"/>
                <a:cs typeface="Times New Roman"/>
              </a:rPr>
              <a:t>Exercise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3618590" y="5719564"/>
            <a:ext cx="41846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69240" algn="l"/>
              </a:tabLst>
            </a:pPr>
            <a:r>
              <a:rPr dirty="0" sz="1100" spc="-25">
                <a:solidFill>
                  <a:srgbClr val="AEB3B5"/>
                </a:solidFill>
                <a:latin typeface="Times New Roman"/>
                <a:cs typeface="Times New Roman"/>
              </a:rPr>
              <a:t>.J</a:t>
            </a:r>
            <a:r>
              <a:rPr dirty="0" sz="1100">
                <a:solidFill>
                  <a:srgbClr val="AEB3B5"/>
                </a:solidFill>
                <a:latin typeface="Times New Roman"/>
                <a:cs typeface="Times New Roman"/>
              </a:rPr>
              <a:t>	</a:t>
            </a:r>
            <a:r>
              <a:rPr dirty="0" sz="1900" spc="-175">
                <a:solidFill>
                  <a:srgbClr val="BDC3C3"/>
                </a:solidFill>
                <a:latin typeface="Times New Roman"/>
                <a:cs typeface="Times New Roman"/>
              </a:rPr>
              <a:t>lb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1649350" y="5962120"/>
            <a:ext cx="23285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870" i="1">
                <a:solidFill>
                  <a:srgbClr val="424442"/>
                </a:solidFill>
                <a:latin typeface="Times New Roman"/>
                <a:cs typeface="Times New Roman"/>
              </a:rPr>
              <a:t>�-</a:t>
            </a:r>
            <a:r>
              <a:rPr dirty="0" sz="1000" spc="940" i="1">
                <a:solidFill>
                  <a:srgbClr val="424442"/>
                </a:solidFill>
                <a:latin typeface="Times New Roman"/>
                <a:cs typeface="Times New Roman"/>
              </a:rPr>
              <a:t>---</a:t>
            </a:r>
            <a:r>
              <a:rPr dirty="0" sz="1000" spc="755" i="1">
                <a:solidFill>
                  <a:srgbClr val="424442"/>
                </a:solidFill>
                <a:latin typeface="Times New Roman"/>
                <a:cs typeface="Times New Roman"/>
              </a:rPr>
              <a:t>...-</a:t>
            </a:r>
            <a:r>
              <a:rPr dirty="0" sz="1000" spc="940" i="1">
                <a:solidFill>
                  <a:srgbClr val="424442"/>
                </a:solidFill>
                <a:latin typeface="Times New Roman"/>
                <a:cs typeface="Times New Roman"/>
              </a:rPr>
              <a:t>-</a:t>
            </a:r>
            <a:r>
              <a:rPr dirty="0" sz="1000" spc="890" i="1">
                <a:solidFill>
                  <a:srgbClr val="424442"/>
                </a:solidFill>
                <a:latin typeface="Times New Roman"/>
                <a:cs typeface="Times New Roman"/>
              </a:rPr>
              <a:t>-</a:t>
            </a:r>
            <a:r>
              <a:rPr dirty="0" sz="1000" spc="440" i="1">
                <a:solidFill>
                  <a:srgbClr val="424442"/>
                </a:solidFill>
                <a:latin typeface="Times New Roman"/>
                <a:cs typeface="Times New Roman"/>
              </a:rPr>
              <a:t>�</a:t>
            </a:r>
            <a:r>
              <a:rPr dirty="0" sz="1000" spc="440" b="1">
                <a:solidFill>
                  <a:srgbClr val="80878A"/>
                </a:solidFill>
                <a:latin typeface="Times New Roman"/>
                <a:cs typeface="Times New Roman"/>
              </a:rPr>
              <a:t>t</a:t>
            </a:r>
            <a:r>
              <a:rPr dirty="0" sz="1000" spc="440" b="1">
                <a:solidFill>
                  <a:srgbClr val="BDC3C3"/>
                </a:solidFill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36429" y="7494058"/>
            <a:ext cx="15703550" cy="16954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14"/>
              </a:spcBef>
            </a:pPr>
            <a:r>
              <a:rPr dirty="0" sz="2850" spc="95" b="1">
                <a:solidFill>
                  <a:srgbClr val="0E0E0C"/>
                </a:solidFill>
                <a:latin typeface="Times New Roman"/>
                <a:cs typeface="Times New Roman"/>
              </a:rPr>
              <a:t>Decision</a:t>
            </a:r>
            <a:r>
              <a:rPr dirty="0" sz="2850" spc="75" b="1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850" b="1">
                <a:solidFill>
                  <a:srgbClr val="0E0E0C"/>
                </a:solidFill>
                <a:latin typeface="Times New Roman"/>
                <a:cs typeface="Times New Roman"/>
              </a:rPr>
              <a:t>Rules:</a:t>
            </a:r>
            <a:r>
              <a:rPr dirty="0" sz="2850" spc="-190" b="1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 spc="55">
                <a:solidFill>
                  <a:srgbClr val="0E0E0C"/>
                </a:solidFill>
                <a:latin typeface="Times New Roman"/>
                <a:cs typeface="Times New Roman"/>
              </a:rPr>
              <a:t>The</a:t>
            </a:r>
            <a:r>
              <a:rPr dirty="0" sz="2900" spc="-204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0E0E0C"/>
                </a:solidFill>
                <a:latin typeface="Times New Roman"/>
                <a:cs typeface="Times New Roman"/>
              </a:rPr>
              <a:t>logic</a:t>
            </a:r>
            <a:r>
              <a:rPr dirty="0" sz="2900" spc="-5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 spc="90">
                <a:solidFill>
                  <a:srgbClr val="0E0E0C"/>
                </a:solidFill>
                <a:latin typeface="Times New Roman"/>
                <a:cs typeface="Times New Roman"/>
              </a:rPr>
              <a:t>that</a:t>
            </a:r>
            <a:r>
              <a:rPr dirty="0" sz="2900" spc="-11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 spc="70">
                <a:solidFill>
                  <a:srgbClr val="0E0E0C"/>
                </a:solidFill>
                <a:latin typeface="Times New Roman"/>
                <a:cs typeface="Times New Roman"/>
              </a:rPr>
              <a:t>determines</a:t>
            </a:r>
            <a:r>
              <a:rPr dirty="0" sz="2900" spc="35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 spc="85">
                <a:solidFill>
                  <a:srgbClr val="0E0E0C"/>
                </a:solidFill>
                <a:latin typeface="Times New Roman"/>
                <a:cs typeface="Times New Roman"/>
              </a:rPr>
              <a:t>IF</a:t>
            </a:r>
            <a:r>
              <a:rPr dirty="0" sz="2900" spc="-204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 spc="110">
                <a:solidFill>
                  <a:srgbClr val="1C1C1C"/>
                </a:solidFill>
                <a:latin typeface="Times New Roman"/>
                <a:cs typeface="Times New Roman"/>
              </a:rPr>
              <a:t>and</a:t>
            </a:r>
            <a:r>
              <a:rPr dirty="0" sz="2900" spc="-7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0E0E0C"/>
                </a:solidFill>
                <a:latin typeface="Times New Roman"/>
                <a:cs typeface="Times New Roman"/>
              </a:rPr>
              <a:t>WHAT</a:t>
            </a:r>
            <a:r>
              <a:rPr dirty="0" sz="2900" spc="45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 spc="55">
                <a:solidFill>
                  <a:srgbClr val="0E0E0C"/>
                </a:solidFill>
                <a:latin typeface="Times New Roman"/>
                <a:cs typeface="Times New Roman"/>
              </a:rPr>
              <a:t>intervention</a:t>
            </a:r>
            <a:r>
              <a:rPr dirty="0" sz="2900" spc="18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 spc="60">
                <a:solidFill>
                  <a:srgbClr val="0E0E0C"/>
                </a:solidFill>
                <a:latin typeface="Times New Roman"/>
                <a:cs typeface="Times New Roman"/>
              </a:rPr>
              <a:t>is</a:t>
            </a:r>
            <a:r>
              <a:rPr dirty="0" sz="2900" spc="-235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 spc="85">
                <a:solidFill>
                  <a:srgbClr val="1C1C1C"/>
                </a:solidFill>
                <a:latin typeface="Times New Roman"/>
                <a:cs typeface="Times New Roman"/>
              </a:rPr>
              <a:t>sent.</a:t>
            </a:r>
            <a:endParaRPr sz="2900">
              <a:latin typeface="Times New Roman"/>
              <a:cs typeface="Times New Roman"/>
            </a:endParaRPr>
          </a:p>
          <a:p>
            <a:pPr marL="19685" marR="5080" indent="-7620">
              <a:lnSpc>
                <a:spcPct val="101099"/>
              </a:lnSpc>
              <a:spcBef>
                <a:spcPts val="2610"/>
              </a:spcBef>
            </a:pPr>
            <a:r>
              <a:rPr dirty="0" sz="2850" b="1">
                <a:solidFill>
                  <a:srgbClr val="0E0E0C"/>
                </a:solidFill>
                <a:latin typeface="Times New Roman"/>
                <a:cs typeface="Times New Roman"/>
              </a:rPr>
              <a:t>Significance:</a:t>
            </a:r>
            <a:r>
              <a:rPr dirty="0" sz="2850" spc="110" b="1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1C1C1C"/>
                </a:solidFill>
                <a:latin typeface="Times New Roman"/>
                <a:cs typeface="Times New Roman"/>
              </a:rPr>
              <a:t>Automating</a:t>
            </a:r>
            <a:r>
              <a:rPr dirty="0" sz="2900" spc="27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2900" spc="100">
                <a:solidFill>
                  <a:srgbClr val="0E0E0C"/>
                </a:solidFill>
                <a:latin typeface="Times New Roman"/>
                <a:cs typeface="Times New Roman"/>
              </a:rPr>
              <a:t>the</a:t>
            </a:r>
            <a:r>
              <a:rPr dirty="0" sz="2900" spc="-3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0E0E0C"/>
                </a:solidFill>
                <a:latin typeface="Times New Roman"/>
                <a:cs typeface="Times New Roman"/>
              </a:rPr>
              <a:t>delivery</a:t>
            </a:r>
            <a:r>
              <a:rPr dirty="0" sz="2900" spc="5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 spc="60">
                <a:solidFill>
                  <a:srgbClr val="0E0E0C"/>
                </a:solidFill>
                <a:latin typeface="Times New Roman"/>
                <a:cs typeface="Times New Roman"/>
              </a:rPr>
              <a:t>of</a:t>
            </a:r>
            <a:r>
              <a:rPr dirty="0" sz="2900" spc="-10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 spc="105">
                <a:solidFill>
                  <a:srgbClr val="0E0E0C"/>
                </a:solidFill>
                <a:latin typeface="Times New Roman"/>
                <a:cs typeface="Times New Roman"/>
              </a:rPr>
              <a:t>support</a:t>
            </a:r>
            <a:r>
              <a:rPr dirty="0" sz="2900" spc="185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1C1C1C"/>
                </a:solidFill>
                <a:latin typeface="Times New Roman"/>
                <a:cs typeface="Times New Roman"/>
              </a:rPr>
              <a:t>(like</a:t>
            </a:r>
            <a:r>
              <a:rPr dirty="0" sz="2900" spc="-1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2900" spc="60">
                <a:solidFill>
                  <a:srgbClr val="0E0E0C"/>
                </a:solidFill>
                <a:latin typeface="Times New Roman"/>
                <a:cs typeface="Times New Roman"/>
              </a:rPr>
              <a:t>'rolling</a:t>
            </a:r>
            <a:r>
              <a:rPr dirty="0" sz="2900" spc="-7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 spc="75">
                <a:solidFill>
                  <a:srgbClr val="1C1C1C"/>
                </a:solidFill>
                <a:latin typeface="Times New Roman"/>
                <a:cs typeface="Times New Roman"/>
              </a:rPr>
              <a:t>with</a:t>
            </a:r>
            <a:r>
              <a:rPr dirty="0" sz="2900" spc="16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0E0E0C"/>
                </a:solidFill>
                <a:latin typeface="Times New Roman"/>
                <a:cs typeface="Times New Roman"/>
              </a:rPr>
              <a:t>resistance')</a:t>
            </a:r>
            <a:r>
              <a:rPr dirty="0" sz="2900" spc="36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 spc="55">
                <a:solidFill>
                  <a:srgbClr val="0E0E0C"/>
                </a:solidFill>
                <a:latin typeface="Times New Roman"/>
                <a:cs typeface="Times New Roman"/>
              </a:rPr>
              <a:t>without</a:t>
            </a:r>
            <a:r>
              <a:rPr dirty="0" sz="2900" spc="24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 spc="100">
                <a:solidFill>
                  <a:srgbClr val="0E0E0C"/>
                </a:solidFill>
                <a:latin typeface="Times New Roman"/>
                <a:cs typeface="Times New Roman"/>
              </a:rPr>
              <a:t>the</a:t>
            </a:r>
            <a:r>
              <a:rPr dirty="0" sz="2900" spc="-2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 spc="50">
                <a:solidFill>
                  <a:srgbClr val="0E0E0C"/>
                </a:solidFill>
                <a:latin typeface="Times New Roman"/>
                <a:cs typeface="Times New Roman"/>
              </a:rPr>
              <a:t>immediate </a:t>
            </a:r>
            <a:r>
              <a:rPr dirty="0" sz="2900">
                <a:solidFill>
                  <a:srgbClr val="0E0E0C"/>
                </a:solidFill>
                <a:latin typeface="Times New Roman"/>
                <a:cs typeface="Times New Roman"/>
              </a:rPr>
              <a:t>presence</a:t>
            </a:r>
            <a:r>
              <a:rPr dirty="0" sz="2900" spc="135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 spc="60">
                <a:solidFill>
                  <a:srgbClr val="0E0E0C"/>
                </a:solidFill>
                <a:latin typeface="Times New Roman"/>
                <a:cs typeface="Times New Roman"/>
              </a:rPr>
              <a:t>of</a:t>
            </a:r>
            <a:r>
              <a:rPr dirty="0" sz="2900" spc="-85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 spc="60">
                <a:solidFill>
                  <a:srgbClr val="0E0E0C"/>
                </a:solidFill>
                <a:latin typeface="Times New Roman"/>
                <a:cs typeface="Times New Roman"/>
              </a:rPr>
              <a:t>a</a:t>
            </a:r>
            <a:r>
              <a:rPr dirty="0" sz="2900" spc="15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dirty="0" sz="2900" spc="-10">
                <a:solidFill>
                  <a:srgbClr val="1C1C1C"/>
                </a:solidFill>
                <a:latin typeface="Times New Roman"/>
                <a:cs typeface="Times New Roman"/>
              </a:rPr>
              <a:t>clinician.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9505" y="2144976"/>
            <a:ext cx="1273691" cy="135321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9732" y="2221574"/>
            <a:ext cx="1426535" cy="13532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77327" y="2119444"/>
            <a:ext cx="1273691" cy="137874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324031" y="4289689"/>
            <a:ext cx="6852920" cy="4085590"/>
            <a:chOff x="5324031" y="4289689"/>
            <a:chExt cx="6852920" cy="408559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4031" y="4289689"/>
              <a:ext cx="6852462" cy="408516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4145" y="6970580"/>
              <a:ext cx="1375587" cy="1327679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5018346" y="2936477"/>
            <a:ext cx="0" cy="2170430"/>
          </a:xfrm>
          <a:custGeom>
            <a:avLst/>
            <a:gdLst/>
            <a:ahLst/>
            <a:cxnLst/>
            <a:rect l="l" t="t" r="r" b="b"/>
            <a:pathLst>
              <a:path w="0" h="2170429">
                <a:moveTo>
                  <a:pt x="0" y="217024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11295" y="3498187"/>
            <a:ext cx="0" cy="1302385"/>
          </a:xfrm>
          <a:custGeom>
            <a:avLst/>
            <a:gdLst/>
            <a:ahLst/>
            <a:cxnLst/>
            <a:rect l="l" t="t" r="r" b="b"/>
            <a:pathLst>
              <a:path w="0" h="1302385">
                <a:moveTo>
                  <a:pt x="0" y="130214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725093" y="6306738"/>
            <a:ext cx="0" cy="664210"/>
          </a:xfrm>
          <a:custGeom>
            <a:avLst/>
            <a:gdLst/>
            <a:ahLst/>
            <a:cxnLst/>
            <a:rect l="l" t="t" r="r" b="b"/>
            <a:pathLst>
              <a:path w="0" h="664209">
                <a:moveTo>
                  <a:pt x="0" y="663839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336465" y="1787524"/>
            <a:ext cx="0" cy="612775"/>
          </a:xfrm>
          <a:custGeom>
            <a:avLst/>
            <a:gdLst/>
            <a:ahLst/>
            <a:cxnLst/>
            <a:rect l="l" t="t" r="r" b="b"/>
            <a:pathLst>
              <a:path w="0" h="612775">
                <a:moveTo>
                  <a:pt x="0" y="61277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126154" y="3574784"/>
            <a:ext cx="0" cy="715010"/>
          </a:xfrm>
          <a:custGeom>
            <a:avLst/>
            <a:gdLst/>
            <a:ahLst/>
            <a:cxnLst/>
            <a:rect l="l" t="t" r="r" b="b"/>
            <a:pathLst>
              <a:path w="0" h="715010">
                <a:moveTo>
                  <a:pt x="0" y="714903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737526" y="1787524"/>
            <a:ext cx="0" cy="434340"/>
          </a:xfrm>
          <a:custGeom>
            <a:avLst/>
            <a:gdLst/>
            <a:ahLst/>
            <a:cxnLst/>
            <a:rect l="l" t="t" r="r" b="b"/>
            <a:pathLst>
              <a:path w="0" h="434339">
                <a:moveTo>
                  <a:pt x="0" y="43404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374372" y="3574784"/>
            <a:ext cx="0" cy="715010"/>
          </a:xfrm>
          <a:custGeom>
            <a:avLst/>
            <a:gdLst/>
            <a:ahLst/>
            <a:cxnLst/>
            <a:rect l="l" t="t" r="r" b="b"/>
            <a:pathLst>
              <a:path w="0" h="715010">
                <a:moveTo>
                  <a:pt x="0" y="714903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2176494" y="3498187"/>
            <a:ext cx="0" cy="1353820"/>
          </a:xfrm>
          <a:custGeom>
            <a:avLst/>
            <a:gdLst/>
            <a:ahLst/>
            <a:cxnLst/>
            <a:rect l="l" t="t" r="r" b="b"/>
            <a:pathLst>
              <a:path w="0" h="1353820">
                <a:moveTo>
                  <a:pt x="0" y="1353211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482180" y="5796093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482180" y="2936477"/>
            <a:ext cx="0" cy="2400300"/>
          </a:xfrm>
          <a:custGeom>
            <a:avLst/>
            <a:gdLst/>
            <a:ahLst/>
            <a:cxnLst/>
            <a:rect l="l" t="t" r="r" b="b"/>
            <a:pathLst>
              <a:path w="0" h="2400300">
                <a:moveTo>
                  <a:pt x="0" y="240003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42532" y="1315177"/>
            <a:ext cx="1910714" cy="0"/>
          </a:xfrm>
          <a:custGeom>
            <a:avLst/>
            <a:gdLst/>
            <a:ahLst/>
            <a:cxnLst/>
            <a:rect l="l" t="t" r="r" b="b"/>
            <a:pathLst>
              <a:path w="1910714" h="0">
                <a:moveTo>
                  <a:pt x="0" y="0"/>
                </a:moveTo>
                <a:lnTo>
                  <a:pt x="1910537" y="0"/>
                </a:lnTo>
              </a:path>
            </a:pathLst>
          </a:custGeom>
          <a:ln w="1021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310991" y="1927952"/>
            <a:ext cx="1477645" cy="0"/>
          </a:xfrm>
          <a:custGeom>
            <a:avLst/>
            <a:gdLst/>
            <a:ahLst/>
            <a:cxnLst/>
            <a:rect l="l" t="t" r="r" b="b"/>
            <a:pathLst>
              <a:path w="1477645" h="0">
                <a:moveTo>
                  <a:pt x="0" y="0"/>
                </a:moveTo>
                <a:lnTo>
                  <a:pt x="1477482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865503" y="2157742"/>
            <a:ext cx="3184525" cy="0"/>
          </a:xfrm>
          <a:custGeom>
            <a:avLst/>
            <a:gdLst/>
            <a:ahLst/>
            <a:cxnLst/>
            <a:rect l="l" t="t" r="r" b="b"/>
            <a:pathLst>
              <a:path w="3184525" h="0">
                <a:moveTo>
                  <a:pt x="0" y="0"/>
                </a:moveTo>
                <a:lnTo>
                  <a:pt x="318422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1998177" y="4174793"/>
            <a:ext cx="636905" cy="0"/>
          </a:xfrm>
          <a:custGeom>
            <a:avLst/>
            <a:gdLst/>
            <a:ahLst/>
            <a:cxnLst/>
            <a:rect l="l" t="t" r="r" b="b"/>
            <a:pathLst>
              <a:path w="636904" h="0">
                <a:moveTo>
                  <a:pt x="0" y="0"/>
                </a:moveTo>
                <a:lnTo>
                  <a:pt x="63684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1004698" y="6217375"/>
            <a:ext cx="1630680" cy="0"/>
          </a:xfrm>
          <a:custGeom>
            <a:avLst/>
            <a:gdLst/>
            <a:ahLst/>
            <a:cxnLst/>
            <a:rect l="l" t="t" r="r" b="b"/>
            <a:pathLst>
              <a:path w="1630679" h="0">
                <a:moveTo>
                  <a:pt x="0" y="0"/>
                </a:moveTo>
                <a:lnTo>
                  <a:pt x="163032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049732" y="8323789"/>
            <a:ext cx="3209925" cy="0"/>
          </a:xfrm>
          <a:custGeom>
            <a:avLst/>
            <a:gdLst/>
            <a:ahLst/>
            <a:cxnLst/>
            <a:rect l="l" t="t" r="r" b="b"/>
            <a:pathLst>
              <a:path w="3209925" h="0">
                <a:moveTo>
                  <a:pt x="0" y="0"/>
                </a:moveTo>
                <a:lnTo>
                  <a:pt x="3209703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674146" y="8528047"/>
            <a:ext cx="4152265" cy="0"/>
          </a:xfrm>
          <a:custGeom>
            <a:avLst/>
            <a:gdLst/>
            <a:ahLst/>
            <a:cxnLst/>
            <a:rect l="l" t="t" r="r" b="b"/>
            <a:pathLst>
              <a:path w="4152265" h="0">
                <a:moveTo>
                  <a:pt x="0" y="0"/>
                </a:moveTo>
                <a:lnTo>
                  <a:pt x="415223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81940">
              <a:lnSpc>
                <a:spcPct val="100000"/>
              </a:lnSpc>
              <a:spcBef>
                <a:spcPts val="125"/>
              </a:spcBef>
            </a:pPr>
            <a:r>
              <a:rPr dirty="0" spc="114"/>
              <a:t>Identified</a:t>
            </a:r>
            <a:r>
              <a:rPr dirty="0" spc="-55"/>
              <a:t> </a:t>
            </a:r>
            <a:r>
              <a:rPr dirty="0" spc="114"/>
              <a:t>Research</a:t>
            </a:r>
            <a:r>
              <a:rPr dirty="0" spc="20"/>
              <a:t> </a:t>
            </a:r>
            <a:r>
              <a:rPr dirty="0" spc="165"/>
              <a:t>Gaps</a:t>
            </a:r>
            <a:r>
              <a:rPr dirty="0" spc="-280"/>
              <a:t> </a:t>
            </a:r>
            <a:r>
              <a:rPr dirty="0" spc="155"/>
              <a:t>and</a:t>
            </a:r>
            <a:r>
              <a:rPr dirty="0" spc="-270"/>
              <a:t> </a:t>
            </a:r>
            <a:r>
              <a:rPr dirty="0" spc="135"/>
              <a:t>Future</a:t>
            </a:r>
            <a:r>
              <a:rPr dirty="0" spc="-240"/>
              <a:t> </a:t>
            </a:r>
            <a:r>
              <a:rPr dirty="0" spc="-10"/>
              <a:t>Inquiry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325529" y="1864188"/>
            <a:ext cx="28892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300" spc="-10">
                <a:solidFill>
                  <a:srgbClr val="8C9599"/>
                </a:solidFill>
                <a:latin typeface="Arial"/>
                <a:cs typeface="Arial"/>
              </a:rPr>
              <a:t>-</a:t>
            </a:r>
            <a:r>
              <a:rPr dirty="0" sz="1300" spc="-65">
                <a:solidFill>
                  <a:srgbClr val="8C9599"/>
                </a:solidFill>
                <a:latin typeface="Arial"/>
                <a:cs typeface="Arial"/>
              </a:rPr>
              <a:t>•-</a:t>
            </a:r>
            <a:r>
              <a:rPr dirty="0" baseline="27777" sz="2100" spc="-75">
                <a:solidFill>
                  <a:srgbClr val="A8B1B5"/>
                </a:solidFill>
                <a:latin typeface="Times New Roman"/>
                <a:cs typeface="Times New Roman"/>
              </a:rPr>
              <a:t>I</a:t>
            </a:r>
            <a:endParaRPr baseline="27777" sz="2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04448" y="1991848"/>
            <a:ext cx="8445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solidFill>
                  <a:srgbClr val="A8B1B5"/>
                </a:solidFill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50664" y="1998233"/>
            <a:ext cx="151130" cy="569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u="heavy" sz="3550" spc="-50">
                <a:solidFill>
                  <a:srgbClr val="A8B1B5"/>
                </a:solidFill>
                <a:uFill>
                  <a:solidFill>
                    <a:srgbClr val="A8B1B5"/>
                  </a:solidFill>
                </a:uFill>
                <a:latin typeface="Arial"/>
                <a:cs typeface="Arial"/>
              </a:rPr>
              <a:t>f</a:t>
            </a:r>
            <a:endParaRPr sz="35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414498" y="1998233"/>
            <a:ext cx="151130" cy="569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u="heavy" sz="3550" spc="-50">
                <a:solidFill>
                  <a:srgbClr val="A8B1B5"/>
                </a:solidFill>
                <a:uFill>
                  <a:solidFill>
                    <a:srgbClr val="A8B1B5"/>
                  </a:solidFill>
                </a:uFill>
                <a:latin typeface="Arial"/>
                <a:cs typeface="Arial"/>
              </a:rPr>
              <a:t>f</a:t>
            </a:r>
            <a:endParaRPr sz="35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438168" y="1806740"/>
            <a:ext cx="364807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3258820" algn="l"/>
              </a:tabLst>
            </a:pPr>
            <a:r>
              <a:rPr dirty="0" u="heavy" sz="2050">
                <a:solidFill>
                  <a:srgbClr val="8C9599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2050" spc="-35">
                <a:solidFill>
                  <a:srgbClr val="8C9599"/>
                </a:solidFill>
                <a:latin typeface="Times New Roman"/>
                <a:cs typeface="Times New Roman"/>
              </a:rPr>
              <a:t> </a:t>
            </a:r>
            <a:r>
              <a:rPr dirty="0" u="none" sz="2050" spc="-20">
                <a:solidFill>
                  <a:srgbClr val="8C9599"/>
                </a:solidFill>
                <a:latin typeface="Times New Roman"/>
                <a:cs typeface="Times New Roman"/>
              </a:rPr>
              <a:t>-</a:t>
            </a:r>
            <a:r>
              <a:rPr dirty="0" u="none" sz="2050">
                <a:solidFill>
                  <a:srgbClr val="8C9599"/>
                </a:solidFill>
                <a:latin typeface="Times New Roman"/>
                <a:cs typeface="Times New Roman"/>
              </a:rPr>
              <a:t>·</a:t>
            </a:r>
            <a:r>
              <a:rPr dirty="0" u="none" baseline="31746" sz="2100">
                <a:solidFill>
                  <a:srgbClr val="A8B1B5"/>
                </a:solidFill>
                <a:latin typeface="Times New Roman"/>
                <a:cs typeface="Times New Roman"/>
              </a:rPr>
              <a:t>I</a:t>
            </a:r>
            <a:r>
              <a:rPr dirty="0" u="none" sz="2050">
                <a:solidFill>
                  <a:srgbClr val="8C9599"/>
                </a:solidFill>
                <a:latin typeface="Times New Roman"/>
                <a:cs typeface="Times New Roman"/>
              </a:rPr>
              <a:t>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936283" y="1991848"/>
            <a:ext cx="8445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solidFill>
                  <a:srgbClr val="A8B1B5"/>
                </a:solidFill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14473" y="2457814"/>
            <a:ext cx="960119" cy="4648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ts val="1725"/>
              </a:lnSpc>
              <a:spcBef>
                <a:spcPts val="105"/>
              </a:spcBef>
            </a:pPr>
            <a:r>
              <a:rPr dirty="0" sz="1450" spc="-70">
                <a:solidFill>
                  <a:srgbClr val="3B3B3B"/>
                </a:solidFill>
                <a:latin typeface="Arial"/>
                <a:cs typeface="Arial"/>
              </a:rPr>
              <a:t>PREC</a:t>
            </a:r>
            <a:r>
              <a:rPr dirty="0" sz="1450" spc="-70">
                <a:solidFill>
                  <a:srgbClr val="0C0C0C"/>
                </a:solidFill>
                <a:latin typeface="Arial"/>
                <a:cs typeface="Arial"/>
              </a:rPr>
              <a:t>I</a:t>
            </a:r>
            <a:r>
              <a:rPr dirty="0" sz="1450" spc="-70">
                <a:solidFill>
                  <a:srgbClr val="3B3B3B"/>
                </a:solidFill>
                <a:latin typeface="Arial"/>
                <a:cs typeface="Arial"/>
              </a:rPr>
              <a:t>SION</a:t>
            </a:r>
            <a:endParaRPr sz="1450">
              <a:latin typeface="Arial"/>
              <a:cs typeface="Arial"/>
            </a:endParaRPr>
          </a:p>
          <a:p>
            <a:pPr algn="r" marR="10795">
              <a:lnSpc>
                <a:spcPts val="1725"/>
              </a:lnSpc>
            </a:pPr>
            <a:r>
              <a:rPr dirty="0" sz="1450" spc="-10">
                <a:solidFill>
                  <a:srgbClr val="232626"/>
                </a:solidFill>
                <a:latin typeface="Arial"/>
                <a:cs typeface="Arial"/>
              </a:rPr>
              <a:t>LIMITS</a:t>
            </a:r>
            <a:endParaRPr sz="14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341366" y="2457814"/>
            <a:ext cx="1033780" cy="46482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26034" marR="5080" indent="-13970">
              <a:lnSpc>
                <a:spcPts val="1710"/>
              </a:lnSpc>
              <a:spcBef>
                <a:spcPts val="190"/>
              </a:spcBef>
            </a:pPr>
            <a:r>
              <a:rPr dirty="0" sz="1450" spc="-95">
                <a:solidFill>
                  <a:srgbClr val="3B3B3B"/>
                </a:solidFill>
                <a:latin typeface="Arial"/>
                <a:cs typeface="Arial"/>
              </a:rPr>
              <a:t>BIOMARKER </a:t>
            </a:r>
            <a:r>
              <a:rPr dirty="0" sz="1450" spc="-10">
                <a:solidFill>
                  <a:srgbClr val="232626"/>
                </a:solidFill>
                <a:latin typeface="Arial"/>
                <a:cs typeface="Arial"/>
              </a:rPr>
              <a:t>ANA</a:t>
            </a:r>
            <a:r>
              <a:rPr dirty="0" sz="1450" spc="-10">
                <a:solidFill>
                  <a:srgbClr val="0C0C0C"/>
                </a:solidFill>
                <a:latin typeface="Arial"/>
                <a:cs typeface="Arial"/>
              </a:rPr>
              <a:t>L</a:t>
            </a:r>
            <a:r>
              <a:rPr dirty="0" sz="1450" spc="-10">
                <a:solidFill>
                  <a:srgbClr val="232626"/>
                </a:solidFill>
                <a:latin typeface="Arial"/>
                <a:cs typeface="Arial"/>
              </a:rPr>
              <a:t>YS</a:t>
            </a:r>
            <a:r>
              <a:rPr dirty="0" sz="1450" spc="-10">
                <a:solidFill>
                  <a:srgbClr val="0C0C0C"/>
                </a:solidFill>
                <a:latin typeface="Arial"/>
                <a:cs typeface="Arial"/>
              </a:rPr>
              <a:t>I</a:t>
            </a:r>
            <a:r>
              <a:rPr dirty="0" sz="1450" spc="-10">
                <a:solidFill>
                  <a:srgbClr val="232626"/>
                </a:solidFill>
                <a:latin typeface="Arial"/>
                <a:cs typeface="Arial"/>
              </a:rPr>
              <a:t>S</a:t>
            </a:r>
            <a:endParaRPr sz="14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47028" y="2729926"/>
            <a:ext cx="2585720" cy="848994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379730">
              <a:lnSpc>
                <a:spcPct val="100000"/>
              </a:lnSpc>
              <a:spcBef>
                <a:spcPts val="1085"/>
              </a:spcBef>
            </a:pPr>
            <a:r>
              <a:rPr dirty="0" sz="2350" spc="45" b="1">
                <a:solidFill>
                  <a:srgbClr val="0C0C0C"/>
                </a:solidFill>
                <a:latin typeface="Arial"/>
                <a:cs typeface="Arial"/>
              </a:rPr>
              <a:t>Measurement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650">
                <a:solidFill>
                  <a:srgbClr val="3B3B3B"/>
                </a:solidFill>
                <a:latin typeface="Times New Roman"/>
                <a:cs typeface="Times New Roman"/>
              </a:rPr>
              <a:t>The</a:t>
            </a:r>
            <a:r>
              <a:rPr dirty="0" sz="1650" spc="-135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55">
                <a:solidFill>
                  <a:srgbClr val="232626"/>
                </a:solidFill>
                <a:latin typeface="Times New Roman"/>
                <a:cs typeface="Times New Roman"/>
              </a:rPr>
              <a:t>Discordance</a:t>
            </a:r>
            <a:r>
              <a:rPr dirty="0" sz="1650" spc="-50">
                <a:solidFill>
                  <a:srgbClr val="232626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3B3B3B"/>
                </a:solidFill>
                <a:latin typeface="Times New Roman"/>
                <a:cs typeface="Times New Roman"/>
              </a:rPr>
              <a:t>ofSelf-</a:t>
            </a:r>
            <a:r>
              <a:rPr dirty="0" sz="1650" spc="-30">
                <a:solidFill>
                  <a:srgbClr val="3B3B3B"/>
                </a:solidFill>
                <a:latin typeface="Times New Roman"/>
                <a:cs typeface="Times New Roman"/>
              </a:rPr>
              <a:t>Report: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63151" y="3530170"/>
            <a:ext cx="2461260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75">
                <a:solidFill>
                  <a:srgbClr val="3B3B3B"/>
                </a:solidFill>
                <a:latin typeface="Times New Roman"/>
                <a:cs typeface="Times New Roman"/>
              </a:rPr>
              <a:t>Why</a:t>
            </a:r>
            <a:r>
              <a:rPr dirty="0" sz="1650" spc="-21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3B3B3B"/>
                </a:solidFill>
                <a:latin typeface="Times New Roman"/>
                <a:cs typeface="Times New Roman"/>
              </a:rPr>
              <a:t>isthe</a:t>
            </a:r>
            <a:r>
              <a:rPr dirty="0" sz="1650" spc="-12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55">
                <a:solidFill>
                  <a:srgbClr val="3B3B3B"/>
                </a:solidFill>
                <a:latin typeface="Times New Roman"/>
                <a:cs typeface="Times New Roman"/>
              </a:rPr>
              <a:t>relationship</a:t>
            </a:r>
            <a:r>
              <a:rPr dirty="0" sz="1650" spc="5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80">
                <a:solidFill>
                  <a:srgbClr val="3B3B3B"/>
                </a:solidFill>
                <a:latin typeface="Times New Roman"/>
                <a:cs typeface="Times New Roman"/>
              </a:rPr>
              <a:t>between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64599" y="3759960"/>
            <a:ext cx="245427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40">
                <a:solidFill>
                  <a:srgbClr val="3B3B3B"/>
                </a:solidFill>
                <a:latin typeface="Times New Roman"/>
                <a:cs typeface="Times New Roman"/>
              </a:rPr>
              <a:t>reported</a:t>
            </a:r>
            <a:r>
              <a:rPr dirty="0" sz="1650" spc="-10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85">
                <a:solidFill>
                  <a:srgbClr val="3B3B3B"/>
                </a:solidFill>
                <a:latin typeface="Times New Roman"/>
                <a:cs typeface="Times New Roman"/>
              </a:rPr>
              <a:t>readiness</a:t>
            </a:r>
            <a:r>
              <a:rPr dirty="0" sz="1650" spc="-8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30">
                <a:solidFill>
                  <a:srgbClr val="3B3B3B"/>
                </a:solidFill>
                <a:latin typeface="Times New Roman"/>
                <a:cs typeface="Times New Roman"/>
              </a:rPr>
              <a:t>and</a:t>
            </a:r>
            <a:r>
              <a:rPr dirty="0" sz="1650" spc="-125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60">
                <a:solidFill>
                  <a:srgbClr val="232626"/>
                </a:solidFill>
                <a:latin typeface="Times New Roman"/>
                <a:cs typeface="Times New Roman"/>
              </a:rPr>
              <a:t>behavior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861304" y="3989751"/>
            <a:ext cx="137160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545" b="1">
                <a:solidFill>
                  <a:srgbClr val="8C9599"/>
                </a:solidFill>
                <a:latin typeface="Times New Roman"/>
                <a:cs typeface="Times New Roman"/>
              </a:rPr>
              <a:t>+-</a:t>
            </a:r>
            <a:r>
              <a:rPr dirty="0" sz="1750" spc="500" b="1">
                <a:solidFill>
                  <a:srgbClr val="8C9599"/>
                </a:solidFill>
                <a:latin typeface="Times New Roman"/>
                <a:cs typeface="Times New Roman"/>
              </a:rPr>
              <a:t>1-</a:t>
            </a:r>
            <a:r>
              <a:rPr dirty="0" sz="1750" spc="-75" b="1">
                <a:solidFill>
                  <a:srgbClr val="8C9599"/>
                </a:solidFill>
                <a:latin typeface="Times New Roman"/>
                <a:cs typeface="Times New Roman"/>
              </a:rPr>
              <a:t> </a:t>
            </a:r>
            <a:r>
              <a:rPr dirty="0" sz="1650" spc="-60">
                <a:solidFill>
                  <a:srgbClr val="3B3B3B"/>
                </a:solidFill>
                <a:latin typeface="Times New Roman"/>
                <a:cs typeface="Times New Roman"/>
              </a:rPr>
              <a:t>modest?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557453" y="4219541"/>
            <a:ext cx="204279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70">
                <a:solidFill>
                  <a:srgbClr val="3B3B3B"/>
                </a:solidFill>
                <a:latin typeface="Times New Roman"/>
                <a:cs typeface="Times New Roman"/>
              </a:rPr>
              <a:t>(Investigation:</a:t>
            </a:r>
            <a:r>
              <a:rPr dirty="0" sz="1650" spc="-13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90">
                <a:solidFill>
                  <a:srgbClr val="3B3B3B"/>
                </a:solidFill>
                <a:latin typeface="Times New Roman"/>
                <a:cs typeface="Times New Roman"/>
              </a:rPr>
              <a:t>False</a:t>
            </a:r>
            <a:r>
              <a:rPr dirty="0" sz="1650" spc="-125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20">
                <a:solidFill>
                  <a:srgbClr val="3B3B3B"/>
                </a:solidFill>
                <a:latin typeface="Times New Roman"/>
                <a:cs typeface="Times New Roman"/>
              </a:rPr>
              <a:t>Hope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53040" y="4462098"/>
            <a:ext cx="1602105" cy="49530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22225" marR="5080" indent="-10160">
              <a:lnSpc>
                <a:spcPts val="1710"/>
              </a:lnSpc>
              <a:spcBef>
                <a:spcPts val="390"/>
              </a:spcBef>
            </a:pPr>
            <a:r>
              <a:rPr dirty="0" sz="1650" spc="-70">
                <a:solidFill>
                  <a:srgbClr val="3B3B3B"/>
                </a:solidFill>
                <a:latin typeface="Times New Roman"/>
                <a:cs typeface="Times New Roman"/>
              </a:rPr>
              <a:t>Syndrome</a:t>
            </a:r>
            <a:r>
              <a:rPr dirty="0" sz="1650" spc="-18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25">
                <a:solidFill>
                  <a:srgbClr val="3B3B3B"/>
                </a:solidFill>
                <a:latin typeface="Times New Roman"/>
                <a:cs typeface="Times New Roman"/>
              </a:rPr>
              <a:t>vs. </a:t>
            </a:r>
            <a:r>
              <a:rPr dirty="0" sz="1650" spc="-75">
                <a:solidFill>
                  <a:srgbClr val="3B3B3B"/>
                </a:solidFill>
                <a:latin typeface="Times New Roman"/>
                <a:cs typeface="Times New Roman"/>
              </a:rPr>
              <a:t>Measurement</a:t>
            </a:r>
            <a:r>
              <a:rPr dirty="0" sz="1650" spc="-15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60">
                <a:solidFill>
                  <a:srgbClr val="3B3B3B"/>
                </a:solidFill>
                <a:latin typeface="Times New Roman"/>
                <a:cs typeface="Times New Roman"/>
              </a:rPr>
              <a:t>Error)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63156" y="5100406"/>
            <a:ext cx="1049655" cy="45212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 marR="5080" indent="586105">
              <a:lnSpc>
                <a:spcPts val="1610"/>
              </a:lnSpc>
              <a:spcBef>
                <a:spcPts val="270"/>
              </a:spcBef>
            </a:pPr>
            <a:r>
              <a:rPr dirty="0" sz="1450" spc="-120">
                <a:solidFill>
                  <a:srgbClr val="232626"/>
                </a:solidFill>
                <a:latin typeface="Arial"/>
                <a:cs typeface="Arial"/>
              </a:rPr>
              <a:t>DATA </a:t>
            </a:r>
            <a:r>
              <a:rPr dirty="0" sz="1450" spc="-60">
                <a:solidFill>
                  <a:srgbClr val="3B3B3B"/>
                </a:solidFill>
                <a:latin typeface="Arial"/>
                <a:cs typeface="Arial"/>
              </a:rPr>
              <a:t>RELIABILITY</a:t>
            </a:r>
            <a:endParaRPr sz="14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332598" y="5738713"/>
            <a:ext cx="409575" cy="615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1900" spc="-120">
                <a:solidFill>
                  <a:srgbClr val="8C9599"/>
                </a:solidFill>
                <a:latin typeface="Times New Roman"/>
                <a:cs typeface="Times New Roman"/>
              </a:rPr>
              <a:t>_</a:t>
            </a:r>
            <a:r>
              <a:rPr dirty="0" baseline="-10101" sz="5775" spc="-1455">
                <a:solidFill>
                  <a:srgbClr val="A8B1B5"/>
                </a:solidFill>
                <a:latin typeface="Arial"/>
                <a:cs typeface="Arial"/>
              </a:rPr>
              <a:t>,</a:t>
            </a:r>
            <a:r>
              <a:rPr dirty="0" sz="1900" spc="-5">
                <a:solidFill>
                  <a:srgbClr val="A8B1B5"/>
                </a:solidFill>
                <a:latin typeface="Times New Roman"/>
                <a:cs typeface="Times New Roman"/>
              </a:rPr>
              <a:t>!</a:t>
            </a:r>
            <a:r>
              <a:rPr dirty="0" sz="1900" spc="-5">
                <a:solidFill>
                  <a:srgbClr val="8C9599"/>
                </a:solidFill>
                <a:latin typeface="Times New Roman"/>
                <a:cs typeface="Times New Roman"/>
              </a:rPr>
              <a:t>_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850619" y="6019568"/>
            <a:ext cx="235648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22300" algn="l"/>
              </a:tabLst>
            </a:pPr>
            <a:r>
              <a:rPr dirty="0" u="heavy" sz="1650" spc="-10">
                <a:solidFill>
                  <a:srgbClr val="A8B1B5"/>
                </a:solidFill>
                <a:uFill>
                  <a:solidFill>
                    <a:srgbClr val="A8B1B5"/>
                  </a:solidFill>
                </a:uFill>
                <a:latin typeface="Times New Roman"/>
                <a:cs typeface="Times New Roman"/>
              </a:rPr>
              <a:t>..±...</a:t>
            </a:r>
            <a:r>
              <a:rPr dirty="0" u="heavy" sz="1650">
                <a:solidFill>
                  <a:srgbClr val="A8B1B5"/>
                </a:solidFill>
                <a:uFill>
                  <a:solidFill>
                    <a:srgbClr val="A8B1B5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1650" spc="459">
                <a:solidFill>
                  <a:srgbClr val="A8B1B5"/>
                </a:solidFill>
                <a:uFill>
                  <a:solidFill>
                    <a:srgbClr val="A8B1B5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none" sz="1650" spc="459">
                <a:solidFill>
                  <a:srgbClr val="A8B1B5"/>
                </a:solidFill>
                <a:latin typeface="Times New Roman"/>
                <a:cs typeface="Times New Roman"/>
              </a:rPr>
              <a:t>-</a:t>
            </a:r>
            <a:r>
              <a:rPr dirty="0" u="none" sz="1650" spc="2045">
                <a:solidFill>
                  <a:srgbClr val="79858C"/>
                </a:solidFill>
                <a:latin typeface="Times New Roman"/>
                <a:cs typeface="Times New Roman"/>
              </a:rPr>
              <a:t>�</a:t>
            </a:r>
            <a:r>
              <a:rPr dirty="0" u="none" sz="1650" spc="2045">
                <a:solidFill>
                  <a:srgbClr val="5E6E77"/>
                </a:solidFill>
                <a:latin typeface="Times New Roman"/>
                <a:cs typeface="Times New Roman"/>
              </a:rPr>
              <a:t>-</a:t>
            </a:r>
            <a:r>
              <a:rPr dirty="0" u="none" sz="1650" spc="1025">
                <a:solidFill>
                  <a:srgbClr val="5E6E77"/>
                </a:solidFill>
                <a:latin typeface="Times New Roman"/>
                <a:cs typeface="Times New Roman"/>
              </a:rPr>
              <a:t>---</a:t>
            </a:r>
            <a:r>
              <a:rPr dirty="0" u="none" sz="1650" spc="-50">
                <a:solidFill>
                  <a:srgbClr val="5E6E77"/>
                </a:solidFill>
                <a:latin typeface="Times New Roman"/>
                <a:cs typeface="Times New Roman"/>
              </a:rPr>
              <a:t>-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632844" y="2819289"/>
            <a:ext cx="2089785" cy="1767839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85"/>
              </a:spcBef>
            </a:pPr>
            <a:r>
              <a:rPr dirty="0" sz="2350" spc="-10" b="1">
                <a:solidFill>
                  <a:srgbClr val="0C0C0C"/>
                </a:solidFill>
                <a:latin typeface="Arial"/>
                <a:cs typeface="Arial"/>
              </a:rPr>
              <a:t>Neurobiology</a:t>
            </a:r>
            <a:endParaRPr sz="2350">
              <a:latin typeface="Arial"/>
              <a:cs typeface="Arial"/>
            </a:endParaRPr>
          </a:p>
          <a:p>
            <a:pPr algn="r" marL="68580" marR="30480" indent="286385">
              <a:lnSpc>
                <a:spcPts val="1810"/>
              </a:lnSpc>
              <a:spcBef>
                <a:spcPts val="894"/>
              </a:spcBef>
            </a:pPr>
            <a:r>
              <a:rPr dirty="0" sz="1650" spc="-20">
                <a:solidFill>
                  <a:srgbClr val="232626"/>
                </a:solidFill>
                <a:latin typeface="Times New Roman"/>
                <a:cs typeface="Times New Roman"/>
              </a:rPr>
              <a:t>Neuroinflammation: </a:t>
            </a:r>
            <a:r>
              <a:rPr dirty="0" sz="1650">
                <a:solidFill>
                  <a:srgbClr val="3B3B3B"/>
                </a:solidFill>
                <a:latin typeface="Times New Roman"/>
                <a:cs typeface="Times New Roman"/>
              </a:rPr>
              <a:t>The</a:t>
            </a:r>
            <a:r>
              <a:rPr dirty="0" sz="1650" spc="-26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55">
                <a:solidFill>
                  <a:srgbClr val="3B3B3B"/>
                </a:solidFill>
                <a:latin typeface="Times New Roman"/>
                <a:cs typeface="Times New Roman"/>
              </a:rPr>
              <a:t>overlooked</a:t>
            </a:r>
            <a:r>
              <a:rPr dirty="0" sz="1650" spc="15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3B3B3B"/>
                </a:solidFill>
                <a:latin typeface="Times New Roman"/>
                <a:cs typeface="Times New Roman"/>
              </a:rPr>
              <a:t>barrier</a:t>
            </a:r>
            <a:r>
              <a:rPr dirty="0" sz="1650" spc="-10">
                <a:solidFill>
                  <a:srgbClr val="0C0C0C"/>
                </a:solidFill>
                <a:latin typeface="Times New Roman"/>
                <a:cs typeface="Times New Roman"/>
              </a:rPr>
              <a:t>. </a:t>
            </a:r>
            <a:r>
              <a:rPr dirty="0" sz="1650" spc="-55">
                <a:solidFill>
                  <a:srgbClr val="3B3B3B"/>
                </a:solidFill>
                <a:latin typeface="Times New Roman"/>
                <a:cs typeface="Times New Roman"/>
              </a:rPr>
              <a:t>Does</a:t>
            </a:r>
            <a:r>
              <a:rPr dirty="0" sz="1650" spc="-9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baseline="41666" sz="1200" spc="-60">
                <a:solidFill>
                  <a:srgbClr val="3B3B3B"/>
                </a:solidFill>
                <a:latin typeface="Arial"/>
                <a:cs typeface="Arial"/>
              </a:rPr>
              <a:t>0</a:t>
            </a:r>
            <a:r>
              <a:rPr dirty="0" sz="1650" spc="-40">
                <a:solidFill>
                  <a:srgbClr val="3B3B3B"/>
                </a:solidFill>
                <a:latin typeface="Times New Roman"/>
                <a:cs typeface="Times New Roman"/>
              </a:rPr>
              <a:t>sickness</a:t>
            </a:r>
            <a:r>
              <a:rPr dirty="0" sz="1650" spc="-225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3B3B3B"/>
                </a:solidFill>
                <a:latin typeface="Times New Roman"/>
                <a:cs typeface="Times New Roman"/>
              </a:rPr>
              <a:t>behavior'' </a:t>
            </a:r>
            <a:r>
              <a:rPr dirty="0" sz="1650" spc="-60">
                <a:solidFill>
                  <a:srgbClr val="3B3B3B"/>
                </a:solidFill>
                <a:latin typeface="Times New Roman"/>
                <a:cs typeface="Times New Roman"/>
              </a:rPr>
              <a:t>(driven</a:t>
            </a:r>
            <a:r>
              <a:rPr dirty="0" sz="1650" spc="1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50">
                <a:solidFill>
                  <a:srgbClr val="3B3B3B"/>
                </a:solidFill>
                <a:latin typeface="Times New Roman"/>
                <a:cs typeface="Times New Roman"/>
              </a:rPr>
              <a:t>by</a:t>
            </a:r>
            <a:r>
              <a:rPr dirty="0" sz="1650" spc="-225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3B3B3B"/>
                </a:solidFill>
                <a:latin typeface="Times New Roman"/>
                <a:cs typeface="Times New Roman"/>
              </a:rPr>
              <a:t>cytokines) </a:t>
            </a:r>
            <a:r>
              <a:rPr dirty="0" sz="1650" spc="-60">
                <a:solidFill>
                  <a:srgbClr val="3B3B3B"/>
                </a:solidFill>
                <a:latin typeface="Times New Roman"/>
                <a:cs typeface="Times New Roman"/>
              </a:rPr>
              <a:t>mimic</a:t>
            </a:r>
            <a:r>
              <a:rPr dirty="0" sz="1650" spc="-13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60">
                <a:solidFill>
                  <a:srgbClr val="3B3B3B"/>
                </a:solidFill>
                <a:latin typeface="Times New Roman"/>
                <a:cs typeface="Times New Roman"/>
              </a:rPr>
              <a:t>low</a:t>
            </a:r>
            <a:r>
              <a:rPr dirty="0" sz="1650" spc="-8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3B3B3B"/>
                </a:solidFill>
                <a:latin typeface="Times New Roman"/>
                <a:cs typeface="Times New Roman"/>
              </a:rPr>
              <a:t>motivation?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595177" y="5330195"/>
            <a:ext cx="941705" cy="46482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 indent="19050">
              <a:lnSpc>
                <a:spcPts val="1710"/>
              </a:lnSpc>
              <a:spcBef>
                <a:spcPts val="190"/>
              </a:spcBef>
            </a:pPr>
            <a:r>
              <a:rPr dirty="0" sz="1450" spc="-10">
                <a:solidFill>
                  <a:srgbClr val="3B3B3B"/>
                </a:solidFill>
                <a:latin typeface="Arial"/>
                <a:cs typeface="Arial"/>
              </a:rPr>
              <a:t>UTURE </a:t>
            </a:r>
            <a:r>
              <a:rPr dirty="0" sz="1450" spc="-75">
                <a:solidFill>
                  <a:srgbClr val="232626"/>
                </a:solidFill>
                <a:latin typeface="Arial"/>
                <a:cs typeface="Arial"/>
              </a:rPr>
              <a:t>STIGAT</a:t>
            </a:r>
            <a:r>
              <a:rPr dirty="0" sz="1450" spc="-75">
                <a:solidFill>
                  <a:srgbClr val="0C0C0C"/>
                </a:solidFill>
                <a:latin typeface="Arial"/>
                <a:cs typeface="Arial"/>
              </a:rPr>
              <a:t>I</a:t>
            </a:r>
            <a:r>
              <a:rPr dirty="0" sz="1450" spc="-75">
                <a:solidFill>
                  <a:srgbClr val="232626"/>
                </a:solidFill>
                <a:latin typeface="Arial"/>
                <a:cs typeface="Arial"/>
              </a:rPr>
              <a:t>ON</a:t>
            </a:r>
            <a:endParaRPr sz="14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377152" y="6213147"/>
            <a:ext cx="2757805" cy="154051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dirty="0" sz="2350" spc="-10" b="1">
                <a:solidFill>
                  <a:srgbClr val="0C0C0C"/>
                </a:solidFill>
                <a:latin typeface="Arial"/>
                <a:cs typeface="Arial"/>
              </a:rPr>
              <a:t>Optimization</a:t>
            </a:r>
            <a:endParaRPr sz="2350">
              <a:latin typeface="Arial"/>
              <a:cs typeface="Arial"/>
            </a:endParaRPr>
          </a:p>
          <a:p>
            <a:pPr algn="ctr" marL="441325" marR="419734" indent="8255">
              <a:lnSpc>
                <a:spcPct val="101499"/>
              </a:lnSpc>
              <a:spcBef>
                <a:spcPts val="459"/>
              </a:spcBef>
            </a:pPr>
            <a:r>
              <a:rPr dirty="0" sz="1650">
                <a:solidFill>
                  <a:srgbClr val="3B3B3B"/>
                </a:solidFill>
                <a:latin typeface="Times New Roman"/>
                <a:cs typeface="Times New Roman"/>
              </a:rPr>
              <a:t>Optimal</a:t>
            </a:r>
            <a:r>
              <a:rPr dirty="0" sz="1650" spc="-9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3B3B3B"/>
                </a:solidFill>
                <a:latin typeface="Times New Roman"/>
                <a:cs typeface="Times New Roman"/>
              </a:rPr>
              <a:t>Timing: </a:t>
            </a:r>
            <a:r>
              <a:rPr dirty="0" sz="1650" spc="-45">
                <a:solidFill>
                  <a:srgbClr val="3B3B3B"/>
                </a:solidFill>
                <a:latin typeface="Times New Roman"/>
                <a:cs typeface="Times New Roman"/>
              </a:rPr>
              <a:t>Avoiding</a:t>
            </a:r>
            <a:r>
              <a:rPr dirty="0" sz="1650" spc="-85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3B3B3B"/>
                </a:solidFill>
                <a:latin typeface="Times New Roman"/>
                <a:cs typeface="Times New Roman"/>
              </a:rPr>
              <a:t>"Reactance."</a:t>
            </a:r>
            <a:endParaRPr sz="1650">
              <a:latin typeface="Times New Roman"/>
              <a:cs typeface="Times New Roman"/>
            </a:endParaRPr>
          </a:p>
          <a:p>
            <a:pPr algn="ctr" marL="4445">
              <a:lnSpc>
                <a:spcPts val="1910"/>
              </a:lnSpc>
            </a:pPr>
            <a:r>
              <a:rPr dirty="0" sz="1650">
                <a:solidFill>
                  <a:srgbClr val="3B3B3B"/>
                </a:solidFill>
                <a:latin typeface="Times New Roman"/>
                <a:cs typeface="Times New Roman"/>
              </a:rPr>
              <a:t>When</a:t>
            </a:r>
            <a:r>
              <a:rPr dirty="0" sz="1650" spc="-75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3B3B3B"/>
                </a:solidFill>
                <a:latin typeface="Times New Roman"/>
                <a:cs typeface="Times New Roman"/>
              </a:rPr>
              <a:t>is</a:t>
            </a:r>
            <a:r>
              <a:rPr dirty="0" sz="1650" spc="-195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3B3B3B"/>
                </a:solidFill>
                <a:latin typeface="Times New Roman"/>
                <a:cs typeface="Times New Roman"/>
              </a:rPr>
              <a:t>an</a:t>
            </a:r>
            <a:r>
              <a:rPr dirty="0" sz="1650" spc="-114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3B3B3B"/>
                </a:solidFill>
                <a:latin typeface="Times New Roman"/>
                <a:cs typeface="Times New Roman"/>
              </a:rPr>
              <a:t>intervention</a:t>
            </a:r>
            <a:r>
              <a:rPr dirty="0" sz="1650" spc="9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3B3B3B"/>
                </a:solidFill>
                <a:latin typeface="Times New Roman"/>
                <a:cs typeface="Times New Roman"/>
              </a:rPr>
              <a:t>helpful</a:t>
            </a:r>
            <a:endParaRPr sz="16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dirty="0" sz="1650" spc="45">
                <a:solidFill>
                  <a:srgbClr val="3B3B3B"/>
                </a:solidFill>
                <a:latin typeface="Times New Roman"/>
                <a:cs typeface="Times New Roman"/>
              </a:rPr>
              <a:t>support</a:t>
            </a:r>
            <a:r>
              <a:rPr dirty="0" sz="1650" spc="-114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3B3B3B"/>
                </a:solidFill>
                <a:latin typeface="Times New Roman"/>
                <a:cs typeface="Times New Roman"/>
              </a:rPr>
              <a:t>vs.</a:t>
            </a:r>
            <a:r>
              <a:rPr dirty="0" sz="1650" spc="-24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232626"/>
                </a:solidFill>
                <a:latin typeface="Times New Roman"/>
                <a:cs typeface="Times New Roman"/>
              </a:rPr>
              <a:t>an</a:t>
            </a:r>
            <a:r>
              <a:rPr dirty="0" sz="1650" spc="-130">
                <a:solidFill>
                  <a:srgbClr val="232626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3B3B3B"/>
                </a:solidFill>
                <a:latin typeface="Times New Roman"/>
                <a:cs typeface="Times New Roman"/>
              </a:rPr>
              <a:t>annoying</a:t>
            </a:r>
            <a:r>
              <a:rPr dirty="0" sz="1650" spc="-65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3B3B3B"/>
                </a:solidFill>
                <a:latin typeface="Times New Roman"/>
                <a:cs typeface="Times New Roman"/>
              </a:rPr>
              <a:t>burden?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517185" y="8132366"/>
            <a:ext cx="6921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75">
                <a:solidFill>
                  <a:srgbClr val="A8B1B5"/>
                </a:solidFill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38568" y="8036620"/>
            <a:ext cx="405130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350" spc="-130">
                <a:solidFill>
                  <a:srgbClr val="A8B1B5"/>
                </a:solidFill>
                <a:latin typeface="Times New Roman"/>
                <a:cs typeface="Times New Roman"/>
              </a:rPr>
              <a:t>-</a:t>
            </a:r>
            <a:r>
              <a:rPr dirty="0" sz="3350" spc="-95">
                <a:solidFill>
                  <a:srgbClr val="A8B1B5"/>
                </a:solidFill>
                <a:latin typeface="Times New Roman"/>
                <a:cs typeface="Times New Roman"/>
              </a:rPr>
              <a:t>·-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504130" y="8336623"/>
            <a:ext cx="8445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50">
                <a:solidFill>
                  <a:srgbClr val="A8B1B5"/>
                </a:solidFill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2149573" y="5330195"/>
            <a:ext cx="1388745" cy="46482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1710"/>
              </a:lnSpc>
              <a:spcBef>
                <a:spcPts val="190"/>
              </a:spcBef>
            </a:pPr>
            <a:r>
              <a:rPr dirty="0" sz="1450" spc="-90">
                <a:solidFill>
                  <a:srgbClr val="3B3B3B"/>
                </a:solidFill>
                <a:latin typeface="Arial"/>
                <a:cs typeface="Arial"/>
              </a:rPr>
              <a:t>PHYSIOLOGICAL </a:t>
            </a:r>
            <a:r>
              <a:rPr dirty="0" sz="1450" spc="-20">
                <a:solidFill>
                  <a:srgbClr val="3B3B3B"/>
                </a:solidFill>
                <a:latin typeface="Arial"/>
                <a:cs typeface="Arial"/>
              </a:rPr>
              <a:t>PATHWAYS</a:t>
            </a:r>
            <a:endParaRPr sz="14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839155" y="6542979"/>
            <a:ext cx="1376680" cy="71247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229235" marR="5080" indent="7620">
              <a:lnSpc>
                <a:spcPts val="1710"/>
              </a:lnSpc>
              <a:spcBef>
                <a:spcPts val="190"/>
              </a:spcBef>
            </a:pPr>
            <a:r>
              <a:rPr dirty="0" sz="1450" spc="-10">
                <a:solidFill>
                  <a:srgbClr val="3B3B3B"/>
                </a:solidFill>
                <a:latin typeface="Arial"/>
                <a:cs typeface="Arial"/>
              </a:rPr>
              <a:t>TIMING </a:t>
            </a:r>
            <a:r>
              <a:rPr dirty="0" sz="1450" spc="-75">
                <a:solidFill>
                  <a:srgbClr val="232626"/>
                </a:solidFill>
                <a:latin typeface="Arial"/>
                <a:cs typeface="Arial"/>
              </a:rPr>
              <a:t>ALGORITHMS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ts val="1895"/>
              </a:lnSpc>
              <a:tabLst>
                <a:tab pos="469265" algn="l"/>
              </a:tabLst>
            </a:pPr>
            <a:r>
              <a:rPr dirty="0" u="heavy" sz="1650">
                <a:solidFill>
                  <a:srgbClr val="3B3B3B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862411" y="7564272"/>
            <a:ext cx="1716405" cy="46482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1710"/>
              </a:lnSpc>
              <a:spcBef>
                <a:spcPts val="190"/>
              </a:spcBef>
            </a:pPr>
            <a:r>
              <a:rPr dirty="0" sz="1450" spc="-100">
                <a:solidFill>
                  <a:srgbClr val="3B3B3B"/>
                </a:solidFill>
                <a:latin typeface="Arial"/>
                <a:cs typeface="Arial"/>
              </a:rPr>
              <a:t>USER</a:t>
            </a:r>
            <a:r>
              <a:rPr dirty="0" sz="1450" spc="-15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450" spc="-100">
                <a:solidFill>
                  <a:srgbClr val="3B3B3B"/>
                </a:solidFill>
                <a:latin typeface="Arial"/>
                <a:cs typeface="Arial"/>
              </a:rPr>
              <a:t>ENGAGEMENT </a:t>
            </a:r>
            <a:r>
              <a:rPr dirty="0" sz="1450" spc="-10">
                <a:solidFill>
                  <a:srgbClr val="3B3B3B"/>
                </a:solidFill>
                <a:latin typeface="Arial"/>
                <a:cs typeface="Arial"/>
              </a:rPr>
              <a:t>WINDOW</a:t>
            </a:r>
            <a:endParaRPr sz="14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2748399" y="8094066"/>
            <a:ext cx="41846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dirty="0" sz="2700" spc="-10">
                <a:solidFill>
                  <a:srgbClr val="A8B1B5"/>
                </a:solidFill>
                <a:latin typeface="Times New Roman"/>
                <a:cs typeface="Times New Roman"/>
              </a:rPr>
              <a:t>-</a:t>
            </a:r>
            <a:r>
              <a:rPr dirty="0" sz="2700" spc="-80">
                <a:solidFill>
                  <a:srgbClr val="79858C"/>
                </a:solidFill>
                <a:latin typeface="Times New Roman"/>
                <a:cs typeface="Times New Roman"/>
              </a:rPr>
              <a:t>·</a:t>
            </a:r>
            <a:r>
              <a:rPr dirty="0" baseline="39682" sz="2100" spc="-120">
                <a:solidFill>
                  <a:srgbClr val="A8B1B5"/>
                </a:solidFill>
                <a:latin typeface="Times New Roman"/>
                <a:cs typeface="Times New Roman"/>
              </a:rPr>
              <a:t>I</a:t>
            </a:r>
            <a:r>
              <a:rPr dirty="0" sz="2700" spc="-80">
                <a:solidFill>
                  <a:srgbClr val="A8B1B5"/>
                </a:solidFill>
                <a:latin typeface="Times New Roman"/>
                <a:cs typeface="Times New Roman"/>
              </a:rPr>
              <a:t>-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2949021" y="8349390"/>
            <a:ext cx="6921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75">
                <a:solidFill>
                  <a:srgbClr val="A8B1B5"/>
                </a:solidFill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483902" y="8738758"/>
            <a:ext cx="10558780" cy="82740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458595" marR="5080" indent="-1446530">
              <a:lnSpc>
                <a:spcPts val="3120"/>
              </a:lnSpc>
              <a:spcBef>
                <a:spcPts val="265"/>
              </a:spcBef>
            </a:pPr>
            <a:r>
              <a:rPr dirty="0" sz="2500" b="1">
                <a:solidFill>
                  <a:srgbClr val="0C0C0C"/>
                </a:solidFill>
                <a:latin typeface="Times New Roman"/>
                <a:cs typeface="Times New Roman"/>
              </a:rPr>
              <a:t>Research</a:t>
            </a:r>
            <a:r>
              <a:rPr dirty="0" sz="2500" spc="130" b="1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2500" b="1">
                <a:solidFill>
                  <a:srgbClr val="0C0C0C"/>
                </a:solidFill>
                <a:latin typeface="Times New Roman"/>
                <a:cs typeface="Times New Roman"/>
              </a:rPr>
              <a:t>Horizon:</a:t>
            </a:r>
            <a:r>
              <a:rPr dirty="0" sz="2500" spc="15" b="1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2650" spc="-85">
                <a:solidFill>
                  <a:srgbClr val="0C0C0C"/>
                </a:solidFill>
                <a:latin typeface="Times New Roman"/>
                <a:cs typeface="Times New Roman"/>
              </a:rPr>
              <a:t>Brid</a:t>
            </a:r>
            <a:r>
              <a:rPr dirty="0" sz="2650" spc="-85">
                <a:solidFill>
                  <a:srgbClr val="232626"/>
                </a:solidFill>
                <a:latin typeface="Times New Roman"/>
                <a:cs typeface="Times New Roman"/>
              </a:rPr>
              <a:t>g</a:t>
            </a:r>
            <a:r>
              <a:rPr dirty="0" sz="2650" spc="-85">
                <a:solidFill>
                  <a:srgbClr val="0C0C0C"/>
                </a:solidFill>
                <a:latin typeface="Times New Roman"/>
                <a:cs typeface="Times New Roman"/>
              </a:rPr>
              <a:t>i</a:t>
            </a:r>
            <a:r>
              <a:rPr dirty="0" sz="2650" spc="-85">
                <a:solidFill>
                  <a:srgbClr val="232626"/>
                </a:solidFill>
                <a:latin typeface="Times New Roman"/>
                <a:cs typeface="Times New Roman"/>
              </a:rPr>
              <a:t>ng </a:t>
            </a:r>
            <a:r>
              <a:rPr dirty="0" sz="2650" spc="-45">
                <a:solidFill>
                  <a:srgbClr val="0C0C0C"/>
                </a:solidFill>
                <a:latin typeface="Times New Roman"/>
                <a:cs typeface="Times New Roman"/>
              </a:rPr>
              <a:t>th</a:t>
            </a:r>
            <a:r>
              <a:rPr dirty="0" sz="2650" spc="-45">
                <a:solidFill>
                  <a:srgbClr val="232626"/>
                </a:solidFill>
                <a:latin typeface="Times New Roman"/>
                <a:cs typeface="Times New Roman"/>
              </a:rPr>
              <a:t>es</a:t>
            </a:r>
            <a:r>
              <a:rPr dirty="0" sz="2650" spc="-45">
                <a:solidFill>
                  <a:srgbClr val="0C0C0C"/>
                </a:solidFill>
                <a:latin typeface="Times New Roman"/>
                <a:cs typeface="Times New Roman"/>
              </a:rPr>
              <a:t>e</a:t>
            </a:r>
            <a:r>
              <a:rPr dirty="0" sz="2650" spc="-2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2650" spc="-50">
                <a:solidFill>
                  <a:srgbClr val="0C0C0C"/>
                </a:solidFill>
                <a:latin typeface="Times New Roman"/>
                <a:cs typeface="Times New Roman"/>
              </a:rPr>
              <a:t>di</a:t>
            </a:r>
            <a:r>
              <a:rPr dirty="0" sz="2650" spc="-50">
                <a:solidFill>
                  <a:srgbClr val="3B3B3B"/>
                </a:solidFill>
                <a:latin typeface="Times New Roman"/>
                <a:cs typeface="Times New Roman"/>
              </a:rPr>
              <a:t>s</a:t>
            </a:r>
            <a:r>
              <a:rPr dirty="0" sz="2650" spc="-50">
                <a:solidFill>
                  <a:srgbClr val="0C0C0C"/>
                </a:solidFill>
                <a:latin typeface="Times New Roman"/>
                <a:cs typeface="Times New Roman"/>
              </a:rPr>
              <a:t>p</a:t>
            </a:r>
            <a:r>
              <a:rPr dirty="0" sz="2650" spc="-50">
                <a:solidFill>
                  <a:srgbClr val="232626"/>
                </a:solidFill>
                <a:latin typeface="Times New Roman"/>
                <a:cs typeface="Times New Roman"/>
              </a:rPr>
              <a:t>arate</a:t>
            </a:r>
            <a:r>
              <a:rPr dirty="0" sz="2650" spc="-245">
                <a:solidFill>
                  <a:srgbClr val="232626"/>
                </a:solidFill>
                <a:latin typeface="Times New Roman"/>
                <a:cs typeface="Times New Roman"/>
              </a:rPr>
              <a:t> </a:t>
            </a:r>
            <a:r>
              <a:rPr dirty="0" sz="2650" spc="-80">
                <a:solidFill>
                  <a:srgbClr val="0C0C0C"/>
                </a:solidFill>
                <a:latin typeface="Times New Roman"/>
                <a:cs typeface="Times New Roman"/>
              </a:rPr>
              <a:t>fi</a:t>
            </a:r>
            <a:r>
              <a:rPr dirty="0" sz="2650" spc="-80">
                <a:solidFill>
                  <a:srgbClr val="3B3B3B"/>
                </a:solidFill>
                <a:latin typeface="Times New Roman"/>
                <a:cs typeface="Times New Roman"/>
              </a:rPr>
              <a:t>e</a:t>
            </a:r>
            <a:r>
              <a:rPr dirty="0" sz="2650" spc="-80">
                <a:solidFill>
                  <a:srgbClr val="0C0C0C"/>
                </a:solidFill>
                <a:latin typeface="Times New Roman"/>
                <a:cs typeface="Times New Roman"/>
              </a:rPr>
              <a:t>ld</a:t>
            </a:r>
            <a:r>
              <a:rPr dirty="0" sz="2650" spc="-80">
                <a:solidFill>
                  <a:srgbClr val="232626"/>
                </a:solidFill>
                <a:latin typeface="Times New Roman"/>
                <a:cs typeface="Times New Roman"/>
              </a:rPr>
              <a:t>s</a:t>
            </a:r>
            <a:r>
              <a:rPr dirty="0" sz="2650" spc="-229">
                <a:solidFill>
                  <a:srgbClr val="232626"/>
                </a:solidFill>
                <a:latin typeface="Times New Roman"/>
                <a:cs typeface="Times New Roman"/>
              </a:rPr>
              <a:t> </a:t>
            </a:r>
            <a:r>
              <a:rPr dirty="0" sz="2650">
                <a:solidFill>
                  <a:srgbClr val="0C0C0C"/>
                </a:solidFill>
                <a:latin typeface="Times New Roman"/>
                <a:cs typeface="Times New Roman"/>
              </a:rPr>
              <a:t>t</a:t>
            </a:r>
            <a:r>
              <a:rPr dirty="0" sz="2650">
                <a:solidFill>
                  <a:srgbClr val="232626"/>
                </a:solidFill>
                <a:latin typeface="Times New Roman"/>
                <a:cs typeface="Times New Roman"/>
              </a:rPr>
              <a:t>o</a:t>
            </a:r>
            <a:r>
              <a:rPr dirty="0" sz="2650" spc="-165">
                <a:solidFill>
                  <a:srgbClr val="232626"/>
                </a:solidFill>
                <a:latin typeface="Times New Roman"/>
                <a:cs typeface="Times New Roman"/>
              </a:rPr>
              <a:t> </a:t>
            </a:r>
            <a:r>
              <a:rPr dirty="0" sz="2650" spc="-80">
                <a:solidFill>
                  <a:srgbClr val="232626"/>
                </a:solidFill>
                <a:latin typeface="Times New Roman"/>
                <a:cs typeface="Times New Roman"/>
              </a:rPr>
              <a:t>deve</a:t>
            </a:r>
            <a:r>
              <a:rPr dirty="0" sz="2650" spc="-80">
                <a:solidFill>
                  <a:srgbClr val="0C0C0C"/>
                </a:solidFill>
                <a:latin typeface="Times New Roman"/>
                <a:cs typeface="Times New Roman"/>
              </a:rPr>
              <a:t>l</a:t>
            </a:r>
            <a:r>
              <a:rPr dirty="0" sz="2650" spc="-80">
                <a:solidFill>
                  <a:srgbClr val="232626"/>
                </a:solidFill>
                <a:latin typeface="Times New Roman"/>
                <a:cs typeface="Times New Roman"/>
              </a:rPr>
              <a:t>o</a:t>
            </a:r>
            <a:r>
              <a:rPr dirty="0" sz="2650" spc="-80">
                <a:solidFill>
                  <a:srgbClr val="0C0C0C"/>
                </a:solidFill>
                <a:latin typeface="Times New Roman"/>
                <a:cs typeface="Times New Roman"/>
              </a:rPr>
              <a:t>p</a:t>
            </a:r>
            <a:r>
              <a:rPr dirty="0" sz="2650" spc="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2650" spc="-65">
                <a:solidFill>
                  <a:srgbClr val="0C0C0C"/>
                </a:solidFill>
                <a:latin typeface="Times New Roman"/>
                <a:cs typeface="Times New Roman"/>
              </a:rPr>
              <a:t>h</a:t>
            </a:r>
            <a:r>
              <a:rPr dirty="0" sz="2650" spc="-65">
                <a:solidFill>
                  <a:srgbClr val="232626"/>
                </a:solidFill>
                <a:latin typeface="Times New Roman"/>
                <a:cs typeface="Times New Roman"/>
              </a:rPr>
              <a:t>ig</a:t>
            </a:r>
            <a:r>
              <a:rPr dirty="0" sz="2650" spc="-65">
                <a:solidFill>
                  <a:srgbClr val="0C0C0C"/>
                </a:solidFill>
                <a:latin typeface="Times New Roman"/>
                <a:cs typeface="Times New Roman"/>
              </a:rPr>
              <a:t>hl</a:t>
            </a:r>
            <a:r>
              <a:rPr dirty="0" sz="2650" spc="-65">
                <a:solidFill>
                  <a:srgbClr val="232626"/>
                </a:solidFill>
                <a:latin typeface="Times New Roman"/>
                <a:cs typeface="Times New Roman"/>
              </a:rPr>
              <a:t>y</a:t>
            </a:r>
            <a:r>
              <a:rPr dirty="0" sz="2650" spc="-45">
                <a:solidFill>
                  <a:srgbClr val="232626"/>
                </a:solidFill>
                <a:latin typeface="Times New Roman"/>
                <a:cs typeface="Times New Roman"/>
              </a:rPr>
              <a:t> </a:t>
            </a:r>
            <a:r>
              <a:rPr dirty="0" sz="2650" spc="-45">
                <a:solidFill>
                  <a:srgbClr val="0C0C0C"/>
                </a:solidFill>
                <a:latin typeface="Times New Roman"/>
                <a:cs typeface="Times New Roman"/>
              </a:rPr>
              <a:t>p</a:t>
            </a:r>
            <a:r>
              <a:rPr dirty="0" sz="2650" spc="-45">
                <a:solidFill>
                  <a:srgbClr val="3B3B3B"/>
                </a:solidFill>
                <a:latin typeface="Times New Roman"/>
                <a:cs typeface="Times New Roman"/>
              </a:rPr>
              <a:t>erso</a:t>
            </a:r>
            <a:r>
              <a:rPr dirty="0" sz="2650" spc="-45">
                <a:solidFill>
                  <a:srgbClr val="0C0C0C"/>
                </a:solidFill>
                <a:latin typeface="Times New Roman"/>
                <a:cs typeface="Times New Roman"/>
              </a:rPr>
              <a:t>n</a:t>
            </a:r>
            <a:r>
              <a:rPr dirty="0" sz="2650" spc="-45">
                <a:solidFill>
                  <a:srgbClr val="232626"/>
                </a:solidFill>
                <a:latin typeface="Times New Roman"/>
                <a:cs typeface="Times New Roman"/>
              </a:rPr>
              <a:t>a</a:t>
            </a:r>
            <a:r>
              <a:rPr dirty="0" sz="2650" spc="-45">
                <a:solidFill>
                  <a:srgbClr val="0C0C0C"/>
                </a:solidFill>
                <a:latin typeface="Times New Roman"/>
                <a:cs typeface="Times New Roman"/>
              </a:rPr>
              <a:t>li</a:t>
            </a:r>
            <a:r>
              <a:rPr dirty="0" sz="2650" spc="-45">
                <a:solidFill>
                  <a:srgbClr val="232626"/>
                </a:solidFill>
                <a:latin typeface="Times New Roman"/>
                <a:cs typeface="Times New Roman"/>
              </a:rPr>
              <a:t>ze</a:t>
            </a:r>
            <a:r>
              <a:rPr dirty="0" sz="2650" spc="-45">
                <a:solidFill>
                  <a:srgbClr val="0C0C0C"/>
                </a:solidFill>
                <a:latin typeface="Times New Roman"/>
                <a:cs typeface="Times New Roman"/>
              </a:rPr>
              <a:t>d</a:t>
            </a:r>
            <a:r>
              <a:rPr dirty="0" sz="2650" spc="-45">
                <a:solidFill>
                  <a:srgbClr val="232626"/>
                </a:solidFill>
                <a:latin typeface="Times New Roman"/>
                <a:cs typeface="Times New Roman"/>
              </a:rPr>
              <a:t>, </a:t>
            </a:r>
            <a:r>
              <a:rPr dirty="0" sz="2650" spc="-80">
                <a:solidFill>
                  <a:srgbClr val="232626"/>
                </a:solidFill>
                <a:latin typeface="Times New Roman"/>
                <a:cs typeface="Times New Roman"/>
              </a:rPr>
              <a:t>b</a:t>
            </a:r>
            <a:r>
              <a:rPr dirty="0" sz="2650" spc="-80">
                <a:solidFill>
                  <a:srgbClr val="0C0C0C"/>
                </a:solidFill>
                <a:latin typeface="Times New Roman"/>
                <a:cs typeface="Times New Roman"/>
              </a:rPr>
              <a:t>i</a:t>
            </a:r>
            <a:r>
              <a:rPr dirty="0" sz="2650" spc="-80">
                <a:solidFill>
                  <a:srgbClr val="232626"/>
                </a:solidFill>
                <a:latin typeface="Times New Roman"/>
                <a:cs typeface="Times New Roman"/>
              </a:rPr>
              <a:t>o</a:t>
            </a:r>
            <a:r>
              <a:rPr dirty="0" sz="2650" spc="-80">
                <a:solidFill>
                  <a:srgbClr val="0C0C0C"/>
                </a:solidFill>
                <a:latin typeface="Times New Roman"/>
                <a:cs typeface="Times New Roman"/>
              </a:rPr>
              <a:t>l</a:t>
            </a:r>
            <a:r>
              <a:rPr dirty="0" sz="2650" spc="-80">
                <a:solidFill>
                  <a:srgbClr val="232626"/>
                </a:solidFill>
                <a:latin typeface="Times New Roman"/>
                <a:cs typeface="Times New Roman"/>
              </a:rPr>
              <a:t>ogi</a:t>
            </a:r>
            <a:r>
              <a:rPr dirty="0" sz="2650" spc="-80">
                <a:solidFill>
                  <a:srgbClr val="0C0C0C"/>
                </a:solidFill>
                <a:latin typeface="Times New Roman"/>
                <a:cs typeface="Times New Roman"/>
              </a:rPr>
              <a:t>c</a:t>
            </a:r>
            <a:r>
              <a:rPr dirty="0" sz="2650" spc="-80">
                <a:solidFill>
                  <a:srgbClr val="232626"/>
                </a:solidFill>
                <a:latin typeface="Times New Roman"/>
                <a:cs typeface="Times New Roman"/>
              </a:rPr>
              <a:t>a</a:t>
            </a:r>
            <a:r>
              <a:rPr dirty="0" sz="2650" spc="-80">
                <a:solidFill>
                  <a:srgbClr val="0C0C0C"/>
                </a:solidFill>
                <a:latin typeface="Times New Roman"/>
                <a:cs typeface="Times New Roman"/>
              </a:rPr>
              <a:t>ll</a:t>
            </a:r>
            <a:r>
              <a:rPr dirty="0" sz="2650" spc="-80">
                <a:solidFill>
                  <a:srgbClr val="232626"/>
                </a:solidFill>
                <a:latin typeface="Times New Roman"/>
                <a:cs typeface="Times New Roman"/>
              </a:rPr>
              <a:t>y-</a:t>
            </a:r>
            <a:r>
              <a:rPr dirty="0" sz="2650" spc="-90">
                <a:solidFill>
                  <a:srgbClr val="232626"/>
                </a:solidFill>
                <a:latin typeface="Times New Roman"/>
                <a:cs typeface="Times New Roman"/>
              </a:rPr>
              <a:t>i</a:t>
            </a:r>
            <a:r>
              <a:rPr dirty="0" sz="2650" spc="-90">
                <a:solidFill>
                  <a:srgbClr val="0C0C0C"/>
                </a:solidFill>
                <a:latin typeface="Times New Roman"/>
                <a:cs typeface="Times New Roman"/>
              </a:rPr>
              <a:t>nf</a:t>
            </a:r>
            <a:r>
              <a:rPr dirty="0" sz="2650" spc="-90">
                <a:solidFill>
                  <a:srgbClr val="232626"/>
                </a:solidFill>
                <a:latin typeface="Times New Roman"/>
                <a:cs typeface="Times New Roman"/>
              </a:rPr>
              <a:t>or</a:t>
            </a:r>
            <a:r>
              <a:rPr dirty="0" sz="2650" spc="-90">
                <a:solidFill>
                  <a:srgbClr val="0C0C0C"/>
                </a:solidFill>
                <a:latin typeface="Times New Roman"/>
                <a:cs typeface="Times New Roman"/>
              </a:rPr>
              <a:t>m</a:t>
            </a:r>
            <a:r>
              <a:rPr dirty="0" sz="2650" spc="-90">
                <a:solidFill>
                  <a:srgbClr val="232626"/>
                </a:solidFill>
                <a:latin typeface="Times New Roman"/>
                <a:cs typeface="Times New Roman"/>
              </a:rPr>
              <a:t>e</a:t>
            </a:r>
            <a:r>
              <a:rPr dirty="0" sz="2650" spc="-90">
                <a:solidFill>
                  <a:srgbClr val="0C0C0C"/>
                </a:solidFill>
                <a:latin typeface="Times New Roman"/>
                <a:cs typeface="Times New Roman"/>
              </a:rPr>
              <a:t>d</a:t>
            </a:r>
            <a:r>
              <a:rPr dirty="0" sz="2650" spc="-90">
                <a:solidFill>
                  <a:srgbClr val="232626"/>
                </a:solidFill>
                <a:latin typeface="Times New Roman"/>
                <a:cs typeface="Times New Roman"/>
              </a:rPr>
              <a:t>,</a:t>
            </a:r>
            <a:r>
              <a:rPr dirty="0" sz="2650" spc="-145">
                <a:solidFill>
                  <a:srgbClr val="232626"/>
                </a:solidFill>
                <a:latin typeface="Times New Roman"/>
                <a:cs typeface="Times New Roman"/>
              </a:rPr>
              <a:t> </a:t>
            </a:r>
            <a:r>
              <a:rPr dirty="0" sz="2650">
                <a:solidFill>
                  <a:srgbClr val="232626"/>
                </a:solidFill>
                <a:latin typeface="Times New Roman"/>
                <a:cs typeface="Times New Roman"/>
              </a:rPr>
              <a:t>a</a:t>
            </a:r>
            <a:r>
              <a:rPr dirty="0" sz="2650">
                <a:solidFill>
                  <a:srgbClr val="0C0C0C"/>
                </a:solidFill>
                <a:latin typeface="Times New Roman"/>
                <a:cs typeface="Times New Roman"/>
              </a:rPr>
              <a:t>nd</a:t>
            </a:r>
            <a:r>
              <a:rPr dirty="0" sz="2650" spc="-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2650" spc="-80">
                <a:solidFill>
                  <a:srgbClr val="0C0C0C"/>
                </a:solidFill>
                <a:latin typeface="Times New Roman"/>
                <a:cs typeface="Times New Roman"/>
              </a:rPr>
              <a:t>te</a:t>
            </a:r>
            <a:r>
              <a:rPr dirty="0" sz="2650" spc="-80">
                <a:solidFill>
                  <a:srgbClr val="232626"/>
                </a:solidFill>
                <a:latin typeface="Times New Roman"/>
                <a:cs typeface="Times New Roman"/>
              </a:rPr>
              <a:t>m</a:t>
            </a:r>
            <a:r>
              <a:rPr dirty="0" sz="2650" spc="-80">
                <a:solidFill>
                  <a:srgbClr val="0C0C0C"/>
                </a:solidFill>
                <a:latin typeface="Times New Roman"/>
                <a:cs typeface="Times New Roman"/>
              </a:rPr>
              <a:t>por</a:t>
            </a:r>
            <a:r>
              <a:rPr dirty="0" sz="2650" spc="-80">
                <a:solidFill>
                  <a:srgbClr val="232626"/>
                </a:solidFill>
                <a:latin typeface="Times New Roman"/>
                <a:cs typeface="Times New Roman"/>
              </a:rPr>
              <a:t>a</a:t>
            </a:r>
            <a:r>
              <a:rPr dirty="0" sz="2650" spc="-80">
                <a:solidFill>
                  <a:srgbClr val="0C0C0C"/>
                </a:solidFill>
                <a:latin typeface="Times New Roman"/>
                <a:cs typeface="Times New Roman"/>
              </a:rPr>
              <a:t>ll</a:t>
            </a:r>
            <a:r>
              <a:rPr dirty="0" sz="2650" spc="-80">
                <a:solidFill>
                  <a:srgbClr val="232626"/>
                </a:solidFill>
                <a:latin typeface="Times New Roman"/>
                <a:cs typeface="Times New Roman"/>
              </a:rPr>
              <a:t>y-</a:t>
            </a:r>
            <a:r>
              <a:rPr dirty="0" sz="2650" spc="-45">
                <a:solidFill>
                  <a:srgbClr val="0C0C0C"/>
                </a:solidFill>
                <a:latin typeface="Times New Roman"/>
                <a:cs typeface="Times New Roman"/>
              </a:rPr>
              <a:t>pr</a:t>
            </a:r>
            <a:r>
              <a:rPr dirty="0" sz="2650" spc="-45">
                <a:solidFill>
                  <a:srgbClr val="3B3B3B"/>
                </a:solidFill>
                <a:latin typeface="Times New Roman"/>
                <a:cs typeface="Times New Roman"/>
              </a:rPr>
              <a:t>ec</a:t>
            </a:r>
            <a:r>
              <a:rPr dirty="0" sz="2650" spc="-45">
                <a:solidFill>
                  <a:srgbClr val="0C0C0C"/>
                </a:solidFill>
                <a:latin typeface="Times New Roman"/>
                <a:cs typeface="Times New Roman"/>
              </a:rPr>
              <a:t>i</a:t>
            </a:r>
            <a:r>
              <a:rPr dirty="0" sz="2650" spc="-45">
                <a:solidFill>
                  <a:srgbClr val="232626"/>
                </a:solidFill>
                <a:latin typeface="Times New Roman"/>
                <a:cs typeface="Times New Roman"/>
              </a:rPr>
              <a:t>se</a:t>
            </a:r>
            <a:r>
              <a:rPr dirty="0" sz="2650" spc="-45">
                <a:solidFill>
                  <a:srgbClr val="0C0C0C"/>
                </a:solidFill>
                <a:latin typeface="Times New Roman"/>
                <a:cs typeface="Times New Roman"/>
              </a:rPr>
              <a:t>JI</a:t>
            </a:r>
            <a:r>
              <a:rPr dirty="0" sz="2650" spc="-45">
                <a:solidFill>
                  <a:srgbClr val="232626"/>
                </a:solidFill>
                <a:latin typeface="Times New Roman"/>
                <a:cs typeface="Times New Roman"/>
              </a:rPr>
              <a:t>TA</a:t>
            </a:r>
            <a:r>
              <a:rPr dirty="0" sz="2650" spc="-45">
                <a:solidFill>
                  <a:srgbClr val="0C0C0C"/>
                </a:solidFill>
                <a:latin typeface="Times New Roman"/>
                <a:cs typeface="Times New Roman"/>
              </a:rPr>
              <a:t>I</a:t>
            </a:r>
            <a:r>
              <a:rPr dirty="0" sz="2650" spc="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2650" spc="-10">
                <a:solidFill>
                  <a:srgbClr val="232626"/>
                </a:solidFill>
                <a:latin typeface="Times New Roman"/>
                <a:cs typeface="Times New Roman"/>
              </a:rPr>
              <a:t>mo</a:t>
            </a:r>
            <a:r>
              <a:rPr dirty="0" sz="2650" spc="-10">
                <a:solidFill>
                  <a:srgbClr val="0C0C0C"/>
                </a:solidFill>
                <a:latin typeface="Times New Roman"/>
                <a:cs typeface="Times New Roman"/>
              </a:rPr>
              <a:t>d</a:t>
            </a:r>
            <a:r>
              <a:rPr dirty="0" sz="2650" spc="-10">
                <a:solidFill>
                  <a:srgbClr val="232626"/>
                </a:solidFill>
                <a:latin typeface="Times New Roman"/>
                <a:cs typeface="Times New Roman"/>
              </a:rPr>
              <a:t>e</a:t>
            </a:r>
            <a:r>
              <a:rPr dirty="0" sz="2650" spc="-10">
                <a:solidFill>
                  <a:srgbClr val="0C0C0C"/>
                </a:solidFill>
                <a:latin typeface="Times New Roman"/>
                <a:cs typeface="Times New Roman"/>
              </a:rPr>
              <a:t>l</a:t>
            </a:r>
            <a:r>
              <a:rPr dirty="0" sz="2650" spc="-10">
                <a:solidFill>
                  <a:srgbClr val="232626"/>
                </a:solidFill>
                <a:latin typeface="Times New Roman"/>
                <a:cs typeface="Times New Roman"/>
              </a:rPr>
              <a:t>s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6158729" y="9389830"/>
            <a:ext cx="126365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0">
                <a:solidFill>
                  <a:srgbClr val="3B3B3B"/>
                </a:solidFill>
                <a:latin typeface="Times New Roman"/>
                <a:cs typeface="Times New Roman"/>
              </a:rPr>
              <a:t>Isl\</a:t>
            </a:r>
            <a:r>
              <a:rPr dirty="0" sz="1400" spc="-1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450" spc="-35">
                <a:solidFill>
                  <a:srgbClr val="0C0C0C"/>
                </a:solidFill>
                <a:latin typeface="Arial"/>
                <a:cs typeface="Arial"/>
              </a:rPr>
              <a:t>N</a:t>
            </a:r>
            <a:r>
              <a:rPr dirty="0" sz="1450" spc="-35">
                <a:solidFill>
                  <a:srgbClr val="232626"/>
                </a:solidFill>
                <a:latin typeface="Arial"/>
                <a:cs typeface="Arial"/>
              </a:rPr>
              <a:t>otebookLM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2772" y="3013075"/>
            <a:ext cx="10495220" cy="41106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93479" y="3089671"/>
            <a:ext cx="0" cy="3957954"/>
          </a:xfrm>
          <a:custGeom>
            <a:avLst/>
            <a:gdLst/>
            <a:ahLst/>
            <a:cxnLst/>
            <a:rect l="l" t="t" r="r" b="b"/>
            <a:pathLst>
              <a:path w="0" h="3957954">
                <a:moveTo>
                  <a:pt x="0" y="395750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68005" y="1825823"/>
            <a:ext cx="1579880" cy="0"/>
          </a:xfrm>
          <a:custGeom>
            <a:avLst/>
            <a:gdLst/>
            <a:ahLst/>
            <a:cxnLst/>
            <a:rect l="l" t="t" r="r" b="b"/>
            <a:pathLst>
              <a:path w="1579880" h="0">
                <a:moveTo>
                  <a:pt x="0" y="0"/>
                </a:moveTo>
                <a:lnTo>
                  <a:pt x="1579378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69901" y="3038606"/>
            <a:ext cx="5579110" cy="0"/>
          </a:xfrm>
          <a:custGeom>
            <a:avLst/>
            <a:gdLst/>
            <a:ahLst/>
            <a:cxnLst/>
            <a:rect l="l" t="t" r="r" b="b"/>
            <a:pathLst>
              <a:path w="5579109" h="0">
                <a:moveTo>
                  <a:pt x="0" y="0"/>
                </a:moveTo>
                <a:lnTo>
                  <a:pt x="557877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69901" y="7098239"/>
            <a:ext cx="5579110" cy="0"/>
          </a:xfrm>
          <a:custGeom>
            <a:avLst/>
            <a:gdLst/>
            <a:ahLst/>
            <a:cxnLst/>
            <a:rect l="l" t="t" r="r" b="b"/>
            <a:pathLst>
              <a:path w="5579109" h="0">
                <a:moveTo>
                  <a:pt x="0" y="0"/>
                </a:moveTo>
                <a:lnTo>
                  <a:pt x="557877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68530" y="600340"/>
            <a:ext cx="2768600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 spc="50">
                <a:solidFill>
                  <a:srgbClr val="4B4D4B"/>
                </a:solidFill>
                <a:latin typeface="Arial"/>
                <a:cs typeface="Arial"/>
              </a:rPr>
              <a:t>Academic</a:t>
            </a:r>
            <a:r>
              <a:rPr dirty="0" sz="2500" spc="25">
                <a:solidFill>
                  <a:srgbClr val="4B4D4B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2F2F2F"/>
                </a:solidFill>
                <a:latin typeface="Arial"/>
                <a:cs typeface="Arial"/>
              </a:rPr>
              <a:t>E</a:t>
            </a:r>
            <a:r>
              <a:rPr dirty="0" sz="2500" spc="-10">
                <a:solidFill>
                  <a:srgbClr val="4B4D4B"/>
                </a:solidFill>
                <a:latin typeface="Arial"/>
                <a:cs typeface="Arial"/>
              </a:rPr>
              <a:t>ditoria</a:t>
            </a:r>
            <a:r>
              <a:rPr dirty="0" sz="2500" spc="-10">
                <a:solidFill>
                  <a:srgbClr val="2F2F2F"/>
                </a:solidFill>
                <a:latin typeface="Arial"/>
                <a:cs typeface="Arial"/>
              </a:rPr>
              <a:t>l</a:t>
            </a:r>
            <a:endParaRPr sz="25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3495">
              <a:lnSpc>
                <a:spcPts val="1635"/>
              </a:lnSpc>
            </a:pPr>
            <a:r>
              <a:rPr dirty="0" sz="1400" spc="-80">
                <a:latin typeface="Times New Roman"/>
                <a:cs typeface="Times New Roman"/>
              </a:rPr>
              <a:t>Isl\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pc="-10">
                <a:solidFill>
                  <a:srgbClr val="0C0C0C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0C0C0C"/>
                </a:solidFill>
              </a:rPr>
              <a:t>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963393" y="1059919"/>
            <a:ext cx="15081885" cy="62293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>
                <a:solidFill>
                  <a:srgbClr val="0C0C0C"/>
                </a:solidFill>
              </a:rPr>
              <a:t>Synthesis:</a:t>
            </a:r>
            <a:r>
              <a:rPr dirty="0" sz="3900" spc="-65">
                <a:solidFill>
                  <a:srgbClr val="0C0C0C"/>
                </a:solidFill>
              </a:rPr>
              <a:t> </a:t>
            </a:r>
            <a:r>
              <a:rPr dirty="0" sz="3900">
                <a:solidFill>
                  <a:srgbClr val="0C0C0C"/>
                </a:solidFill>
              </a:rPr>
              <a:t>Toward</a:t>
            </a:r>
            <a:r>
              <a:rPr dirty="0" sz="3900" spc="25">
                <a:solidFill>
                  <a:srgbClr val="0C0C0C"/>
                </a:solidFill>
              </a:rPr>
              <a:t> </a:t>
            </a:r>
            <a:r>
              <a:rPr dirty="0" sz="3900">
                <a:solidFill>
                  <a:srgbClr val="0C0C0C"/>
                </a:solidFill>
              </a:rPr>
              <a:t>a</a:t>
            </a:r>
            <a:r>
              <a:rPr dirty="0" sz="3900" spc="55">
                <a:solidFill>
                  <a:srgbClr val="0C0C0C"/>
                </a:solidFill>
              </a:rPr>
              <a:t> </a:t>
            </a:r>
            <a:r>
              <a:rPr dirty="0" sz="3900" spc="80">
                <a:solidFill>
                  <a:srgbClr val="0C0C0C"/>
                </a:solidFill>
              </a:rPr>
              <a:t>Dynamic,</a:t>
            </a:r>
            <a:r>
              <a:rPr dirty="0" sz="3900" spc="-114">
                <a:solidFill>
                  <a:srgbClr val="0C0C0C"/>
                </a:solidFill>
              </a:rPr>
              <a:t> </a:t>
            </a:r>
            <a:r>
              <a:rPr dirty="0" sz="3900" spc="90">
                <a:solidFill>
                  <a:srgbClr val="0C0C0C"/>
                </a:solidFill>
              </a:rPr>
              <a:t>Data-</a:t>
            </a:r>
            <a:r>
              <a:rPr dirty="0" sz="3900" spc="95">
                <a:solidFill>
                  <a:srgbClr val="0C0C0C"/>
                </a:solidFill>
              </a:rPr>
              <a:t>Driven</a:t>
            </a:r>
            <a:r>
              <a:rPr dirty="0" sz="3900" spc="180">
                <a:solidFill>
                  <a:srgbClr val="0C0C0C"/>
                </a:solidFill>
              </a:rPr>
              <a:t> </a:t>
            </a:r>
            <a:r>
              <a:rPr dirty="0" sz="3900" spc="150">
                <a:solidFill>
                  <a:srgbClr val="0C0C0C"/>
                </a:solidFill>
              </a:rPr>
              <a:t>Model</a:t>
            </a:r>
            <a:r>
              <a:rPr dirty="0" sz="3900" spc="-120">
                <a:solidFill>
                  <a:srgbClr val="0C0C0C"/>
                </a:solidFill>
              </a:rPr>
              <a:t> </a:t>
            </a:r>
            <a:r>
              <a:rPr dirty="0" sz="3900">
                <a:solidFill>
                  <a:srgbClr val="0C0C0C"/>
                </a:solidFill>
              </a:rPr>
              <a:t>of</a:t>
            </a:r>
            <a:r>
              <a:rPr dirty="0" sz="3900" spc="25">
                <a:solidFill>
                  <a:srgbClr val="0C0C0C"/>
                </a:solidFill>
              </a:rPr>
              <a:t> </a:t>
            </a:r>
            <a:r>
              <a:rPr dirty="0" sz="3900" spc="70">
                <a:solidFill>
                  <a:srgbClr val="0C0C0C"/>
                </a:solidFill>
              </a:rPr>
              <a:t>Recovery</a:t>
            </a:r>
            <a:endParaRPr sz="3900"/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5207635">
              <a:lnSpc>
                <a:spcPct val="100000"/>
              </a:lnSpc>
              <a:spcBef>
                <a:spcPts val="114"/>
              </a:spcBef>
            </a:pPr>
            <a:r>
              <a:rPr dirty="0" spc="65"/>
              <a:t>Future</a:t>
            </a:r>
            <a:r>
              <a:rPr dirty="0" spc="-265"/>
              <a:t> </a:t>
            </a:r>
            <a:r>
              <a:rPr dirty="0" spc="50"/>
              <a:t>Roadmap</a:t>
            </a:r>
          </a:p>
          <a:p>
            <a:pPr>
              <a:lnSpc>
                <a:spcPct val="100000"/>
              </a:lnSpc>
              <a:spcBef>
                <a:spcPts val="975"/>
              </a:spcBef>
            </a:pPr>
          </a:p>
          <a:p>
            <a:pPr algn="ctr" marR="4490085">
              <a:lnSpc>
                <a:spcPct val="100000"/>
              </a:lnSpc>
            </a:pPr>
            <a:r>
              <a:rPr dirty="0"/>
              <a:t>Standardized</a:t>
            </a:r>
            <a:r>
              <a:rPr dirty="0" spc="370"/>
              <a:t> </a:t>
            </a:r>
            <a:r>
              <a:rPr dirty="0" spc="105"/>
              <a:t>Care</a:t>
            </a:r>
          </a:p>
          <a:p>
            <a:pPr>
              <a:lnSpc>
                <a:spcPct val="100000"/>
              </a:lnSpc>
              <a:spcBef>
                <a:spcPts val="2270"/>
              </a:spcBef>
            </a:pPr>
          </a:p>
          <a:p>
            <a:pPr algn="ctr" marL="12700" marR="4502785">
              <a:lnSpc>
                <a:spcPct val="101499"/>
              </a:lnSpc>
            </a:pPr>
            <a:r>
              <a:rPr dirty="0" sz="3300" spc="-60" b="0">
                <a:latin typeface="Times New Roman"/>
                <a:cs typeface="Times New Roman"/>
              </a:rPr>
              <a:t>(Episodic,</a:t>
            </a:r>
            <a:r>
              <a:rPr dirty="0" sz="3300" spc="-100" b="0">
                <a:latin typeface="Times New Roman"/>
                <a:cs typeface="Times New Roman"/>
              </a:rPr>
              <a:t> </a:t>
            </a:r>
            <a:r>
              <a:rPr dirty="0" sz="3300" spc="-70" b="0">
                <a:latin typeface="Times New Roman"/>
                <a:cs typeface="Times New Roman"/>
              </a:rPr>
              <a:t>Linear</a:t>
            </a:r>
            <a:r>
              <a:rPr dirty="0" sz="3300" spc="-130" b="0">
                <a:latin typeface="Times New Roman"/>
                <a:cs typeface="Times New Roman"/>
              </a:rPr>
              <a:t> </a:t>
            </a:r>
            <a:r>
              <a:rPr dirty="0" sz="3300" spc="-70" b="0">
                <a:latin typeface="Times New Roman"/>
                <a:cs typeface="Times New Roman"/>
              </a:rPr>
              <a:t>Models, </a:t>
            </a:r>
            <a:r>
              <a:rPr dirty="0" sz="3300" spc="-130" b="0">
                <a:latin typeface="Times New Roman"/>
                <a:cs typeface="Times New Roman"/>
              </a:rPr>
              <a:t>One-</a:t>
            </a:r>
            <a:r>
              <a:rPr dirty="0" sz="3300" spc="-100" b="0">
                <a:latin typeface="Times New Roman"/>
                <a:cs typeface="Times New Roman"/>
              </a:rPr>
              <a:t>size-</a:t>
            </a:r>
            <a:r>
              <a:rPr dirty="0" sz="3300" spc="-85" b="0">
                <a:latin typeface="Times New Roman"/>
                <a:cs typeface="Times New Roman"/>
              </a:rPr>
              <a:t>fits-</a:t>
            </a:r>
            <a:r>
              <a:rPr dirty="0" sz="3300" spc="-20" b="0">
                <a:latin typeface="Times New Roman"/>
                <a:cs typeface="Times New Roman"/>
              </a:rPr>
              <a:t>all)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5031" y="7404694"/>
            <a:ext cx="14690725" cy="197358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340360" marR="5080" indent="-328295">
              <a:lnSpc>
                <a:spcPts val="3720"/>
              </a:lnSpc>
              <a:spcBef>
                <a:spcPts val="440"/>
              </a:spcBef>
              <a:buChar char="•"/>
              <a:tabLst>
                <a:tab pos="340360" algn="l"/>
                <a:tab pos="346710" algn="l"/>
              </a:tabLst>
            </a:pPr>
            <a:r>
              <a:rPr dirty="0" sz="330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dirty="0" sz="3300" spc="-120">
                <a:solidFill>
                  <a:srgbClr val="0C0C0C"/>
                </a:solidFill>
                <a:latin typeface="Times New Roman"/>
                <a:cs typeface="Times New Roman"/>
              </a:rPr>
              <a:t>Readiness</a:t>
            </a:r>
            <a:r>
              <a:rPr dirty="0" sz="3300" spc="-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0C0C0C"/>
                </a:solidFill>
                <a:latin typeface="Times New Roman"/>
                <a:cs typeface="Times New Roman"/>
              </a:rPr>
              <a:t>to</a:t>
            </a:r>
            <a:r>
              <a:rPr dirty="0" sz="3300" spc="-3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95">
                <a:solidFill>
                  <a:srgbClr val="0C0C0C"/>
                </a:solidFill>
                <a:latin typeface="Times New Roman"/>
                <a:cs typeface="Times New Roman"/>
              </a:rPr>
              <a:t>change</a:t>
            </a:r>
            <a:r>
              <a:rPr dirty="0" sz="3300" spc="-1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50">
                <a:solidFill>
                  <a:srgbClr val="0C0C0C"/>
                </a:solidFill>
                <a:latin typeface="Times New Roman"/>
                <a:cs typeface="Times New Roman"/>
              </a:rPr>
              <a:t>is</a:t>
            </a:r>
            <a:r>
              <a:rPr dirty="0" sz="3300" spc="-15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20">
                <a:solidFill>
                  <a:srgbClr val="0C0C0C"/>
                </a:solidFill>
                <a:latin typeface="Times New Roman"/>
                <a:cs typeface="Times New Roman"/>
              </a:rPr>
              <a:t>not</a:t>
            </a:r>
            <a:r>
              <a:rPr dirty="0" sz="3300" spc="-18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80">
                <a:solidFill>
                  <a:srgbClr val="0C0C0C"/>
                </a:solidFill>
                <a:latin typeface="Times New Roman"/>
                <a:cs typeface="Times New Roman"/>
              </a:rPr>
              <a:t>a</a:t>
            </a:r>
            <a:r>
              <a:rPr dirty="0" sz="3300" spc="-1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70">
                <a:solidFill>
                  <a:srgbClr val="0C0C0C"/>
                </a:solidFill>
                <a:latin typeface="Times New Roman"/>
                <a:cs typeface="Times New Roman"/>
              </a:rPr>
              <a:t>static</a:t>
            </a:r>
            <a:r>
              <a:rPr dirty="0" sz="3300" spc="-2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10">
                <a:solidFill>
                  <a:srgbClr val="0C0C0C"/>
                </a:solidFill>
                <a:latin typeface="Times New Roman"/>
                <a:cs typeface="Times New Roman"/>
              </a:rPr>
              <a:t>trait</a:t>
            </a:r>
            <a:r>
              <a:rPr dirty="0" sz="3300" spc="-15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0C0C0C"/>
                </a:solidFill>
                <a:latin typeface="Times New Roman"/>
                <a:cs typeface="Times New Roman"/>
              </a:rPr>
              <a:t>but</a:t>
            </a:r>
            <a:r>
              <a:rPr dirty="0" sz="3300" spc="-1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3300" spc="-3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110">
                <a:solidFill>
                  <a:srgbClr val="0C0C0C"/>
                </a:solidFill>
                <a:latin typeface="Times New Roman"/>
                <a:cs typeface="Times New Roman"/>
              </a:rPr>
              <a:t>surface</a:t>
            </a:r>
            <a:r>
              <a:rPr dirty="0" sz="3300" spc="-9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75">
                <a:solidFill>
                  <a:srgbClr val="0C0C0C"/>
                </a:solidFill>
                <a:latin typeface="Times New Roman"/>
                <a:cs typeface="Times New Roman"/>
              </a:rPr>
              <a:t>manifestation</a:t>
            </a:r>
            <a:r>
              <a:rPr dirty="0" sz="3300" spc="1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11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dirty="0" sz="3300" spc="-15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0C0C0C"/>
                </a:solidFill>
                <a:latin typeface="Times New Roman"/>
                <a:cs typeface="Times New Roman"/>
              </a:rPr>
              <a:t>a</a:t>
            </a:r>
            <a:r>
              <a:rPr dirty="0" sz="3300" spc="-18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114">
                <a:solidFill>
                  <a:srgbClr val="0C0C0C"/>
                </a:solidFill>
                <a:latin typeface="Times New Roman"/>
                <a:cs typeface="Times New Roman"/>
              </a:rPr>
              <a:t>non-</a:t>
            </a:r>
            <a:r>
              <a:rPr dirty="0" sz="3300" spc="-65">
                <a:solidFill>
                  <a:srgbClr val="0C0C0C"/>
                </a:solidFill>
                <a:latin typeface="Times New Roman"/>
                <a:cs typeface="Times New Roman"/>
              </a:rPr>
              <a:t>linear</a:t>
            </a:r>
            <a:r>
              <a:rPr dirty="0" sz="3300" spc="-50">
                <a:solidFill>
                  <a:srgbClr val="0C0C0C"/>
                </a:solidFill>
                <a:latin typeface="Times New Roman"/>
                <a:cs typeface="Times New Roman"/>
              </a:rPr>
              <a:t> system </a:t>
            </a:r>
            <a:r>
              <a:rPr dirty="0" sz="3300" spc="-70">
                <a:solidFill>
                  <a:srgbClr val="0C0C0C"/>
                </a:solidFill>
                <a:latin typeface="Times New Roman"/>
                <a:cs typeface="Times New Roman"/>
              </a:rPr>
              <a:t>driven</a:t>
            </a:r>
            <a:r>
              <a:rPr dirty="0" sz="3300" spc="-140">
                <a:solidFill>
                  <a:srgbClr val="0C0C0C"/>
                </a:solidFill>
                <a:latin typeface="Times New Roman"/>
                <a:cs typeface="Times New Roman"/>
              </a:rPr>
              <a:t> by</a:t>
            </a:r>
            <a:r>
              <a:rPr dirty="0" sz="3300" spc="-3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80">
                <a:solidFill>
                  <a:srgbClr val="0C0C0C"/>
                </a:solidFill>
                <a:latin typeface="Times New Roman"/>
                <a:cs typeface="Times New Roman"/>
              </a:rPr>
              <a:t>sensitized</a:t>
            </a:r>
            <a:r>
              <a:rPr dirty="0" sz="3300" spc="-5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25">
                <a:solidFill>
                  <a:srgbClr val="0C0C0C"/>
                </a:solidFill>
                <a:latin typeface="Times New Roman"/>
                <a:cs typeface="Times New Roman"/>
              </a:rPr>
              <a:t>neurobiology</a:t>
            </a:r>
            <a:r>
              <a:rPr dirty="0" sz="3300" spc="-25">
                <a:solidFill>
                  <a:srgbClr val="2F2F2F"/>
                </a:solidFill>
                <a:latin typeface="Times New Roman"/>
                <a:cs typeface="Times New Roman"/>
              </a:rPr>
              <a:t>.</a:t>
            </a:r>
            <a:endParaRPr sz="3300">
              <a:latin typeface="Times New Roman"/>
              <a:cs typeface="Times New Roman"/>
            </a:endParaRPr>
          </a:p>
          <a:p>
            <a:pPr marL="339090" marR="163195" indent="-327025">
              <a:lnSpc>
                <a:spcPts val="3820"/>
              </a:lnSpc>
              <a:spcBef>
                <a:spcPts val="20"/>
              </a:spcBef>
              <a:buChar char="•"/>
              <a:tabLst>
                <a:tab pos="339090" algn="l"/>
                <a:tab pos="346710" algn="l"/>
              </a:tabLst>
            </a:pPr>
            <a:r>
              <a:rPr dirty="0" sz="330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dirty="0" sz="3300" spc="-240">
                <a:solidFill>
                  <a:srgbClr val="0C0C0C"/>
                </a:solidFill>
                <a:latin typeface="Times New Roman"/>
                <a:cs typeface="Times New Roman"/>
              </a:rPr>
              <a:t>By</a:t>
            </a:r>
            <a:r>
              <a:rPr dirty="0" sz="3300" spc="-2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65">
                <a:solidFill>
                  <a:srgbClr val="0C0C0C"/>
                </a:solidFill>
                <a:latin typeface="Times New Roman"/>
                <a:cs typeface="Times New Roman"/>
              </a:rPr>
              <a:t>integrating</a:t>
            </a:r>
            <a:r>
              <a:rPr dirty="0" sz="3300" spc="-1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90">
                <a:solidFill>
                  <a:srgbClr val="0C0C0C"/>
                </a:solidFill>
                <a:latin typeface="Times New Roman"/>
                <a:cs typeface="Times New Roman"/>
              </a:rPr>
              <a:t>high-</a:t>
            </a:r>
            <a:r>
              <a:rPr dirty="0" sz="3300" spc="-95">
                <a:solidFill>
                  <a:srgbClr val="0C0C0C"/>
                </a:solidFill>
                <a:latin typeface="Times New Roman"/>
                <a:cs typeface="Times New Roman"/>
              </a:rPr>
              <a:t>frequency</a:t>
            </a:r>
            <a:r>
              <a:rPr dirty="0" sz="3300" spc="-459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50">
                <a:solidFill>
                  <a:srgbClr val="0C0C0C"/>
                </a:solidFill>
                <a:latin typeface="Times New Roman"/>
                <a:cs typeface="Times New Roman"/>
              </a:rPr>
              <a:t>data</a:t>
            </a:r>
            <a:r>
              <a:rPr dirty="0" sz="3300" spc="-1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65">
                <a:solidFill>
                  <a:srgbClr val="0C0C0C"/>
                </a:solidFill>
                <a:latin typeface="Times New Roman"/>
                <a:cs typeface="Times New Roman"/>
              </a:rPr>
              <a:t>with</a:t>
            </a:r>
            <a:r>
              <a:rPr dirty="0" sz="3300" spc="-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100">
                <a:solidFill>
                  <a:srgbClr val="0C0C0C"/>
                </a:solidFill>
                <a:latin typeface="Times New Roman"/>
                <a:cs typeface="Times New Roman"/>
              </a:rPr>
              <a:t>non-</a:t>
            </a:r>
            <a:r>
              <a:rPr dirty="0" sz="3300" spc="-30">
                <a:solidFill>
                  <a:srgbClr val="0C0C0C"/>
                </a:solidFill>
                <a:latin typeface="Times New Roman"/>
                <a:cs typeface="Times New Roman"/>
              </a:rPr>
              <a:t>linear</a:t>
            </a:r>
            <a:r>
              <a:rPr dirty="0" sz="3300" spc="1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120">
                <a:solidFill>
                  <a:srgbClr val="0C0C0C"/>
                </a:solidFill>
                <a:latin typeface="Times New Roman"/>
                <a:cs typeface="Times New Roman"/>
              </a:rPr>
              <a:t>modeling,</a:t>
            </a:r>
            <a:r>
              <a:rPr dirty="0" sz="3300" spc="-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165">
                <a:solidFill>
                  <a:srgbClr val="0C0C0C"/>
                </a:solidFill>
                <a:latin typeface="Times New Roman"/>
                <a:cs typeface="Times New Roman"/>
              </a:rPr>
              <a:t>we</a:t>
            </a:r>
            <a:r>
              <a:rPr dirty="0" sz="3300" spc="-1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85">
                <a:solidFill>
                  <a:srgbClr val="0C0C0C"/>
                </a:solidFill>
                <a:latin typeface="Times New Roman"/>
                <a:cs typeface="Times New Roman"/>
              </a:rPr>
              <a:t>can</a:t>
            </a:r>
            <a:r>
              <a:rPr dirty="0" sz="3300" spc="-1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95">
                <a:solidFill>
                  <a:srgbClr val="0C0C0C"/>
                </a:solidFill>
                <a:latin typeface="Times New Roman"/>
                <a:cs typeface="Times New Roman"/>
              </a:rPr>
              <a:t>identify</a:t>
            </a:r>
            <a:r>
              <a:rPr dirty="0" sz="3300" spc="-28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120">
                <a:solidFill>
                  <a:srgbClr val="2F2F2F"/>
                </a:solidFill>
                <a:latin typeface="Times New Roman"/>
                <a:cs typeface="Times New Roman"/>
              </a:rPr>
              <a:t>"</a:t>
            </a:r>
            <a:r>
              <a:rPr dirty="0" sz="3300" spc="-120">
                <a:solidFill>
                  <a:srgbClr val="0C0C0C"/>
                </a:solidFill>
                <a:latin typeface="Times New Roman"/>
                <a:cs typeface="Times New Roman"/>
              </a:rPr>
              <a:t>windows</a:t>
            </a:r>
            <a:r>
              <a:rPr dirty="0" sz="3300" spc="-29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25">
                <a:solidFill>
                  <a:srgbClr val="0C0C0C"/>
                </a:solidFill>
                <a:latin typeface="Times New Roman"/>
                <a:cs typeface="Times New Roman"/>
              </a:rPr>
              <a:t>of </a:t>
            </a:r>
            <a:r>
              <a:rPr dirty="0" sz="3300" spc="-70">
                <a:solidFill>
                  <a:srgbClr val="0C0C0C"/>
                </a:solidFill>
                <a:latin typeface="Times New Roman"/>
                <a:cs typeface="Times New Roman"/>
              </a:rPr>
              <a:t>opportunity"</a:t>
            </a:r>
            <a:r>
              <a:rPr dirty="0" sz="3300" spc="-14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0C0C0C"/>
                </a:solidFill>
                <a:latin typeface="Times New Roman"/>
                <a:cs typeface="Times New Roman"/>
              </a:rPr>
              <a:t>to</a:t>
            </a:r>
            <a:r>
              <a:rPr dirty="0" sz="3300" spc="-28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95">
                <a:solidFill>
                  <a:srgbClr val="0C0C0C"/>
                </a:solidFill>
                <a:latin typeface="Times New Roman"/>
                <a:cs typeface="Times New Roman"/>
              </a:rPr>
              <a:t>intervene,</a:t>
            </a:r>
            <a:r>
              <a:rPr dirty="0" sz="3300" spc="-110">
                <a:solidFill>
                  <a:srgbClr val="0C0C0C"/>
                </a:solidFill>
                <a:latin typeface="Times New Roman"/>
                <a:cs typeface="Times New Roman"/>
              </a:rPr>
              <a:t> stabilizing</a:t>
            </a:r>
            <a:r>
              <a:rPr dirty="0" sz="3300" spc="-9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3300" spc="-28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60">
                <a:solidFill>
                  <a:srgbClr val="0C0C0C"/>
                </a:solidFill>
                <a:latin typeface="Times New Roman"/>
                <a:cs typeface="Times New Roman"/>
              </a:rPr>
              <a:t>foundation</a:t>
            </a:r>
            <a:r>
              <a:rPr dirty="0" sz="3300" spc="-8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45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dirty="0" sz="3300" spc="-2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95">
                <a:solidFill>
                  <a:srgbClr val="0C0C0C"/>
                </a:solidFill>
                <a:latin typeface="Times New Roman"/>
                <a:cs typeface="Times New Roman"/>
              </a:rPr>
              <a:t>long-</a:t>
            </a:r>
            <a:r>
              <a:rPr dirty="0" sz="3300" spc="-10">
                <a:solidFill>
                  <a:srgbClr val="0C0C0C"/>
                </a:solidFill>
                <a:latin typeface="Times New Roman"/>
                <a:cs typeface="Times New Roman"/>
              </a:rPr>
              <a:t>term</a:t>
            </a:r>
            <a:r>
              <a:rPr dirty="0" sz="3300" spc="9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150">
                <a:solidFill>
                  <a:srgbClr val="0C0C0C"/>
                </a:solidFill>
                <a:latin typeface="Times New Roman"/>
                <a:cs typeface="Times New Roman"/>
              </a:rPr>
              <a:t>recovery</a:t>
            </a:r>
            <a:r>
              <a:rPr dirty="0" sz="3300" spc="-10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300" spc="-10">
                <a:solidFill>
                  <a:srgbClr val="0C0C0C"/>
                </a:solidFill>
                <a:latin typeface="Times New Roman"/>
                <a:cs typeface="Times New Roman"/>
              </a:rPr>
              <a:t>capital</a:t>
            </a:r>
            <a:r>
              <a:rPr dirty="0" sz="3300" spc="-10">
                <a:solidFill>
                  <a:srgbClr val="2F2F2F"/>
                </a:solidFill>
                <a:latin typeface="Times New Roman"/>
                <a:cs typeface="Times New Roman"/>
              </a:rPr>
              <a:t>.</a:t>
            </a:r>
            <a:endParaRPr sz="3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8565" y="510976"/>
            <a:ext cx="11357610" cy="10521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700">
                <a:solidFill>
                  <a:srgbClr val="1A1C1C"/>
                </a:solidFill>
              </a:rPr>
              <a:t>Key</a:t>
            </a:r>
            <a:r>
              <a:rPr dirty="0" sz="6700" spc="-360">
                <a:solidFill>
                  <a:srgbClr val="1A1C1C"/>
                </a:solidFill>
              </a:rPr>
              <a:t> </a:t>
            </a:r>
            <a:r>
              <a:rPr dirty="0" sz="6700">
                <a:solidFill>
                  <a:srgbClr val="1A1C1C"/>
                </a:solidFill>
              </a:rPr>
              <a:t>Literature</a:t>
            </a:r>
            <a:r>
              <a:rPr dirty="0" sz="6700" spc="185">
                <a:solidFill>
                  <a:srgbClr val="1A1C1C"/>
                </a:solidFill>
              </a:rPr>
              <a:t> </a:t>
            </a:r>
            <a:r>
              <a:rPr dirty="0" sz="6700" spc="190">
                <a:solidFill>
                  <a:srgbClr val="1A1C1C"/>
                </a:solidFill>
              </a:rPr>
              <a:t>&amp;</a:t>
            </a:r>
            <a:r>
              <a:rPr dirty="0" sz="6700" spc="-455">
                <a:solidFill>
                  <a:srgbClr val="1A1C1C"/>
                </a:solidFill>
              </a:rPr>
              <a:t> </a:t>
            </a:r>
            <a:r>
              <a:rPr dirty="0" sz="6700" spc="-10">
                <a:solidFill>
                  <a:srgbClr val="1A1C1C"/>
                </a:solidFill>
              </a:rPr>
              <a:t>References</a:t>
            </a:r>
            <a:endParaRPr sz="6700"/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3495">
              <a:lnSpc>
                <a:spcPts val="1635"/>
              </a:lnSpc>
            </a:pPr>
            <a:r>
              <a:rPr dirty="0" sz="1400" spc="-80">
                <a:latin typeface="Times New Roman"/>
                <a:cs typeface="Times New Roman"/>
              </a:rPr>
              <a:t>Isl\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pc="-10">
                <a:solidFill>
                  <a:srgbClr val="0C0C0C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0C0C0C"/>
                </a:solidFill>
              </a:rPr>
              <a:t>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48895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385"/>
              </a:spcBef>
            </a:pPr>
            <a:r>
              <a:rPr dirty="0" spc="-40"/>
              <a:t>Psychology</a:t>
            </a:r>
            <a:r>
              <a:rPr dirty="0" spc="-145"/>
              <a:t> </a:t>
            </a:r>
            <a:r>
              <a:rPr dirty="0" spc="-165"/>
              <a:t>&amp;</a:t>
            </a:r>
            <a:r>
              <a:rPr dirty="0" spc="-140"/>
              <a:t> </a:t>
            </a:r>
            <a:r>
              <a:rPr dirty="0" spc="-110"/>
              <a:t>Motivational</a:t>
            </a:r>
            <a:r>
              <a:rPr dirty="0" spc="5"/>
              <a:t> </a:t>
            </a:r>
            <a:r>
              <a:rPr dirty="0" spc="-10"/>
              <a:t>Interviewing</a:t>
            </a:r>
          </a:p>
          <a:p>
            <a:pPr marL="406400" indent="-384810">
              <a:lnSpc>
                <a:spcPts val="3645"/>
              </a:lnSpc>
              <a:spcBef>
                <a:spcPts val="280"/>
              </a:spcBef>
              <a:buChar char="•"/>
              <a:tabLst>
                <a:tab pos="406400" algn="l"/>
              </a:tabLst>
            </a:pPr>
            <a:r>
              <a:rPr dirty="0" sz="3100" spc="-30" b="0">
                <a:latin typeface="Times New Roman"/>
                <a:cs typeface="Times New Roman"/>
              </a:rPr>
              <a:t>Prochaska,].</a:t>
            </a:r>
            <a:r>
              <a:rPr dirty="0" sz="3100" spc="-165" b="0">
                <a:latin typeface="Times New Roman"/>
                <a:cs typeface="Times New Roman"/>
              </a:rPr>
              <a:t> </a:t>
            </a:r>
            <a:r>
              <a:rPr dirty="0" sz="3100" b="0">
                <a:latin typeface="Times New Roman"/>
                <a:cs typeface="Times New Roman"/>
              </a:rPr>
              <a:t>0.,</a:t>
            </a:r>
            <a:r>
              <a:rPr dirty="0" sz="3100" spc="210" b="0">
                <a:latin typeface="Times New Roman"/>
                <a:cs typeface="Times New Roman"/>
              </a:rPr>
              <a:t> </a:t>
            </a:r>
            <a:r>
              <a:rPr dirty="0" sz="3100" b="0">
                <a:solidFill>
                  <a:srgbClr val="1A1C1C"/>
                </a:solidFill>
                <a:latin typeface="Times New Roman"/>
                <a:cs typeface="Times New Roman"/>
              </a:rPr>
              <a:t>&amp;</a:t>
            </a:r>
            <a:r>
              <a:rPr dirty="0" sz="3100" spc="-275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80" b="0">
                <a:latin typeface="Times New Roman"/>
                <a:cs typeface="Times New Roman"/>
              </a:rPr>
              <a:t>DiClemente,</a:t>
            </a:r>
            <a:r>
              <a:rPr dirty="0" sz="3100" spc="45" b="0">
                <a:latin typeface="Times New Roman"/>
                <a:cs typeface="Times New Roman"/>
              </a:rPr>
              <a:t> </a:t>
            </a:r>
            <a:r>
              <a:rPr dirty="0" sz="3100" spc="-35" b="0">
                <a:solidFill>
                  <a:srgbClr val="1A1C1C"/>
                </a:solidFill>
                <a:latin typeface="Times New Roman"/>
                <a:cs typeface="Times New Roman"/>
              </a:rPr>
              <a:t>C.</a:t>
            </a:r>
            <a:r>
              <a:rPr dirty="0" sz="3100" spc="-260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95" b="0">
                <a:solidFill>
                  <a:srgbClr val="1A1C1C"/>
                </a:solidFill>
                <a:latin typeface="Times New Roman"/>
                <a:cs typeface="Times New Roman"/>
              </a:rPr>
              <a:t>C.</a:t>
            </a:r>
            <a:r>
              <a:rPr dirty="0" sz="3100" spc="-160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10" b="0">
                <a:solidFill>
                  <a:srgbClr val="1A1C1C"/>
                </a:solidFill>
                <a:latin typeface="Times New Roman"/>
                <a:cs typeface="Times New Roman"/>
              </a:rPr>
              <a:t>(1983).</a:t>
            </a:r>
            <a:endParaRPr sz="3100">
              <a:latin typeface="Times New Roman"/>
              <a:cs typeface="Times New Roman"/>
            </a:endParaRPr>
          </a:p>
          <a:p>
            <a:pPr marL="409575">
              <a:lnSpc>
                <a:spcPts val="3825"/>
              </a:lnSpc>
            </a:pPr>
            <a:r>
              <a:rPr dirty="0" sz="3250" spc="-260" b="0" i="1">
                <a:solidFill>
                  <a:srgbClr val="1A1C1C"/>
                </a:solidFill>
                <a:latin typeface="Times New Roman"/>
                <a:cs typeface="Times New Roman"/>
              </a:rPr>
              <a:t>Stages</a:t>
            </a:r>
            <a:r>
              <a:rPr dirty="0" sz="3250" spc="-215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220" b="0" i="1">
                <a:solidFill>
                  <a:srgbClr val="1A1C1C"/>
                </a:solidFill>
                <a:latin typeface="Times New Roman"/>
                <a:cs typeface="Times New Roman"/>
              </a:rPr>
              <a:t>and</a:t>
            </a:r>
            <a:r>
              <a:rPr dirty="0" sz="3250" spc="-210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355" b="0" i="1">
                <a:solidFill>
                  <a:srgbClr val="1A1C1C"/>
                </a:solidFill>
                <a:latin typeface="Times New Roman"/>
                <a:cs typeface="Times New Roman"/>
              </a:rPr>
              <a:t>processes</a:t>
            </a:r>
            <a:r>
              <a:rPr dirty="0" sz="3250" spc="-20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225" b="0" i="1">
                <a:solidFill>
                  <a:srgbClr val="1A1C1C"/>
                </a:solidFill>
                <a:latin typeface="Times New Roman"/>
                <a:cs typeface="Times New Roman"/>
              </a:rPr>
              <a:t>of</a:t>
            </a:r>
            <a:r>
              <a:rPr dirty="0" sz="3250" spc="-170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265" b="0" i="1">
                <a:solidFill>
                  <a:srgbClr val="1A1C1C"/>
                </a:solidFill>
                <a:latin typeface="Times New Roman"/>
                <a:cs typeface="Times New Roman"/>
              </a:rPr>
              <a:t>self-</a:t>
            </a:r>
            <a:r>
              <a:rPr dirty="0" sz="3250" spc="-365" b="0" i="1">
                <a:solidFill>
                  <a:srgbClr val="1A1C1C"/>
                </a:solidFill>
                <a:latin typeface="Times New Roman"/>
                <a:cs typeface="Times New Roman"/>
              </a:rPr>
              <a:t>change</a:t>
            </a:r>
            <a:r>
              <a:rPr dirty="0" sz="3250" spc="-35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225" b="0" i="1">
                <a:solidFill>
                  <a:srgbClr val="1A1C1C"/>
                </a:solidFill>
                <a:latin typeface="Times New Roman"/>
                <a:cs typeface="Times New Roman"/>
              </a:rPr>
              <a:t>of</a:t>
            </a:r>
            <a:r>
              <a:rPr dirty="0" sz="3250" spc="-65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85" b="0" i="1">
                <a:solidFill>
                  <a:srgbClr val="1A1C1C"/>
                </a:solidFill>
                <a:latin typeface="Times New Roman"/>
                <a:cs typeface="Times New Roman"/>
              </a:rPr>
              <a:t>smoking.</a:t>
            </a:r>
            <a:endParaRPr sz="3250">
              <a:latin typeface="Times New Roman"/>
              <a:cs typeface="Times New Roman"/>
            </a:endParaRPr>
          </a:p>
          <a:p>
            <a:pPr marL="391160" marR="5080" indent="-370205">
              <a:lnSpc>
                <a:spcPts val="3720"/>
              </a:lnSpc>
              <a:spcBef>
                <a:spcPts val="695"/>
              </a:spcBef>
              <a:buChar char="•"/>
              <a:tabLst>
                <a:tab pos="391160" algn="l"/>
                <a:tab pos="406400" algn="l"/>
              </a:tabLst>
            </a:pPr>
            <a:r>
              <a:rPr dirty="0" sz="3100" b="0">
                <a:latin typeface="Times New Roman"/>
                <a:cs typeface="Times New Roman"/>
              </a:rPr>
              <a:t>	</a:t>
            </a:r>
            <a:r>
              <a:rPr dirty="0" sz="3100" spc="-155" b="0">
                <a:latin typeface="Times New Roman"/>
                <a:cs typeface="Times New Roman"/>
              </a:rPr>
              <a:t>Miller,</a:t>
            </a:r>
            <a:r>
              <a:rPr dirty="0" sz="3100" spc="-220" b="0">
                <a:latin typeface="Times New Roman"/>
                <a:cs typeface="Times New Roman"/>
              </a:rPr>
              <a:t> </a:t>
            </a:r>
            <a:r>
              <a:rPr dirty="0" sz="3150" spc="-180">
                <a:solidFill>
                  <a:srgbClr val="1A1C1C"/>
                </a:solidFill>
              </a:rPr>
              <a:t>W.R.,</a:t>
            </a:r>
            <a:r>
              <a:rPr dirty="0" sz="3150" spc="-45">
                <a:solidFill>
                  <a:srgbClr val="1A1C1C"/>
                </a:solidFill>
              </a:rPr>
              <a:t> </a:t>
            </a:r>
            <a:r>
              <a:rPr dirty="0" sz="3100" b="0">
                <a:latin typeface="Times New Roman"/>
                <a:cs typeface="Times New Roman"/>
              </a:rPr>
              <a:t>&amp;</a:t>
            </a:r>
            <a:r>
              <a:rPr dirty="0" sz="3100" spc="-235" b="0">
                <a:latin typeface="Times New Roman"/>
                <a:cs typeface="Times New Roman"/>
              </a:rPr>
              <a:t> </a:t>
            </a:r>
            <a:r>
              <a:rPr dirty="0" sz="3100" spc="-135" b="0">
                <a:latin typeface="Times New Roman"/>
                <a:cs typeface="Times New Roman"/>
              </a:rPr>
              <a:t>Rollnick,</a:t>
            </a:r>
            <a:r>
              <a:rPr dirty="0" sz="3100" spc="-175" b="0">
                <a:latin typeface="Times New Roman"/>
                <a:cs typeface="Times New Roman"/>
              </a:rPr>
              <a:t> </a:t>
            </a:r>
            <a:r>
              <a:rPr dirty="0" sz="3100" spc="-75" b="0">
                <a:solidFill>
                  <a:srgbClr val="1A1C1C"/>
                </a:solidFill>
                <a:latin typeface="Times New Roman"/>
                <a:cs typeface="Times New Roman"/>
              </a:rPr>
              <a:t>S.</a:t>
            </a:r>
            <a:r>
              <a:rPr dirty="0" sz="3100" spc="-110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155" b="0">
                <a:solidFill>
                  <a:srgbClr val="1A1C1C"/>
                </a:solidFill>
                <a:latin typeface="Times New Roman"/>
                <a:cs typeface="Times New Roman"/>
              </a:rPr>
              <a:t>(2012).</a:t>
            </a:r>
            <a:r>
              <a:rPr dirty="0" sz="3100" spc="-150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220" b="0" i="1">
                <a:latin typeface="Times New Roman"/>
                <a:cs typeface="Times New Roman"/>
              </a:rPr>
              <a:t>Motivational</a:t>
            </a:r>
            <a:r>
              <a:rPr dirty="0" sz="3250" spc="-220" b="0" i="1">
                <a:latin typeface="Times New Roman"/>
                <a:cs typeface="Times New Roman"/>
              </a:rPr>
              <a:t> </a:t>
            </a:r>
            <a:r>
              <a:rPr dirty="0" sz="3250" spc="-245" b="0" i="1">
                <a:solidFill>
                  <a:srgbClr val="1A1C1C"/>
                </a:solidFill>
                <a:latin typeface="Times New Roman"/>
                <a:cs typeface="Times New Roman"/>
              </a:rPr>
              <a:t>interviewing:</a:t>
            </a:r>
            <a:r>
              <a:rPr dirty="0" sz="3250" spc="-45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254" b="0" i="1">
                <a:latin typeface="Times New Roman"/>
                <a:cs typeface="Times New Roman"/>
              </a:rPr>
              <a:t>Helping</a:t>
            </a:r>
            <a:r>
              <a:rPr dirty="0" sz="3250" spc="-95" b="0" i="1">
                <a:latin typeface="Times New Roman"/>
                <a:cs typeface="Times New Roman"/>
              </a:rPr>
              <a:t> </a:t>
            </a:r>
            <a:r>
              <a:rPr dirty="0" sz="3250" spc="-325" b="0" i="1">
                <a:solidFill>
                  <a:srgbClr val="1A1C1C"/>
                </a:solidFill>
                <a:latin typeface="Times New Roman"/>
                <a:cs typeface="Times New Roman"/>
              </a:rPr>
              <a:t>people</a:t>
            </a:r>
            <a:r>
              <a:rPr dirty="0" sz="3250" spc="-175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345" b="0" i="1">
                <a:solidFill>
                  <a:srgbClr val="1A1C1C"/>
                </a:solidFill>
                <a:latin typeface="Times New Roman"/>
                <a:cs typeface="Times New Roman"/>
              </a:rPr>
              <a:t>change.</a:t>
            </a:r>
            <a:endParaRPr sz="3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0A0A0A"/>
              </a:buClr>
              <a:buFont typeface="Times New Roman"/>
              <a:buChar char="•"/>
            </a:pPr>
            <a:endParaRPr sz="3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pc="-65"/>
              <a:t>Neurobiology</a:t>
            </a:r>
            <a:r>
              <a:rPr dirty="0" spc="-90"/>
              <a:t> </a:t>
            </a:r>
            <a:r>
              <a:rPr dirty="0" spc="-165"/>
              <a:t>&amp;</a:t>
            </a:r>
            <a:r>
              <a:rPr dirty="0" spc="-305"/>
              <a:t> </a:t>
            </a:r>
            <a:r>
              <a:rPr dirty="0" spc="-10"/>
              <a:t>Allostasis</a:t>
            </a:r>
          </a:p>
          <a:p>
            <a:pPr marL="394335" marR="1016635" indent="-373380">
              <a:lnSpc>
                <a:spcPct val="94100"/>
              </a:lnSpc>
              <a:spcBef>
                <a:spcPts val="360"/>
              </a:spcBef>
              <a:buChar char="•"/>
              <a:tabLst>
                <a:tab pos="394335" algn="l"/>
                <a:tab pos="396240" algn="l"/>
              </a:tabLst>
            </a:pPr>
            <a:r>
              <a:rPr dirty="0" sz="3100" b="0">
                <a:latin typeface="Times New Roman"/>
                <a:cs typeface="Times New Roman"/>
              </a:rPr>
              <a:t>	</a:t>
            </a:r>
            <a:r>
              <a:rPr dirty="0" sz="3100" spc="-204" b="0">
                <a:solidFill>
                  <a:srgbClr val="1A1C1C"/>
                </a:solidFill>
                <a:latin typeface="Times New Roman"/>
                <a:cs typeface="Times New Roman"/>
              </a:rPr>
              <a:t>Volkow,</a:t>
            </a:r>
            <a:r>
              <a:rPr dirty="0" sz="3100" spc="-220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000" spc="100">
                <a:solidFill>
                  <a:srgbClr val="1A1C1C"/>
                </a:solidFill>
                <a:latin typeface="Arial"/>
                <a:cs typeface="Arial"/>
              </a:rPr>
              <a:t>N.</a:t>
            </a:r>
            <a:r>
              <a:rPr dirty="0" sz="3000" spc="-535">
                <a:solidFill>
                  <a:srgbClr val="1A1C1C"/>
                </a:solidFill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D.,</a:t>
            </a:r>
            <a:r>
              <a:rPr dirty="0" sz="3000" spc="-380">
                <a:latin typeface="Arial"/>
                <a:cs typeface="Arial"/>
              </a:rPr>
              <a:t> </a:t>
            </a:r>
            <a:r>
              <a:rPr dirty="0" sz="3100" b="0">
                <a:solidFill>
                  <a:srgbClr val="1A1C1C"/>
                </a:solidFill>
                <a:latin typeface="Times New Roman"/>
                <a:cs typeface="Times New Roman"/>
              </a:rPr>
              <a:t>et</a:t>
            </a:r>
            <a:r>
              <a:rPr dirty="0" sz="3100" spc="-110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100" b="0">
                <a:solidFill>
                  <a:srgbClr val="1A1C1C"/>
                </a:solidFill>
                <a:latin typeface="Times New Roman"/>
                <a:cs typeface="Times New Roman"/>
              </a:rPr>
              <a:t>al.</a:t>
            </a:r>
            <a:r>
              <a:rPr dirty="0" sz="3100" spc="-120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140" b="0">
                <a:solidFill>
                  <a:srgbClr val="1A1C1C"/>
                </a:solidFill>
                <a:latin typeface="Times New Roman"/>
                <a:cs typeface="Times New Roman"/>
              </a:rPr>
              <a:t>(2016).</a:t>
            </a:r>
            <a:r>
              <a:rPr dirty="0" sz="3100" spc="20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350" b="0" i="1">
                <a:solidFill>
                  <a:srgbClr val="1A1C1C"/>
                </a:solidFill>
                <a:latin typeface="Times New Roman"/>
                <a:cs typeface="Times New Roman"/>
              </a:rPr>
              <a:t>Neurobiologic</a:t>
            </a:r>
            <a:r>
              <a:rPr dirty="0" sz="3250" spc="-350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285" b="0" i="1">
                <a:solidFill>
                  <a:srgbClr val="1A1C1C"/>
                </a:solidFill>
                <a:latin typeface="Times New Roman"/>
                <a:cs typeface="Times New Roman"/>
              </a:rPr>
              <a:t>Advances</a:t>
            </a:r>
            <a:r>
              <a:rPr dirty="0" sz="3250" spc="-114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280" b="0" i="1">
                <a:solidFill>
                  <a:srgbClr val="1A1C1C"/>
                </a:solidFill>
                <a:latin typeface="Times New Roman"/>
                <a:cs typeface="Times New Roman"/>
              </a:rPr>
              <a:t>from</a:t>
            </a:r>
            <a:r>
              <a:rPr dirty="0" sz="3250" spc="-335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250" b="0" i="1">
                <a:solidFill>
                  <a:srgbClr val="1A1C1C"/>
                </a:solidFill>
                <a:latin typeface="Times New Roman"/>
                <a:cs typeface="Times New Roman"/>
              </a:rPr>
              <a:t>the</a:t>
            </a:r>
            <a:r>
              <a:rPr dirty="0" sz="3250" spc="-140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270" b="0" i="1">
                <a:latin typeface="Times New Roman"/>
                <a:cs typeface="Times New Roman"/>
              </a:rPr>
              <a:t>Brain</a:t>
            </a:r>
            <a:r>
              <a:rPr dirty="0" sz="3250" spc="-45" b="0" i="1">
                <a:latin typeface="Times New Roman"/>
                <a:cs typeface="Times New Roman"/>
              </a:rPr>
              <a:t> </a:t>
            </a:r>
            <a:r>
              <a:rPr dirty="0" sz="3250" spc="-345" b="0" i="1">
                <a:latin typeface="Times New Roman"/>
                <a:cs typeface="Times New Roman"/>
              </a:rPr>
              <a:t>Disease</a:t>
            </a:r>
            <a:r>
              <a:rPr dirty="0" sz="3250" spc="-215" b="0" i="1">
                <a:latin typeface="Times New Roman"/>
                <a:cs typeface="Times New Roman"/>
              </a:rPr>
              <a:t> </a:t>
            </a:r>
            <a:r>
              <a:rPr dirty="0" sz="3250" spc="-270" b="0" i="1">
                <a:solidFill>
                  <a:srgbClr val="1A1C1C"/>
                </a:solidFill>
                <a:latin typeface="Times New Roman"/>
                <a:cs typeface="Times New Roman"/>
              </a:rPr>
              <a:t>Model</a:t>
            </a:r>
            <a:r>
              <a:rPr dirty="0" sz="3250" spc="-360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25" b="0" i="1">
                <a:solidFill>
                  <a:srgbClr val="1A1C1C"/>
                </a:solidFill>
                <a:latin typeface="Times New Roman"/>
                <a:cs typeface="Times New Roman"/>
              </a:rPr>
              <a:t>of </a:t>
            </a:r>
            <a:r>
              <a:rPr dirty="0" sz="3250" spc="-125" b="0" i="1">
                <a:latin typeface="Times New Roman"/>
                <a:cs typeface="Times New Roman"/>
              </a:rPr>
              <a:t>Addiction.</a:t>
            </a:r>
            <a:endParaRPr sz="3250">
              <a:latin typeface="Times New Roman"/>
              <a:cs typeface="Times New Roman"/>
            </a:endParaRPr>
          </a:p>
          <a:p>
            <a:pPr marL="406400" indent="-384810">
              <a:lnSpc>
                <a:spcPts val="3529"/>
              </a:lnSpc>
              <a:buClr>
                <a:srgbClr val="0A0A0A"/>
              </a:buClr>
              <a:buChar char="•"/>
              <a:tabLst>
                <a:tab pos="406400" algn="l"/>
              </a:tabLst>
            </a:pPr>
            <a:r>
              <a:rPr dirty="0" sz="3100" spc="-70" b="0">
                <a:solidFill>
                  <a:srgbClr val="1A1C1C"/>
                </a:solidFill>
                <a:latin typeface="Times New Roman"/>
                <a:cs typeface="Times New Roman"/>
              </a:rPr>
              <a:t>Koob,</a:t>
            </a:r>
            <a:r>
              <a:rPr dirty="0" sz="3100" spc="-175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25" b="0">
                <a:solidFill>
                  <a:srgbClr val="1A1C1C"/>
                </a:solidFill>
                <a:latin typeface="Times New Roman"/>
                <a:cs typeface="Times New Roman"/>
              </a:rPr>
              <a:t>G.</a:t>
            </a:r>
            <a:r>
              <a:rPr dirty="0" sz="3100" spc="-185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195" b="0">
                <a:solidFill>
                  <a:srgbClr val="1A1C1C"/>
                </a:solidFill>
                <a:latin typeface="Times New Roman"/>
                <a:cs typeface="Times New Roman"/>
              </a:rPr>
              <a:t>F.,</a:t>
            </a:r>
            <a:r>
              <a:rPr dirty="0" sz="3100" spc="-145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55" b="0">
                <a:solidFill>
                  <a:srgbClr val="1A1C1C"/>
                </a:solidFill>
                <a:latin typeface="Times New Roman"/>
                <a:cs typeface="Times New Roman"/>
              </a:rPr>
              <a:t>&amp;</a:t>
            </a:r>
            <a:r>
              <a:rPr dirty="0" sz="3100" spc="-270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45" b="0">
                <a:solidFill>
                  <a:srgbClr val="1A1C1C"/>
                </a:solidFill>
                <a:latin typeface="Times New Roman"/>
                <a:cs typeface="Times New Roman"/>
              </a:rPr>
              <a:t>Le</a:t>
            </a:r>
            <a:r>
              <a:rPr dirty="0" sz="3100" spc="-245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125" b="0">
                <a:solidFill>
                  <a:srgbClr val="1A1C1C"/>
                </a:solidFill>
                <a:latin typeface="Times New Roman"/>
                <a:cs typeface="Times New Roman"/>
              </a:rPr>
              <a:t>Moal,</a:t>
            </a:r>
            <a:r>
              <a:rPr dirty="0" sz="3100" spc="-95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130" b="0">
                <a:solidFill>
                  <a:srgbClr val="1A1C1C"/>
                </a:solidFill>
                <a:latin typeface="Times New Roman"/>
                <a:cs typeface="Times New Roman"/>
              </a:rPr>
              <a:t>M.</a:t>
            </a:r>
            <a:r>
              <a:rPr dirty="0" sz="3100" spc="-120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140" b="0">
                <a:solidFill>
                  <a:srgbClr val="1A1C1C"/>
                </a:solidFill>
                <a:latin typeface="Times New Roman"/>
                <a:cs typeface="Times New Roman"/>
              </a:rPr>
              <a:t>(2001).</a:t>
            </a:r>
            <a:r>
              <a:rPr dirty="0" sz="3100" spc="25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330" b="0" i="1">
                <a:latin typeface="Times New Roman"/>
                <a:cs typeface="Times New Roman"/>
              </a:rPr>
              <a:t>Drug</a:t>
            </a:r>
            <a:endParaRPr sz="3250">
              <a:latin typeface="Times New Roman"/>
              <a:cs typeface="Times New Roman"/>
            </a:endParaRPr>
          </a:p>
          <a:p>
            <a:pPr marL="403225">
              <a:lnSpc>
                <a:spcPts val="3810"/>
              </a:lnSpc>
            </a:pPr>
            <a:r>
              <a:rPr dirty="0" sz="3250" spc="-275" b="0" i="1">
                <a:solidFill>
                  <a:srgbClr val="1A1C1C"/>
                </a:solidFill>
                <a:latin typeface="Times New Roman"/>
                <a:cs typeface="Times New Roman"/>
              </a:rPr>
              <a:t>addiction,</a:t>
            </a:r>
            <a:r>
              <a:rPr dirty="0" sz="3250" spc="-45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330" b="0" i="1">
                <a:solidFill>
                  <a:srgbClr val="1A1C1C"/>
                </a:solidFill>
                <a:latin typeface="Times New Roman"/>
                <a:cs typeface="Times New Roman"/>
              </a:rPr>
              <a:t>dysregulation</a:t>
            </a:r>
            <a:r>
              <a:rPr dirty="0" sz="3250" spc="75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45" b="0" i="1">
                <a:solidFill>
                  <a:srgbClr val="1A1C1C"/>
                </a:solidFill>
                <a:latin typeface="Times New Roman"/>
                <a:cs typeface="Times New Roman"/>
              </a:rPr>
              <a:t>of</a:t>
            </a:r>
            <a:r>
              <a:rPr dirty="0" sz="3250" spc="-70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325" b="0" i="1">
                <a:solidFill>
                  <a:srgbClr val="1A1C1C"/>
                </a:solidFill>
                <a:latin typeface="Times New Roman"/>
                <a:cs typeface="Times New Roman"/>
              </a:rPr>
              <a:t>reward,</a:t>
            </a:r>
            <a:r>
              <a:rPr dirty="0" sz="3250" spc="-80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280" b="0" i="1">
                <a:latin typeface="Times New Roman"/>
                <a:cs typeface="Times New Roman"/>
              </a:rPr>
              <a:t>and</a:t>
            </a:r>
            <a:r>
              <a:rPr dirty="0" sz="3250" spc="-160" b="0" i="1">
                <a:latin typeface="Times New Roman"/>
                <a:cs typeface="Times New Roman"/>
              </a:rPr>
              <a:t> </a:t>
            </a:r>
            <a:r>
              <a:rPr dirty="0" sz="3250" spc="-275" b="0" i="1">
                <a:solidFill>
                  <a:srgbClr val="1A1C1C"/>
                </a:solidFill>
                <a:latin typeface="Times New Roman"/>
                <a:cs typeface="Times New Roman"/>
              </a:rPr>
              <a:t>allostasis.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14"/>
              </a:spcBef>
            </a:pPr>
            <a:r>
              <a:rPr dirty="0" spc="-95"/>
              <a:t>Non-</a:t>
            </a:r>
            <a:r>
              <a:rPr dirty="0" spc="-80"/>
              <a:t>Linear</a:t>
            </a:r>
            <a:r>
              <a:rPr dirty="0" spc="-120"/>
              <a:t> </a:t>
            </a:r>
            <a:r>
              <a:rPr dirty="0" spc="-50"/>
              <a:t>Dynamics</a:t>
            </a:r>
            <a:r>
              <a:rPr dirty="0" spc="-70"/>
              <a:t> </a:t>
            </a:r>
            <a:r>
              <a:rPr dirty="0" spc="-165"/>
              <a:t>&amp;</a:t>
            </a:r>
            <a:r>
              <a:rPr dirty="0" spc="-140"/>
              <a:t> </a:t>
            </a:r>
            <a:r>
              <a:rPr dirty="0" spc="-10"/>
              <a:t>Mathematics</a:t>
            </a:r>
          </a:p>
          <a:p>
            <a:pPr marL="403860" marR="5080" indent="-386080">
              <a:lnSpc>
                <a:spcPts val="3720"/>
              </a:lnSpc>
              <a:spcBef>
                <a:spcPts val="405"/>
              </a:spcBef>
              <a:buClr>
                <a:srgbClr val="0A0A0A"/>
              </a:buClr>
              <a:buChar char="•"/>
              <a:tabLst>
                <a:tab pos="416559" algn="l"/>
              </a:tabLst>
            </a:pPr>
            <a:r>
              <a:rPr dirty="0" sz="3100" spc="-120" b="0">
                <a:solidFill>
                  <a:srgbClr val="1A1C1C"/>
                </a:solidFill>
                <a:latin typeface="Times New Roman"/>
                <a:cs typeface="Times New Roman"/>
              </a:rPr>
              <a:t>Witkiewitz,</a:t>
            </a:r>
            <a:r>
              <a:rPr dirty="0" sz="3100" spc="-60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60" b="0">
                <a:latin typeface="Times New Roman"/>
                <a:cs typeface="Times New Roman"/>
              </a:rPr>
              <a:t>K.,</a:t>
            </a:r>
            <a:r>
              <a:rPr dirty="0" sz="3100" spc="-280" b="0">
                <a:latin typeface="Times New Roman"/>
                <a:cs typeface="Times New Roman"/>
              </a:rPr>
              <a:t> </a:t>
            </a:r>
            <a:r>
              <a:rPr dirty="0" sz="3100" spc="-50" b="0">
                <a:latin typeface="Times New Roman"/>
                <a:cs typeface="Times New Roman"/>
              </a:rPr>
              <a:t>&amp;</a:t>
            </a:r>
            <a:r>
              <a:rPr dirty="0" sz="3100" spc="-170" b="0">
                <a:latin typeface="Times New Roman"/>
                <a:cs typeface="Times New Roman"/>
              </a:rPr>
              <a:t> </a:t>
            </a:r>
            <a:r>
              <a:rPr dirty="0" sz="3100" spc="-100" b="0">
                <a:solidFill>
                  <a:srgbClr val="1A1C1C"/>
                </a:solidFill>
                <a:latin typeface="Times New Roman"/>
                <a:cs typeface="Times New Roman"/>
              </a:rPr>
              <a:t>Marlatt,</a:t>
            </a:r>
            <a:r>
              <a:rPr dirty="0" sz="3100" spc="-55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85" b="0">
                <a:solidFill>
                  <a:srgbClr val="1A1C1C"/>
                </a:solidFill>
                <a:latin typeface="Times New Roman"/>
                <a:cs typeface="Times New Roman"/>
              </a:rPr>
              <a:t>G.</a:t>
            </a:r>
            <a:r>
              <a:rPr dirty="0" sz="3100" spc="-254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b="0">
                <a:solidFill>
                  <a:srgbClr val="1A1C1C"/>
                </a:solidFill>
                <a:latin typeface="Times New Roman"/>
                <a:cs typeface="Times New Roman"/>
              </a:rPr>
              <a:t>A.</a:t>
            </a:r>
            <a:r>
              <a:rPr dirty="0" sz="3100" spc="-170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130" b="0">
                <a:solidFill>
                  <a:srgbClr val="1A1C1C"/>
                </a:solidFill>
                <a:latin typeface="Times New Roman"/>
                <a:cs typeface="Times New Roman"/>
              </a:rPr>
              <a:t>(2004).</a:t>
            </a:r>
            <a:r>
              <a:rPr dirty="0" sz="3100" spc="70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325" b="0" i="1">
                <a:latin typeface="Times New Roman"/>
                <a:cs typeface="Times New Roman"/>
              </a:rPr>
              <a:t>Relapse</a:t>
            </a:r>
            <a:r>
              <a:rPr dirty="0" sz="3250" spc="-325" b="0" i="1">
                <a:latin typeface="Times New Roman"/>
                <a:cs typeface="Times New Roman"/>
              </a:rPr>
              <a:t> </a:t>
            </a:r>
            <a:r>
              <a:rPr dirty="0" sz="3250" spc="-325" b="0" i="1">
                <a:latin typeface="Times New Roman"/>
                <a:cs typeface="Times New Roman"/>
              </a:rPr>
              <a:t>	</a:t>
            </a:r>
            <a:r>
              <a:rPr dirty="0" sz="3250" spc="-265" b="0" i="1">
                <a:solidFill>
                  <a:srgbClr val="1A1C1C"/>
                </a:solidFill>
                <a:latin typeface="Times New Roman"/>
                <a:cs typeface="Times New Roman"/>
              </a:rPr>
              <a:t>prevention</a:t>
            </a:r>
            <a:r>
              <a:rPr dirty="0" sz="3250" spc="-145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150" b="0" i="1">
                <a:solidFill>
                  <a:srgbClr val="1A1C1C"/>
                </a:solidFill>
                <a:latin typeface="Times New Roman"/>
                <a:cs typeface="Times New Roman"/>
              </a:rPr>
              <a:t>for</a:t>
            </a:r>
            <a:r>
              <a:rPr dirty="0" sz="3250" spc="-415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300" b="0" i="1">
                <a:solidFill>
                  <a:srgbClr val="1A1C1C"/>
                </a:solidFill>
                <a:latin typeface="Times New Roman"/>
                <a:cs typeface="Times New Roman"/>
              </a:rPr>
              <a:t>alcohol</a:t>
            </a:r>
            <a:r>
              <a:rPr dirty="0" sz="3250" spc="-280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220" b="0" i="1">
                <a:solidFill>
                  <a:srgbClr val="1A1C1C"/>
                </a:solidFill>
                <a:latin typeface="Times New Roman"/>
                <a:cs typeface="Times New Roman"/>
              </a:rPr>
              <a:t>and</a:t>
            </a:r>
            <a:r>
              <a:rPr dirty="0" sz="3250" spc="-114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265" b="0" i="1">
                <a:solidFill>
                  <a:srgbClr val="1A1C1C"/>
                </a:solidFill>
                <a:latin typeface="Times New Roman"/>
                <a:cs typeface="Times New Roman"/>
              </a:rPr>
              <a:t>drug </a:t>
            </a:r>
            <a:r>
              <a:rPr dirty="0" sz="3250" spc="-285" b="0" i="1">
                <a:solidFill>
                  <a:srgbClr val="1A1C1C"/>
                </a:solidFill>
                <a:latin typeface="Times New Roman"/>
                <a:cs typeface="Times New Roman"/>
              </a:rPr>
              <a:t>problems.</a:t>
            </a:r>
            <a:endParaRPr sz="3250">
              <a:latin typeface="Times New Roman"/>
              <a:cs typeface="Times New Roman"/>
            </a:endParaRPr>
          </a:p>
          <a:p>
            <a:pPr marL="413384" marR="762000" indent="-395605">
              <a:lnSpc>
                <a:spcPts val="3720"/>
              </a:lnSpc>
              <a:spcBef>
                <a:spcPts val="600"/>
              </a:spcBef>
              <a:buChar char="•"/>
              <a:tabLst>
                <a:tab pos="413384" algn="l"/>
                <a:tab pos="415290" algn="l"/>
              </a:tabLst>
            </a:pPr>
            <a:r>
              <a:rPr dirty="0" sz="3100" b="0">
                <a:latin typeface="Times New Roman"/>
                <a:cs typeface="Times New Roman"/>
              </a:rPr>
              <a:t>	</a:t>
            </a:r>
            <a:r>
              <a:rPr dirty="0" sz="3100" spc="-35" b="0">
                <a:latin typeface="Times New Roman"/>
                <a:cs typeface="Times New Roman"/>
              </a:rPr>
              <a:t>Hufford,</a:t>
            </a:r>
            <a:r>
              <a:rPr dirty="0" sz="3100" spc="-100" b="0">
                <a:latin typeface="Times New Roman"/>
                <a:cs typeface="Times New Roman"/>
              </a:rPr>
              <a:t> </a:t>
            </a:r>
            <a:r>
              <a:rPr dirty="0" sz="3100" spc="-130" b="0">
                <a:latin typeface="Times New Roman"/>
                <a:cs typeface="Times New Roman"/>
              </a:rPr>
              <a:t>M.</a:t>
            </a:r>
            <a:r>
              <a:rPr dirty="0" sz="3100" spc="-250" b="0">
                <a:latin typeface="Times New Roman"/>
                <a:cs typeface="Times New Roman"/>
              </a:rPr>
              <a:t> </a:t>
            </a:r>
            <a:r>
              <a:rPr dirty="0" sz="3100" spc="-70" b="0">
                <a:latin typeface="Times New Roman"/>
                <a:cs typeface="Times New Roman"/>
              </a:rPr>
              <a:t>R.,</a:t>
            </a:r>
            <a:r>
              <a:rPr dirty="0" sz="3100" spc="-265" b="0">
                <a:latin typeface="Times New Roman"/>
                <a:cs typeface="Times New Roman"/>
              </a:rPr>
              <a:t> </a:t>
            </a:r>
            <a:r>
              <a:rPr dirty="0" sz="3100" b="0">
                <a:solidFill>
                  <a:srgbClr val="1A1C1C"/>
                </a:solidFill>
                <a:latin typeface="Times New Roman"/>
                <a:cs typeface="Times New Roman"/>
              </a:rPr>
              <a:t>et</a:t>
            </a:r>
            <a:r>
              <a:rPr dirty="0" sz="3100" spc="-105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100" b="0">
                <a:solidFill>
                  <a:srgbClr val="1A1C1C"/>
                </a:solidFill>
                <a:latin typeface="Times New Roman"/>
                <a:cs typeface="Times New Roman"/>
              </a:rPr>
              <a:t>al.</a:t>
            </a:r>
            <a:r>
              <a:rPr dirty="0" sz="3100" spc="-120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140" b="0">
                <a:solidFill>
                  <a:srgbClr val="1A1C1C"/>
                </a:solidFill>
                <a:latin typeface="Times New Roman"/>
                <a:cs typeface="Times New Roman"/>
              </a:rPr>
              <a:t>(2003).</a:t>
            </a:r>
            <a:r>
              <a:rPr dirty="0" sz="3100" spc="-195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185" b="0" i="1">
                <a:solidFill>
                  <a:srgbClr val="1A1C1C"/>
                </a:solidFill>
                <a:latin typeface="Times New Roman"/>
                <a:cs typeface="Times New Roman"/>
              </a:rPr>
              <a:t>The</a:t>
            </a:r>
            <a:r>
              <a:rPr dirty="0" sz="3250" spc="-165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300" b="0" i="1">
                <a:solidFill>
                  <a:srgbClr val="1A1C1C"/>
                </a:solidFill>
                <a:latin typeface="Times New Roman"/>
                <a:cs typeface="Times New Roman"/>
              </a:rPr>
              <a:t>nonlinear</a:t>
            </a:r>
            <a:r>
              <a:rPr dirty="0" sz="3250" spc="-300" b="0" i="1">
                <a:solidFill>
                  <a:srgbClr val="1A1C1C"/>
                </a:solidFill>
                <a:latin typeface="Times New Roman"/>
                <a:cs typeface="Times New Roman"/>
              </a:rPr>
              <a:t> dynamics</a:t>
            </a:r>
            <a:r>
              <a:rPr dirty="0" sz="3250" spc="-165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270" b="0" i="1">
                <a:solidFill>
                  <a:srgbClr val="1A1C1C"/>
                </a:solidFill>
                <a:latin typeface="Times New Roman"/>
                <a:cs typeface="Times New Roman"/>
              </a:rPr>
              <a:t>of</a:t>
            </a:r>
            <a:r>
              <a:rPr dirty="0" sz="3250" spc="-155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365" b="0" i="1">
                <a:solidFill>
                  <a:srgbClr val="1A1C1C"/>
                </a:solidFill>
                <a:latin typeface="Times New Roman"/>
                <a:cs typeface="Times New Roman"/>
              </a:rPr>
              <a:t>mood</a:t>
            </a:r>
            <a:r>
              <a:rPr dirty="0" sz="3250" spc="-90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280" b="0" i="1">
                <a:solidFill>
                  <a:srgbClr val="1A1C1C"/>
                </a:solidFill>
                <a:latin typeface="Times New Roman"/>
                <a:cs typeface="Times New Roman"/>
              </a:rPr>
              <a:t>and</a:t>
            </a:r>
            <a:r>
              <a:rPr dirty="0" sz="3250" spc="-35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310" b="0" i="1">
                <a:solidFill>
                  <a:srgbClr val="1A1C1C"/>
                </a:solidFill>
                <a:latin typeface="Times New Roman"/>
                <a:cs typeface="Times New Roman"/>
              </a:rPr>
              <a:t>relapse.</a:t>
            </a:r>
            <a:endParaRPr sz="3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  <a:buClr>
                <a:srgbClr val="0A0A0A"/>
              </a:buClr>
              <a:buFont typeface="Times New Roman"/>
              <a:buChar char="•"/>
            </a:pPr>
            <a:endParaRPr sz="3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pc="-80"/>
              <a:t>Technology</a:t>
            </a:r>
            <a:r>
              <a:rPr dirty="0" spc="-35"/>
              <a:t> </a:t>
            </a:r>
            <a:r>
              <a:rPr dirty="0" spc="-90"/>
              <a:t>(EMA/JITAI)</a:t>
            </a:r>
          </a:p>
          <a:p>
            <a:pPr marL="403860" marR="143510" indent="-386080">
              <a:lnSpc>
                <a:spcPts val="3720"/>
              </a:lnSpc>
              <a:spcBef>
                <a:spcPts val="305"/>
              </a:spcBef>
              <a:buChar char="•"/>
              <a:tabLst>
                <a:tab pos="403860" algn="l"/>
                <a:tab pos="427355" algn="l"/>
              </a:tabLst>
            </a:pPr>
            <a:r>
              <a:rPr dirty="0" sz="3100" b="0">
                <a:latin typeface="Times New Roman"/>
                <a:cs typeface="Times New Roman"/>
              </a:rPr>
              <a:t>	</a:t>
            </a:r>
            <a:r>
              <a:rPr dirty="0" sz="3100" spc="-125" b="0">
                <a:solidFill>
                  <a:srgbClr val="1A1C1C"/>
                </a:solidFill>
                <a:latin typeface="Times New Roman"/>
                <a:cs typeface="Times New Roman"/>
              </a:rPr>
              <a:t>Nahum-</a:t>
            </a:r>
            <a:r>
              <a:rPr dirty="0" sz="3100" spc="-80" b="0">
                <a:solidFill>
                  <a:srgbClr val="1A1C1C"/>
                </a:solidFill>
                <a:latin typeface="Times New Roman"/>
                <a:cs typeface="Times New Roman"/>
              </a:rPr>
              <a:t>Shani,</a:t>
            </a:r>
            <a:r>
              <a:rPr dirty="0" sz="3100" spc="5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b="0">
                <a:latin typeface="Times New Roman"/>
                <a:cs typeface="Times New Roman"/>
              </a:rPr>
              <a:t>I.,</a:t>
            </a:r>
            <a:r>
              <a:rPr dirty="0" sz="3100" spc="-270" b="0">
                <a:latin typeface="Times New Roman"/>
                <a:cs typeface="Times New Roman"/>
              </a:rPr>
              <a:t> </a:t>
            </a:r>
            <a:r>
              <a:rPr dirty="0" sz="3100" b="0">
                <a:solidFill>
                  <a:srgbClr val="1A1C1C"/>
                </a:solidFill>
                <a:latin typeface="Times New Roman"/>
                <a:cs typeface="Times New Roman"/>
              </a:rPr>
              <a:t>et</a:t>
            </a:r>
            <a:r>
              <a:rPr dirty="0" sz="3100" spc="-90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100" b="0">
                <a:solidFill>
                  <a:srgbClr val="1A1C1C"/>
                </a:solidFill>
                <a:latin typeface="Times New Roman"/>
                <a:cs typeface="Times New Roman"/>
              </a:rPr>
              <a:t>al.</a:t>
            </a:r>
            <a:r>
              <a:rPr dirty="0" sz="3100" spc="-105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155" b="0">
                <a:solidFill>
                  <a:srgbClr val="1A1C1C"/>
                </a:solidFill>
                <a:latin typeface="Times New Roman"/>
                <a:cs typeface="Times New Roman"/>
              </a:rPr>
              <a:t>(2018).</a:t>
            </a:r>
            <a:r>
              <a:rPr dirty="0" sz="3100" spc="-365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240" b="0" i="1">
                <a:latin typeface="Times New Roman"/>
                <a:cs typeface="Times New Roman"/>
              </a:rPr>
              <a:t>Just-</a:t>
            </a:r>
            <a:r>
              <a:rPr dirty="0" sz="3250" spc="-229" b="0" i="1">
                <a:latin typeface="Times New Roman"/>
                <a:cs typeface="Times New Roman"/>
              </a:rPr>
              <a:t>in-</a:t>
            </a:r>
            <a:r>
              <a:rPr dirty="0" sz="3250" spc="-320" b="0" i="1">
                <a:latin typeface="Times New Roman"/>
                <a:cs typeface="Times New Roman"/>
              </a:rPr>
              <a:t>Time</a:t>
            </a:r>
            <a:r>
              <a:rPr dirty="0" sz="3250" spc="-320" b="0" i="1">
                <a:latin typeface="Times New Roman"/>
                <a:cs typeface="Times New Roman"/>
              </a:rPr>
              <a:t> </a:t>
            </a:r>
            <a:r>
              <a:rPr dirty="0" sz="3250" spc="-225" b="0" i="1">
                <a:solidFill>
                  <a:srgbClr val="1A1C1C"/>
                </a:solidFill>
                <a:latin typeface="Times New Roman"/>
                <a:cs typeface="Times New Roman"/>
              </a:rPr>
              <a:t>Adaptive</a:t>
            </a:r>
            <a:r>
              <a:rPr dirty="0" sz="3250" spc="70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300" b="0" i="1">
                <a:latin typeface="Times New Roman"/>
                <a:cs typeface="Times New Roman"/>
              </a:rPr>
              <a:t>Interoentions</a:t>
            </a:r>
            <a:r>
              <a:rPr dirty="0" sz="3250" spc="-114" b="0" i="1">
                <a:latin typeface="Times New Roman"/>
                <a:cs typeface="Times New Roman"/>
              </a:rPr>
              <a:t> </a:t>
            </a:r>
            <a:r>
              <a:rPr dirty="0" sz="3250" spc="-145" b="0" i="1">
                <a:solidFill>
                  <a:srgbClr val="1A1C1C"/>
                </a:solidFill>
                <a:latin typeface="Times New Roman"/>
                <a:cs typeface="Times New Roman"/>
              </a:rPr>
              <a:t>(!ITAis)</a:t>
            </a:r>
            <a:r>
              <a:rPr dirty="0" sz="3250" spc="-185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60" b="0" i="1">
                <a:solidFill>
                  <a:srgbClr val="1A1C1C"/>
                </a:solidFill>
                <a:latin typeface="Times New Roman"/>
                <a:cs typeface="Times New Roman"/>
              </a:rPr>
              <a:t>in</a:t>
            </a:r>
            <a:r>
              <a:rPr dirty="0" sz="3250" spc="-459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300" b="0" i="1">
                <a:solidFill>
                  <a:srgbClr val="1A1C1C"/>
                </a:solidFill>
                <a:latin typeface="Times New Roman"/>
                <a:cs typeface="Times New Roman"/>
              </a:rPr>
              <a:t>Mobile</a:t>
            </a:r>
            <a:r>
              <a:rPr dirty="0" sz="3250" spc="80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185" b="0" i="1">
                <a:solidFill>
                  <a:srgbClr val="1A1C1C"/>
                </a:solidFill>
                <a:latin typeface="Times New Roman"/>
                <a:cs typeface="Times New Roman"/>
              </a:rPr>
              <a:t>Health.</a:t>
            </a:r>
            <a:endParaRPr sz="3250">
              <a:latin typeface="Times New Roman"/>
              <a:cs typeface="Times New Roman"/>
            </a:endParaRPr>
          </a:p>
          <a:p>
            <a:pPr marL="397510" marR="153035" indent="-379730">
              <a:lnSpc>
                <a:spcPts val="3620"/>
              </a:lnSpc>
              <a:spcBef>
                <a:spcPts val="280"/>
              </a:spcBef>
              <a:buClr>
                <a:srgbClr val="0A0A0A"/>
              </a:buClr>
              <a:buChar char="•"/>
              <a:tabLst>
                <a:tab pos="412115" algn="l"/>
              </a:tabLst>
            </a:pPr>
            <a:r>
              <a:rPr dirty="0" sz="3100" spc="-105" b="0">
                <a:solidFill>
                  <a:srgbClr val="1A1C1C"/>
                </a:solidFill>
                <a:latin typeface="Times New Roman"/>
                <a:cs typeface="Times New Roman"/>
              </a:rPr>
              <a:t>Shiffman,</a:t>
            </a:r>
            <a:r>
              <a:rPr dirty="0" sz="3100" spc="-100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114" b="0">
                <a:solidFill>
                  <a:srgbClr val="1A1C1C"/>
                </a:solidFill>
                <a:latin typeface="Times New Roman"/>
                <a:cs typeface="Times New Roman"/>
              </a:rPr>
              <a:t>S.,</a:t>
            </a:r>
            <a:r>
              <a:rPr dirty="0" sz="3100" spc="-120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b="0">
                <a:solidFill>
                  <a:srgbClr val="1A1C1C"/>
                </a:solidFill>
                <a:latin typeface="Times New Roman"/>
                <a:cs typeface="Times New Roman"/>
              </a:rPr>
              <a:t>et</a:t>
            </a:r>
            <a:r>
              <a:rPr dirty="0" sz="3100" spc="-204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55" b="0">
                <a:solidFill>
                  <a:srgbClr val="1A1C1C"/>
                </a:solidFill>
                <a:latin typeface="Times New Roman"/>
                <a:cs typeface="Times New Roman"/>
              </a:rPr>
              <a:t>al.</a:t>
            </a:r>
            <a:r>
              <a:rPr dirty="0" sz="3100" spc="-130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100" spc="-145" b="0">
                <a:solidFill>
                  <a:srgbClr val="1A1C1C"/>
                </a:solidFill>
                <a:latin typeface="Times New Roman"/>
                <a:cs typeface="Times New Roman"/>
              </a:rPr>
              <a:t>(2008).</a:t>
            </a:r>
            <a:r>
              <a:rPr dirty="0" sz="3100" spc="10" b="0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330" b="0" i="1">
                <a:solidFill>
                  <a:srgbClr val="1A1C1C"/>
                </a:solidFill>
                <a:latin typeface="Times New Roman"/>
                <a:cs typeface="Times New Roman"/>
              </a:rPr>
              <a:t>Ecological</a:t>
            </a:r>
            <a:r>
              <a:rPr dirty="0" sz="3250" spc="-240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340" b="0" i="1">
                <a:solidFill>
                  <a:srgbClr val="1A1C1C"/>
                </a:solidFill>
                <a:latin typeface="Times New Roman"/>
                <a:cs typeface="Times New Roman"/>
              </a:rPr>
              <a:t>momentary</a:t>
            </a:r>
            <a:r>
              <a:rPr dirty="0" sz="3250" spc="-340" b="0" i="1">
                <a:solidFill>
                  <a:srgbClr val="1A1C1C"/>
                </a:solidFill>
                <a:latin typeface="Times New Roman"/>
                <a:cs typeface="Times New Roman"/>
              </a:rPr>
              <a:t> </a:t>
            </a:r>
            <a:r>
              <a:rPr dirty="0" sz="3250" spc="-340" b="0" i="1">
                <a:solidFill>
                  <a:srgbClr val="1A1C1C"/>
                </a:solidFill>
                <a:latin typeface="Times New Roman"/>
                <a:cs typeface="Times New Roman"/>
              </a:rPr>
              <a:t>	</a:t>
            </a:r>
            <a:r>
              <a:rPr dirty="0" sz="3250" spc="-315" b="0" i="1">
                <a:solidFill>
                  <a:srgbClr val="1A1C1C"/>
                </a:solidFill>
                <a:latin typeface="Times New Roman"/>
                <a:cs typeface="Times New Roman"/>
              </a:rPr>
              <a:t>assessment.</a:t>
            </a:r>
            <a:endParaRPr sz="3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2026-01-27T07:06:21Z</dcterms:created>
  <dcterms:modified xsi:type="dcterms:W3CDTF">2026-01-27T07:06:21Z</dcterms:modified>
</cp:coreProperties>
</file>